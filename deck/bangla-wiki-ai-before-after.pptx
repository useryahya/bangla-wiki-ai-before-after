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0" r:id="rId4"/>
    <p:sldMasterId id="214748365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0B60647-9D0A-40BD-AF51-562D823FFA68}">
  <a:tblStyle styleId="{90B60647-9D0A-40BD-AF51-562D823FFA68}"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 name="Shape 13"/>
        <p:cNvGrpSpPr/>
        <p:nvPr/>
      </p:nvGrpSpPr>
      <p:grpSpPr>
        <a:xfrm>
          <a:off x="0" y="0"/>
          <a:ext cx="0" cy="0"/>
          <a:chOff x="0" y="0"/>
          <a:chExt cx="0" cy="0"/>
        </a:xfrm>
      </p:grpSpPr>
      <p:sp>
        <p:nvSpPr>
          <p:cNvPr id="14" name="Google Shape;14;h56b677035f06b965_2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 name="Google Shape;15;h56b677035f06b965_2_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সময়: ৩০ সেকেন্ড। সবাইকে শুভেচ্ছা। [এক লাইনে নিজের পরিচয়।] পেছনে যে দুটো রেখা দেখছেন, সেগুলো বাংলা উইকিপিডিয়ার আসল ডেটা থেকে আঁকা, ২০১৬ থেকে এ বছরের সেপ্টেম্বর পর্যন্ত। কমলা রেখাটা দেখায়, প্রতি মাসে মানুষ কতবার আমাদের পাতা খুলেছেন। আর নীল বিন্দুর রেখাটা যন্ত্রের, অর্থাৎ সার্চ ইঞ্জিনের ক্রলার আর নানা ধরনের বটের। একটু ডান দিকে তাকান: শেষের দিকে এসে রেখা দুটো জায়গা বদল করেছে। আজ এই জায়গা বদল নিয়েই কথা বলব। এআই আসার আগে আর পরে বাংলা উইকিমিডিয়ার পাঠক আর সম্পাদকদের কী হয়েছে, আর এখান থেকে আমরা কোন পথে এগোতে পারি।</a:t>
            </a:r>
            <a:endParaRPr/>
          </a:p>
        </p:txBody>
      </p:sp>
      <p:sp>
        <p:nvSpPr>
          <p:cNvPr id="16" name="Google Shape;16;h56b677035f06b965_2_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 name="Shape 29"/>
        <p:cNvGrpSpPr/>
        <p:nvPr/>
      </p:nvGrpSpPr>
      <p:grpSpPr>
        <a:xfrm>
          <a:off x="0" y="0"/>
          <a:ext cx="0" cy="0"/>
          <a:chOff x="0" y="0"/>
          <a:chExt cx="0" cy="0"/>
        </a:xfrm>
      </p:grpSpPr>
      <p:sp>
        <p:nvSpPr>
          <p:cNvPr id="30" name="Google Shape;30;h56b677035f06b965_2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 name="Google Shape;31;h56b677035f06b965_2_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সময়: ৪৫ সেকেন্ড। একটা সংখ্যা দিয়ে শুরু করি। এ বছর বাংলা উইকিপিডিয়ায় প্রতি দশটা পেজভিউয়ের সাতটাই এসেছে যন্ত্র থেকে। এদের একটা অংশ গুগলের মতো সার্চ ইঞ্জিনের ক্রলার, যারা পাতা পড়ে সূচি তৈরি করে। বাকিরা স্বয়ংক্রিয় বট। এদের অনেকেই নিজেকে মানুষ বলে চালিয়ে দিতে চায়, তবু উইকিমিডিয়ার হিসাবে ধরা পড়ে যায়। উইকিমিডিয়া ফাউন্ডেশন জানিয়েছে, তাদের সার্ভারে বটের যে বাড়তি চাপ পড়ছে, তার বড় অংশই আসছে এআই মডেলের জন্য তথ্য জোগাড় করা স্ক্র্যাপার থেকে। তবে এই হিসাব সব প্রকল্প মিলিয়ে; বাংলা উইকিপিডিয়ার জন্য আলাদা কোনো হিসাব নেই। অথচ মাত্র দুই বছর আগে, ২০২৪ সালে, অনুপাতটা ছিল দশে চার। অবশ্য তখন বট চেনার নিয়ম ছিল পুরোনো, আর ২০২৫-এ ফাউন্ডেশন নিয়মটা কড়া করেছে। ইংরেজি উইকিপিডিয়ায় এখনো অনুপাতটা দশে তিন। তার মানে, ছোট ভাষার উইকিতে যন্ত্রের ভিড় তুলনামূলক অনেক বেশি। (সংখ্যা: ২০২৬-এ ৭০.৬%, ২০২৪-এ ৪০.৫%, ইংরেজিতে ৩১.৬%; জানুয়ারি–সেপ্টেম্বর গড়।)</a:t>
            </a:r>
            <a:endParaRPr/>
          </a:p>
        </p:txBody>
      </p:sp>
      <p:sp>
        <p:nvSpPr>
          <p:cNvPr id="32" name="Google Shape;32;h56b677035f06b965_2_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h56b677035f06b965_2_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h56b677035f06b965_2_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সময়: ৩০ সেকেন্ড। এবার মানুষের দিকটা দেখি। ২০২৪ সালের প্রথম নয় মাসে বাংলা উইকিপিডিয়ায় মানুষ মাসে গড়ে প্রায় আড়াই কোটি বার পাতা খুলতেন। এ বছরের একই সময়ে সংখ্যাটা নেমে এসেছে নব্বই লাখে। দুই বছরে কমেছে প্রায় দুই-তৃতীয়াংশ, আর এআই আসার আগের ২০১৯ সালের তুলনায়ও ৪৩ শতাংশ কম। যন্ত্র বাড়ছে, মানুষ কমছে। প্রশ্ন হলো, এই পতনের কতটা সত্যিকারের পাঠক হারানো, আর কতটা যন্ত্র গোনার নিয়ম বদলানোর ফল? সম্মেলনের প্রস্তাব লেখার সময় আমি ভেবেছিলাম, বেশিরভাগটাই হিসাবের বদল। পুরো ডেটা ঘেঁটে দেখার পর সেই ধারণা বদলে গেছে। কেন বদলাল, পরের কয়েকটা স্লাইডে সেটাই দেখাব।</a:t>
            </a:r>
            <a:endParaRPr/>
          </a:p>
        </p:txBody>
      </p:sp>
      <p:sp>
        <p:nvSpPr>
          <p:cNvPr id="55" name="Google Shape;55;h56b677035f06b965_2_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h56b677035f06b965_2_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 name="Google Shape;67;h56b677035f06b965_2_5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সময়: ১ মিনিট। তবে শুরুতে এআই-এর আগের সময়ের গল্পটা বলে নিই। এ বছর জানুয়ারিতে, উইকিপিডিয়ার পঁচিশ বছর পূর্তিতে, উইকিমিডিয়া ফাউন্ডেশনের বোর্ডের সাবেক চেয়ার ক্রিস্টফ হেনার একটি ব্যক্তিগত প্রবন্ধ লেখেন। সেখানে তিনি দেখান, ২০১৬ থেকে ২০২৫ সালের মধ্যে পৃথিবীতে ইন্টারনেট ব্যবহারকারী বেড়েছে ৮৩ শতাংশ, অথচ একই সময়ে উইকিমিডিয়ার সব প্রকল্প মিলিয়ে মানুষের পেজভিউ ৯ শতাংশ কমে গেছে। ইন্টারনেট যখন এগিয়েছে, উইকিপিডিয়া তখন পিছিয়ে পড়েছে। আমি বাংলার জন্য একই হিসাব করে দেখলাম, আর ফল পেলাম উল্টো। ২০১৬ সালকে একশো ধরলে ২০২৪-এ বাংলাদেশে ইন্টারনেট ব্যবহারকারী দাঁড়িয়েছে ৩৪১-এ, আর বাংলা উইকিপিডিয়ায় মানুষের পেজভিউ ৪৩২-এ। অর্থাৎ ওই আট বছর আমরা ইন্টারনেটের চেয়েও দ্রুত বেড়েছি।</a:t>
            </a:r>
            <a:endParaRPr/>
          </a:p>
        </p:txBody>
      </p:sp>
      <p:sp>
        <p:nvSpPr>
          <p:cNvPr id="68" name="Google Shape;68;h56b677035f06b965_2_5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h56b677035f06b965_2_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 name="Google Shape;102;h56b677035f06b965_2_8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তারপর মাত্র দুই বছরে আমাদের সূচক নেমে এসেছে ১৫৭-তে। ধূসর রেখাটা ২০২৪-এ থেমে গেছে, কারণ বিশ্বব্যাংকের তথ্য ওই বছর পর্যন্তই পাওয়া যায়।</a:t>
            </a:r>
            <a:endParaRPr/>
          </a:p>
          <a:p>
            <a:pPr indent="0" lvl="0" marL="0" rtl="0" algn="l">
              <a:lnSpc>
                <a:spcPct val="100000"/>
              </a:lnSpc>
              <a:spcBef>
                <a:spcPts val="0"/>
              </a:spcBef>
              <a:spcAft>
                <a:spcPts val="0"/>
              </a:spcAft>
              <a:buSzPts val="1400"/>
              <a:buNone/>
            </a:pPr>
            <a:r>
              <a:rPr lang="en-US"/>
              <a:t>(কেউ জিজ্ঞেস করলে: ২০২৪-এ মানুষের পেজভিউর প্রায় এক-চতুর্থাংশ এসেছিল ভারত থেকে। বাংলাদেশ আর ভারতের ইন্টারনেট ব্যবহারকারী একসঙ্গে ধরে সূচক বানালেও ২০২৪-এ তা হয় প্রায় ৩৬০, অর্থাৎ তখনো আমাদের ৪৩২-এর নিচে।)</a:t>
            </a:r>
            <a:endParaRPr/>
          </a:p>
        </p:txBody>
      </p:sp>
      <p:sp>
        <p:nvSpPr>
          <p:cNvPr id="103" name="Google Shape;103;h56b677035f06b965_2_8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h56b677035f06b965_2_1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 name="Google Shape;139;h56b677035f06b965_2_1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সময়: ১ মিনিট ১৫ সেকেন্ড। উইকিমিডিয়া প্রতিটি পেজভিউকে তিনটি ভাগে গোনে। কমলা রেখাটা মানুষের। ধূসর রেখাটা ক্রলারের, যেমন গুগলের সার্চ ইঞ্জিন; এরা নিজেদের পরিচয় দিয়েই আসে। আর নীল ড্যাশ রেখাটা ছদ্মবেশী বটের। এরা নিজেকে মানুষ বলে চালাতে চায়, কিন্তু উইকিমিডিয়ার হিসাবে ঠিকই ধরা পড়ে। খেয়াল করুন, ২০২৪ থেকে মানুষের রেখাটা নিচের দিকে নামছে।</a:t>
            </a:r>
            <a:endParaRPr/>
          </a:p>
        </p:txBody>
      </p:sp>
      <p:sp>
        <p:nvSpPr>
          <p:cNvPr id="140" name="Google Shape;140;h56b677035f06b965_2_1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h56b677035f06b965_2_1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 name="Google Shape;165;h56b677035f06b965_2_1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উল্টো দিকে ছদ্মবেশী বট উঠছে। দুই বছরে এরা বেড়েছে তিন গুণেরও বেশি, আর এ বছরের নয় মাসের মধ্যে সাত মাসেই মানুষের চেয়ে বেশি পাতা খুলেছে।</a:t>
            </a:r>
            <a:endParaRPr/>
          </a:p>
        </p:txBody>
      </p:sp>
      <p:sp>
        <p:nvSpPr>
          <p:cNvPr id="166" name="Google Shape;166;h56b677035f06b965_2_14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h56b677035f06b965_2_1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 name="Google Shape;196;h56b677035f06b965_2_17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ক্রলার দুই বছরে কমেছে ২২%, অন্য দুটো রেখার তুলনায় এদের বদল কম। সব মিলিয়ে মোট ট্রাফিক কমেছে ২৬%, অথচ মানুষের পেজভিউ কমেছে ৬৪%। ডান দিকের দাগটা ২০২৫ সালের মে মাস। ১৭ অক্টোবর ২০২৫ ফাউন্ডেশন জানায়, ওই মে মাস থেকে তারা অস্বাভাবিক ‘মানুষ’ ট্রাফিক দেখছিল, যার বেশিরভাগ আসছিল ব্রাজিল থেকে। সেটা দেখে তারা বট শনাক্তকরণের নিয়ম হালনাগাদ করে, আর মার্চ থেকে আগস্ট ২০২৫-এর ডেটা নতুন নিয়মে আবার হিসাব করে। তাই ২০২৫-এর পতনের একটা অংশ আসলে হিসাবের বদল। ছদ্মবেশী বট যে তিন গুণ বেড়েছে, তারও একটা অংশের কারণ হলো, নতুন নিয়মে এরা আগের চেয়ে ভালোভাবে ধরা পড়ছে, অথচ ২০২৪-এর ডেটা পুরোনো নিয়মেই রয়ে গেছে। আরেকটা কথা মনে রাখা দরকার: যেসব বটের অনুরোধ আটকে দেওয়া হয়, সেগুলো পেজভিউতে গোনাই হয় না। মানে এই রেখাগুলো আটকানোর পরের হিসাব, যন্ত্রের আসল চাপ এর চেয়েও বেশি। ক্রলার যে ২২% কমেছে, তার পেছনেও এর ভূমিকা থাকতে পারে। তবে খেয়াল করুন, নিয়ম বদলের পরেও মানুষের পেজভিউর পতন থামেনি।</a:t>
            </a:r>
            <a:endParaRPr/>
          </a:p>
        </p:txBody>
      </p:sp>
      <p:sp>
        <p:nvSpPr>
          <p:cNvPr id="197" name="Google Shape;197;h56b677035f06b965_2_17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h56b677035f06b965_2_2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3" name="Google Shape;233;h56b677035f06b965_2_2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সময়: ১ মিনিট ১৫ সেকেন্ড। এই স্লাইডটা দেখেই আমার ধারণা বদলেছিল। এখানে দেখছেন, দিনের চব্বিশ ঘণ্টার কোন সময়ে বাংলা উইকিপিডিয়া পড়া হয়, বাংলাদেশ সময় ধরে। বিন্দুর কমলা রেখাটা ২০২৪ সালের। পাঠ সবচেয়ে কম ভোর চারটায়, আর সবচেয়ে বেশি রাত আটটা-নয়টার দিকে। রাত নয়টায় সংখ্যাটা ঘণ্টায় প্রায় ৫৮ হাজার পেজভিউ। এটাই মানুষের ছন্দ: রাতে আমরা ঘুমাই, আর সন্ধ্যার পর ফোন হাতে নিই।</a:t>
            </a:r>
            <a:endParaRPr/>
          </a:p>
        </p:txBody>
      </p:sp>
      <p:sp>
        <p:nvSpPr>
          <p:cNvPr id="234" name="Google Shape;234;h56b677035f06b965_2_2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h56b677035f06b965_2_2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7" name="Google Shape;257;h56b677035f06b965_2_2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এবার ২০২৬ সালের রেখা। ছন্দটা একই আছে, তাই বোঝা যায় এরাও মানুষ। কিন্তু রাত নয়টায় এখন ঘণ্টায় মাত্র ১৮ হাজার পেজভিউ, ৭০% কম।</a:t>
            </a:r>
            <a:endParaRPr/>
          </a:p>
        </p:txBody>
      </p:sp>
      <p:sp>
        <p:nvSpPr>
          <p:cNvPr id="258" name="Google Shape;258;h56b677035f06b965_2_2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h56b677035f06b965_2_2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9" name="Google Shape;289;h56b677035f06b965_2_26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আর যন্ত্রের রেখাগুলো দিনরাত প্রায় সমান, কারণ যন্ত্র ঘুমায় না। আমার যুক্তিটা দাঁড়ায় এখান থেকেই। পতনটা যদি শুধু বট বাদ পড়ার কারণে হতো, তাহলে সবচেয়ে বেশি কমার কথা ছিল রাতের ঘণ্টাগুলোতে, যখন মানুষ কম আর যন্ত্রের ভাগ বেশি। কিন্তু হয়েছে উল্টোটা। ভোর চারটায় কমেছে ৪১%, অথচ রাত নয়টায় কমেছে ৭০%, আর ওই সময়টা মানুষের পড়ার সবচেয়ে ব্যস্ত সময়গুলোর একটি। তার মানে আমরা সত্যিকারের পাঠকই হারিয়েছি।</a:t>
            </a:r>
            <a:endParaRPr/>
          </a:p>
        </p:txBody>
      </p:sp>
      <p:sp>
        <p:nvSpPr>
          <p:cNvPr id="290" name="Google Shape;290;h56b677035f06b965_2_26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h56b677035f06b965_2_3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6" name="Google Shape;326;h56b677035f06b965_2_30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সময়: ৪৫ সেকেন্ড। মানুষ যদি উইকিপিডিয়া ছেড়েই থাকেন, তাহলে কোন পথে ছেড়েছেন? মোবাইলে মানুষের পেজভিউ মাসে ২.২ কোটি থেকে নেমে এসেছে ৬৩ লাখে, কমেছে ৭২%। ডেস্কটপে প্রায় কোনো বদল নেই, বরং সামান্য বেড়েছে। তবে ওই সংখ্যার ভেতরে ধরা না পড়া কিছু বটও থেকে যেতে পারে। ওদিকে যন্ত্রের নতুন ভিড় জমেছে ডেস্কটপেই, সেখানে ছদ্মবেশী বট বেড়ে হয়েছে ছয় গুণ। তাহলে যাঁদের হারিয়েছি, তাঁরা মূলত সেই পাঠক, যাঁরা ফোনে কিছু খুঁজতে গিয়ে সার্চ থেকে উইকিপিডিয়ায় আসতেন। এখন তাঁরা অনেক সময় উত্তরটা সার্চের পাতাতেই পেয়ে যান, নয়তো চ্যাটবট থেকে। ফাউন্ডেশনের ২০২৬–২৭ সালের বার্ষিক পরিকল্পনার খসড়ায় বলা হয়েছে, এতদিন প্রায় ৯০% পাঠক আসতেন গুগল সার্চ থেকে। আর গুগল ভারতে বাংলায় এআই ওভারভিউ চালুর ঘোষণা দিয়েছে অক্টোবর ২০২৪-এ, এআই মোডের ঘোষণা অক্টোবর ২০২৫-এ। এগুলোই যে কারণ, তা প্রমাণিত নয়, তবে সময় আর ধরন দুটোই মিলে যায়।</a:t>
            </a:r>
            <a:endParaRPr/>
          </a:p>
        </p:txBody>
      </p:sp>
      <p:sp>
        <p:nvSpPr>
          <p:cNvPr id="327" name="Google Shape;327;h56b677035f06b965_2_30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h56b677035f06b965_2_3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2" name="Google Shape;352;h56b677035f06b965_2_3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সময়: ১ মিনিট। তাহলে আসল পতন কতটা? আমার অনুমান, পতন ৪৬ থেকে ৬৪ শতাংশের মধ্যে।</a:t>
            </a:r>
            <a:endParaRPr/>
          </a:p>
        </p:txBody>
      </p:sp>
      <p:sp>
        <p:nvSpPr>
          <p:cNvPr id="353" name="Google Shape;353;h56b677035f06b965_2_3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h56b677035f06b965_2_3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3" name="Google Shape;373;h56b677035f06b965_2_3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কেন এই পরিসর, তার তিনটি কারণ আছে। প্রথমত, মোট ট্রাফিকের মধ্যে যন্ত্রও আছে, আর যন্ত্র বেড়েছে। তাই মোট ট্রাফিক কম কমেছে বলে পাঠকও কম কমেছেন, এমন ধরে নেওয়া যায় না। দ্বিতীয়ত, ঘণ্টার হিসাবে দেখেছি, পতন সবচেয়ে বেশি মানুষের ব্যস্ত সময়ে। তৃতীয়ত, ইউনিক ডিভাইস, অর্থাৎ কতগুলো আলাদা ফোন বা কম্পিউটার থেকে উইকিপিডিয়া খোলা হয়েছে, সেই সংখ্যাও ৪৬ শতাংশ কমেছে। তবে এই মাপগুলোও পুরোপুরি বটমুক্ত নয়। তাই আমার দেওয়া পরিসরটা একটা অনুমান, নিখুঁত মাপ নয়। ডেটা যখন আমার আগের ধারণার বিপক্ষে গেছে, আমি ধারণাটাই বদলেছি। ডেটা নিয়ে কাজ করার নিয়মই এটা।</a:t>
            </a:r>
            <a:endParaRPr/>
          </a:p>
        </p:txBody>
      </p:sp>
      <p:sp>
        <p:nvSpPr>
          <p:cNvPr id="374" name="Google Shape;374;h56b677035f06b965_2_34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h56b677035f06b965_2_3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3" name="Google Shape;403;h56b677035f06b965_2_37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সময়: ৪৫ সেকেন্ড। এত সংখ্যা শুনে বিষয়টা বিমূর্ত লাগতে পারে, তাই একটা প্রিয় নিবন্ধ দিয়ে দেখাই। ২০১৬ থেকে ২০২৫ পর্যন্ত যে নয়টা ফেব্রুয়ারির ডেটা আছে, তার প্রতিটিতেই বাংলা উইকিপিডিয়ার সবচেয়ে বেশি পড়া নিবন্ধ ছিল ভাষা আন্দোলন বা আন্তর্জাতিক মাতৃভাষা দিবস। এই নিবন্ধটি ২০১৬-এর ফেব্রুয়ারিতে পড়া হয়েছিল ১৯ হাজার বার, আর ২০২৪-এর ফেব্রুয়ারিতে ২ লাখ ৪৩ হাজার বার, অর্থাৎ প্রায় তেরো গুণ। এ বছরের ফেব্রুয়ারিতে সংখ্যাটা ৫৮ হাজার, দুই বছরে ৭৬% কম। মানতে হবে, এ বছর ফেব্রুয়ারিতে সংসদ নির্বাচনও ছিল, তাই কিছুটা মনোযোগ সেদিকে গেছে। কিন্তু মে মাসে রবীন্দ্রনাথ আর এপ্রিলে পহেলা বৈশাখের নিবন্ধেও একই ছবি দেখা যায়। একুশের গল্প মানুষ এখনো জানতে চান। হয়তো এখন তাঁরা সেটা জানছেন অন্য কোথাও থেকে, উইকিপিডিয়ায় না এসে।</a:t>
            </a:r>
            <a:endParaRPr/>
          </a:p>
        </p:txBody>
      </p:sp>
      <p:sp>
        <p:nvSpPr>
          <p:cNvPr id="404" name="Google Shape;404;h56b677035f06b965_2_37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h56b677035f06b965_2_4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3" name="Google Shape;443;h56b677035f06b965_2_4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সময়: ৪৫ সেকেন্ড। সমস্যাটা কি শুধু আমাদের? না। একই হিসাব আমি প্রতিবেশী ভাষাগুলোর জন্যও চালিয়েছি। ২০২৪ থেকে ২০২৬-এর মধ্যে হিন্দি উইকিপিডিয়ায় মানুষের পেজভিউ কমেছে ৭১%, বাংলায় ৬৪%, মারাঠিতে ৬৩% আর তামিলে ৫৫%। উর্দুতে কমেছে ১৯%, আর ইংরেজিতে মাত্র ১৪%। এবার ডান দিকের কলামটা দেখুন। ইংরেজি উইকিপিডিয়ায় যন্ত্রের ভাগ ৩২%, আমাদের ৭১%, আর উর্দুতে ৮৭%। ছোট ভাষার উইকিতে যন্ত্রের ভিড় অনেক বেশি। উইকিমিডিয়া ফাউন্ডেশনের ‘গ্লোবাল ট্রেন্ডস ২০২৬’ লেখাটিও বলছে, সারা বিশ্বে নতুন অ্যাকাউন্ট খোলা দ্রুত কমছে, আর উঠতি ভাষার উইকিপিডিয়ায় দ্রুত কমছে সম্পাদকও। তাই সমাধানটাও প্রতিবেশী সম্প্রদায়গুলোর সঙ্গে মিলে খোঁজা যায়। আজকের স্ক্রিপ্ট যেকোনো ভাষার উইকির জন্যই চালানো যায়।</a:t>
            </a:r>
            <a:endParaRPr/>
          </a:p>
        </p:txBody>
      </p:sp>
      <p:sp>
        <p:nvSpPr>
          <p:cNvPr id="444" name="Google Shape;444;h56b677035f06b965_2_4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h56b677035f06b965_2_4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7" name="Google Shape;487;h56b677035f06b965_2_45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সময়: ৪৫ সেকেন্ড। এবার মানুষের অন্য দলটার কথা, যাঁরা লেখেন। এখানে ২০১৯ সালকে একশো ধরেছি, কারণ সেটা এআই আসার আগের একটা স্বাভাবিক বছর। কমলা রেখাটা পাঠকের: এ বছর ৫৭, অর্থাৎ ২০১৯-এর চেয়ে ৪৩% কম। অথচ কালো রেখাটা, নিবন্ধিত মানুষের সম্পাদনা, এখনো ১৩০-এ। আর ড্যাশ রেখাটা, মানুষের তৈরি নতুন নিবন্ধ, আছে ১১৪-তে। পাঠক কমলেও লেখা থামেনি। বাংলা উইকিপিডিয়ায় আজ ১,৯২,২৫০টি নিবন্ধ আছে, আর এ বছর মানুষ মাসে গড়ে প্রায় ১,৩৬০টি নতুন নিবন্ধ তৈরি করছেন, মানে দিনে প্রায় ৪৫টি।</a:t>
            </a:r>
            <a:endParaRPr/>
          </a:p>
        </p:txBody>
      </p:sp>
      <p:sp>
        <p:nvSpPr>
          <p:cNvPr id="488" name="Google Shape;488;h56b677035f06b965_2_45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h56b677035f06b965_2_4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5" name="Google Shape;515;h56b677035f06b965_2_48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সময়: ৩০ সেকেন্ড। এবার একটা ভালো খবর। মাসে অন্তত পাঁচটা সম্পাদনা করেন, এমন সক্রিয় সম্পাদক ২০২৪-এ ছিলেন গড়ে ২৬৯ জন, আর এ বছর ২৫৫ জন। কমেছে মাত্র ৫%, আর সংখ্যাটা এখনো ২০১৯-এর ২২৪ জনের চেয়ে বেশি। একই সময়ে হিন্দিতে সক্রিয় সম্পাদক কমেছে ৪৪%। মাসে একশোর বেশি সম্পাদনা করেন, এমন খুব সক্রিয় সম্পাদক ২০১৯-এ ছিলেন ৪১ জন, এখন ৪৪ জন। এই ঘরে যাঁরা বসে আছেন, তাঁদের অনেকেই এই সংখ্যাগুলোর অংশ। আপনাদের ধন্যবাদ। (নিজের জন্য নোট: আগের খসড়ায় ‘সক্রিয় সম্পাদক’ ছিল শুধু ৫–২৪ সম্পাদনার দল, তাই ১৭০ → ১৫৫ দেখাচ্ছিল। এখানে ৫ বা তার বেশি সব সম্পাদক গোনা হয়েছে।)</a:t>
            </a:r>
            <a:endParaRPr/>
          </a:p>
        </p:txBody>
      </p:sp>
      <p:sp>
        <p:nvSpPr>
          <p:cNvPr id="516" name="Google Shape;516;h56b677035f06b965_2_48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h56b677035f06b965_2_5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5" name="Google Shape;555;h56b677035f06b965_2_5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সময়: ১ মিনিট। তবে একটা সতর্ক সংকেতও আছে। ২০১৯-এ প্রতি মাসে গড়ে প্রায় দুই হাজার নতুন অ্যাকাউন্ট খোলা হতো, এখন খোলা হয় এগারোশো, অর্থাৎ ৪৪% কম। অথচ প্রতিটি নতুন অ্যাকাউন্টের বিপরীতে মানুষের সম্পাদনা ১০ থেকে বেড়ে হয়েছে ২৪, অর্থাৎ দ্বিগুণেরও বেশি। হেনার একে বলেছেন ‘a smaller club working harder’, মানে ছোট একটা দল আগের চেয়ে বেশি খাটছে। আজ এটা আমাদের শক্তি, কিন্তু সামনে এটাই ঝুঁকি, কারণ একজন অভিজ্ঞ সম্পাদক থেমে গেলে তাঁর জায়গা নেওয়ার মতো মানুষ কমে যাচ্ছে। নতুনদের হাত ধরার জন্য বাংলা উইকিপিডিয়ায় Growth মেন্টরশিপ চালু আছে, কিন্তু তালিকায় মেন্টর মাত্র ২৩ জন। মাসে এগারোশো নতুন অ্যাকাউন্ট ধরলে একেকজন মেন্টরের ভাগে পড়েন প্রায় ৪৮ জন। একজন মানুষের পক্ষে এতজনের পাশে থাকা কঠিন।</a:t>
            </a:r>
            <a:endParaRPr/>
          </a:p>
        </p:txBody>
      </p:sp>
      <p:sp>
        <p:nvSpPr>
          <p:cNvPr id="556" name="Google Shape;556;h56b677035f06b965_2_5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h56b677035f06b965_2_5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6" name="Google Shape;596;h56b677035f06b965_2_56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সময়: ৩০ সেকেন্ড। উইকিপিডিয়ায় পাঠক যখন কমছে, সহপ্রকল্পগুলোর হিসাব দেখলে মনে হয় উল্টোটা ঘটছে। ২০২৪ থেকে উইকিসংকলনে ‘মানুষের’ পেজভিউ বেড়েছে ২০%, আর উইকিউক্তিতে আড়াই গুণেরও বেশি। কিন্তু একটু ভেতরে তাকালে সাবধান হতে হয়। বৃদ্ধির প্রায় পুরোটাই ডেস্কটপে, যেখানে পেজভিউ বেড়ে হয়েছে প্রায় তিন থেকে ছয় গুণ। যেমন উইকিসংকলনের ডেস্কটপে এ বছর জানুয়ারি থেকে এপ্রিল পর্যন্ত মাসে তিন-চার লাখ পেজভিউ ছিল, আর জুনে তা এক লাফে হয়ে যায় সাড়ে বারো লাখ। অথচ উইকিউক্তি ছাড়া বাকি চারটি প্রকল্পে মোবাইলে মানুষের পেজভিউ উইকিপিডিয়ার মতোই কমেছে, অর্ধেক থেকে দুই-তৃতীয়াংশ। এমন ধরন মানুষের চেয়ে ধরা না পড়া বটের সঙ্গেই বেশি মেলে। তাই পাঠক বেড়েছে, এমন দাবি আমি করছি না। তবে একটা জিনিস নিশ্চিত: সম্পাদক বাড়ছে। উইকিঅভিধানে মাসে পাঁচ বা তার বেশি সম্পাদনা করেন এমন সম্পাদক ২০১৯-এ ছিলেন ৩ জন, এখন ৯ জন; উইকিবইয়ে ১ জন থেকে বেড়ে ৯ জন।</a:t>
            </a:r>
            <a:endParaRPr/>
          </a:p>
        </p:txBody>
      </p:sp>
      <p:sp>
        <p:nvSpPr>
          <p:cNvPr id="597" name="Google Shape;597;h56b677035f06b965_2_56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h56b677035f06b965_2_5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8" name="Google Shape;608;h56b677035f06b965_2_57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সময়: ১ মিনিট। এআই শুধু পাঠক কেড়ে নিচ্ছে না, লিখছেও। এর দুটো দিক দেখাই। বাঁ দিকে কনটেন্ট ট্রান্সলেশন, উইকিপিডিয়ার নিজস্ব অনুবাদ সরঞ্জাম, যেখানে যন্ত্র-অনুবাদের সাহায্য নেওয়া যায়। ২০১৮ পর্যন্ত এই সরঞ্জামে ইংরেজি থেকে প্রকাশিত অনুবাদ ছিল নতুন নিবন্ধের দশ শতাংশের মতো। ২০২২ থেকে ২০২৫ সালে সেটা দাঁড়ায় পঞ্চান্ন থেকে চৌষট্টি শতাংশে, মোটামুটি প্রতি দশটা নতুন নিবন্ধের ছয়টা। এ বছর নেমেছে একত্রিশ শতাংশে। মানুষ যাচাই করে নিলে এটা সহায়ক এআই। ডান দিকের ছবিটা উল্টো। ২৬ আগস্ট ২০২৫ বাংলা উইকিপিডিয়ার দ্রুত অপসারণ নীতিমালায় একটা নতুন ধারা যোগ হয়েছে: স১৫, সম্পূর্ণরূপে কৃত্রিম বুদ্ধিমত্তা দ্বারা তৈরি পাতা। এখন পর্যন্ত এই ধারায় বারোটা নিবন্ধ মুছে ফেলা হয়েছে। এর একটার কারণ হিসেবে অপসারণ লগে লেখা আছে: ‘এআই জেনারেটেড, একটি বাদে বাকিসব তথ্যসূত্রের অস্তিত্ব নেই।’ অর্থাৎ এআই এমন সব উৎস বানিয়ে দিয়েছে, যার কোনো অস্তিত্বই নেই। আরও বারোটা পাতায় এখনো ‘কৃত্রিম বুদ্ধিমত্তা উৎপন্ন’ সতর্কবার্তা লাগানো আছে।</a:t>
            </a:r>
            <a:endParaRPr/>
          </a:p>
        </p:txBody>
      </p:sp>
      <p:sp>
        <p:nvSpPr>
          <p:cNvPr id="609" name="Google Shape;609;h56b677035f06b965_2_57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h56b677035f06b965_2_6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9" name="Google Shape;649;h56b677035f06b965_2_6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সময়: ৩০ সেকেন্ড। (এক মুহূর্ত থামুন।) বাংলা উইকিপিডিয়ায় ধরা পড়া এই পাতাগুলো থেকে একটা কথা পরিষ্কার হয়ে যায়। এআই খুব দ্রুত লিখতে পারে, কিন্তু যাচাই করতে পারে না, দরকার হলে তথ্যসূত্রও বানিয়ে ফেলে। আবার এআই-এর নিজের জ্ঞানও আসে আমাদের মতো মানুষের লেখা থেকে। আর বাংলার মতো ভাষায় মানসম্মত, উৎসসহ লেখার বড় অংশটাই আছে উইকিপিডিয়ায়। উইকিপিডিয়ার পঁচিশ বছর পূর্তিতে ফাউন্ডেশন লিখেছিল, knowledge is human, and knowledge needs humans। জ্ঞান মানুষের, আর জ্ঞানের জন্য মানুষ দরকার। তাহলে এআই-এর যুগে উইকিপিডিয়া টিকে থাকবে কীভাবে?</a:t>
            </a:r>
            <a:endParaRPr/>
          </a:p>
        </p:txBody>
      </p:sp>
      <p:sp>
        <p:nvSpPr>
          <p:cNvPr id="650" name="Google Shape;650;h56b677035f06b965_2_6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h56b677035f06b965_2_6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9" name="Google Shape;659;h56b677035f06b965_2_6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সময়: ১ মিনিট ৩০ সেকেন্ড। এই প্রশ্নের উত্তর খুঁজতে গিয়ে বিশ্বের অভিজ্ঞতা আর আমাদের নিজেদের ডেটা পাশাপাশি রেখেছি। তাতে চারটি পথ চোখে পড়ে।</a:t>
            </a:r>
            <a:endParaRPr/>
          </a:p>
        </p:txBody>
      </p:sp>
      <p:sp>
        <p:nvSpPr>
          <p:cNvPr id="660" name="Google Shape;660;h56b677035f06b965_2_6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h56b677035f06b965_2_6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9" name="Google Shape;669;h56b677035f06b965_2_6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প্রথম পথ: যাচাই করা জ্ঞানই আমাদের পুঁজি। এআই যত বেশি লিখবে, মানুষের যাচাই করা, উৎসসহ লেখার দাম তত বাড়বে। আর আমাদের সম্প্রদায় এরই মধ্যে ভুয়া তথ্যসূত্রওয়ালা পাতা ধরে ফেলছে।</a:t>
            </a:r>
            <a:endParaRPr/>
          </a:p>
        </p:txBody>
      </p:sp>
      <p:sp>
        <p:nvSpPr>
          <p:cNvPr id="670" name="Google Shape;670;h56b677035f06b965_2_6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0" name="Shape 680"/>
        <p:cNvGrpSpPr/>
        <p:nvPr/>
      </p:nvGrpSpPr>
      <p:grpSpPr>
        <a:xfrm>
          <a:off x="0" y="0"/>
          <a:ext cx="0" cy="0"/>
          <a:chOff x="0" y="0"/>
          <a:chExt cx="0" cy="0"/>
        </a:xfrm>
      </p:grpSpPr>
      <p:sp>
        <p:nvSpPr>
          <p:cNvPr id="681" name="Google Shape;681;h56b677035f06b965_2_6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2" name="Google Shape;682;h56b677035f06b965_2_6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দ্বিতীয় পথ: যারা আমাদের লেখা ব্যবহার করে, তারা উৎসের স্বীকৃতি দেবে, খরচও বহন করবে। গত নভেম্বরে ফাউন্ডেশন এআই কোম্পানিগুলোর কাছে ঠিক এই দুটো দাবিই জানিয়েছে। তারপর জানুয়ারিতে তারা প্রথমবার প্রকাশ্যে জানায় যে Amazon, Meta, Microsoft, Mistral AI ও Perplexity, Wikimedia Enterprise-এর অংশীদার। এদের মধ্যে Amazon আর Meta অবশ্য আগে থেকেই ছিল। ফাউন্ডেশনের হিসাবে তাদের সবচেয়ে ব্যয়বহুল ট্রাফিকের অন্তত ৬৫% আসে বট থেকে। আর মার্চ ২০২৬-এর হিসাবে, নিয়ম না মানা ক্রলার ঠেকাতে দিনে প্রায় দেড়শো কোটি স্বয়ংক্রিয় অনুরোধ আটকে দেওয়া বা ধীর করা হচ্ছিল।</a:t>
            </a:r>
            <a:endParaRPr/>
          </a:p>
        </p:txBody>
      </p:sp>
      <p:sp>
        <p:nvSpPr>
          <p:cNvPr id="683" name="Google Shape;683;h56b677035f06b965_2_6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h56b677035f06b965_2_6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8" name="Google Shape;698;h56b677035f06b965_2_66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তৃতীয় পথ: মানুষ আগে। ফাউন্ডেশনের এআই কৌশলে এআই আসবে সম্পাদকের সহকারী হয়ে, তাঁর জায়গা নিতে নয়। সে সাহায্য করবে অনুবাদে, নজরদারিতে আর নতুনদের মেন্টরশিপে। যেমন, গত বছরের জুনে মোবাইলের পাঠকদের জন্য এআই দিয়ে লেখা সারাংশের একটা পরীক্ষা চালু হওয়ার কথা ছিল। সম্পাদকদের আপত্তির মুখে সেটা চালুর আগেই স্থগিত করা হয়। অর্থাৎ শেষ কথা বলে সম্প্রদায়ই।</a:t>
            </a:r>
            <a:endParaRPr/>
          </a:p>
        </p:txBody>
      </p:sp>
      <p:sp>
        <p:nvSpPr>
          <p:cNvPr id="699" name="Google Shape;699;h56b677035f06b965_2_66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h56b677035f06b965_2_6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7" name="Google Shape;717;h56b677035f06b965_2_67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চতুর্থ পথ: সার্চের বাইরেও পাঠকের কাছে পৌঁছানো। এতদিন প্রায় ৯০% পাঠক আসতেন গুগল সার্চ থেকে। ফাউন্ডেশন নিজেই বলছে, এই বদল সাময়িক নয়, কাঠামোগত। তাই এ বছরের পরিকল্পনায় তাদের প্রথম লক্ষ্যই হলো নতুন পথে পাঠকের কাছে পৌঁছানো।</a:t>
            </a:r>
            <a:endParaRPr/>
          </a:p>
        </p:txBody>
      </p:sp>
      <p:sp>
        <p:nvSpPr>
          <p:cNvPr id="718" name="Google Shape;718;h56b677035f06b965_2_67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7" name="Shape 737"/>
        <p:cNvGrpSpPr/>
        <p:nvPr/>
      </p:nvGrpSpPr>
      <p:grpSpPr>
        <a:xfrm>
          <a:off x="0" y="0"/>
          <a:ext cx="0" cy="0"/>
          <a:chOff x="0" y="0"/>
          <a:chExt cx="0" cy="0"/>
        </a:xfrm>
      </p:grpSpPr>
      <p:sp>
        <p:nvSpPr>
          <p:cNvPr id="738" name="Google Shape;738;h56b677035f06b965_2_7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9" name="Google Shape;739;h56b677035f06b965_2_70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সময়: ১ মিনিট। এবার আমাদের নিজেদের জন্য তিনটি কাজ। প্রথম কাজ, প্রতি মাসে মাপা। যা আমরা মাপি না, তা ঠিকও করতে পারি না। আজকের পুরো বিশ্লেষণ করা হয়েছে দুটো পাইথন স্ক্রিপ্টে, আর দুটোই GitHub-এ সবার জন্য খোলা। এক কমান্ডেই মানুষ আর যন্ত্রকে আলাদা করে প্রতি মাসের হিসাব পাওয়া যায়, যেকোনো ভাষার উইকির জন্য। দ্বিতীয় কাজ, নতুনদের হাত ধরা। নতুন অ্যাকাউন্ট ২০১৯-এর চেয়ে ৪৪% কম, আর মেন্টর মাত্র ২৩ জন। আমাদের আরও মেন্টর দরকার, বিশ্ববিদ্যালয়ে আর জেলায় জেলায় কর্মশালা দরকার। আর নতুন কেউ যখন প্রথম সম্পাদনা করেন, তখন একটু ধৈর্য দরকার, কারণ প্রথম অভিজ্ঞতাই ঠিক করে দেয় তিনি আবার ফিরবেন কিনা। তৃতীয় কাজ, এআই-কে সহকারী বানানো। উইকিসংকলনে পুরনো বই ডিজিটাইজ করতে ওসিআর, অনুবাদে সাহায্য, নজরদারিতে সাহায্য, এসব কাজে এআই লাগানো যায়। তবে প্রকাশের আগে সবসময় মানুষের যাচাই থাকতে হবে, আর স১৫ ধারার প্রয়োগ চলতে হবে নিয়মিত। এআই নিষিদ্ধ করা সমাধান নয়; সমাধান হলো নিয়ন্ত্রণ মানুষের হাতে রাখা।</a:t>
            </a:r>
            <a:endParaRPr/>
          </a:p>
        </p:txBody>
      </p:sp>
      <p:sp>
        <p:nvSpPr>
          <p:cNvPr id="740" name="Google Shape;740;h56b677035f06b965_2_70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h56b677035f06b965_2_7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3" name="Google Shape;763;h56b677035f06b965_2_7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সময়: ৩০ সেকেন্ড, তারপর প্রশ্নোত্তর। শেষ করার আগে ছোট্ট একটা হিসাব দিই। এ বছর বাংলা উইকিপিডিয়ায় মানুষ গড়ে প্রতি মিনিটে প্রায় একটা করে সম্পাদনা করছেন। তার মানে, এই যে বিশ মিনিট আমি কথা বললাম, তার মধ্যেই কোথাও না কোথাও কেউ প্রায় আঠারোটা সম্পাদনা করে ফেলেছেন। যন্ত্র বাড়ছে, পাঠক কমছে, তবু এই কাজ থামেনি। এই মানুষগুলোই আমাদের টেকসই ভবিষ্যৎ। আগামী বছর এই মঞ্চে সংখ্যাগুলো আবার মিলিয়ে দেখব: মেন্টর, নতুন অ্যাকাউন্ট আর মানুষের পাঠ। স্লাইড, ডেটা আর কোড সবার জন্য খোলা, লিংক পর্দায় দেওয়া আছে। ধন্যবাদ। (প্রশ্নোত্তরে পদ্ধতি বা দেশভিত্তিক প্রশ্ন এলে পরিশিষ্টের দুটি স্লাইড দেখান।)</a:t>
            </a:r>
            <a:endParaRPr/>
          </a:p>
        </p:txBody>
      </p:sp>
      <p:sp>
        <p:nvSpPr>
          <p:cNvPr id="764" name="Google Shape;764;h56b677035f06b965_2_7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5" name="Shape 775"/>
        <p:cNvGrpSpPr/>
        <p:nvPr/>
      </p:nvGrpSpPr>
      <p:grpSpPr>
        <a:xfrm>
          <a:off x="0" y="0"/>
          <a:ext cx="0" cy="0"/>
          <a:chOff x="0" y="0"/>
          <a:chExt cx="0" cy="0"/>
        </a:xfrm>
      </p:grpSpPr>
      <p:sp>
        <p:nvSpPr>
          <p:cNvPr id="776" name="Google Shape;776;h56b677035f06b965_2_7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7" name="Google Shape;777;h56b677035f06b965_2_7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(প্রশ্নোত্তরে পদ্ধতি নিয়ে প্রশ্ন এলে এই স্লাইড দেখান।) পদ্ধতির তিনটি সতর্কতা বলে রাখি। প্রথমত, বট শনাক্তকরণের নিয়ম সময়ের সঙ্গে বদলেছে। ২০২৪-এর ডেটা গোনা হয়েছে পুরোনো নিয়মে, আর মার্চ ২০২৫ থেকে নতুন নিয়মে। তাই ২০২৪ আর ২০২৬-এর তুলনার মধ্যে হিসাবের বদলও মিশে আছে। তা ছাড়া যেসব বটের অনুরোধ আটকে দেওয়া হয়, সেগুলো পেজভিউতে গোনাই হয় না। দ্বিতীয়ত, ঘণ্টাভিত্তিক আর মোবাইল-ডেস্কটপের বিশ্লেষণ দেখায় যে মানুষের পাঠ সত্যিই কমেছে, তবে পতনটা একটা নিখুঁত সংখ্যায় বলা যায় না, বলা যায় একটা পরিসরে: −৪৬% থেকে −৬৪%। তৃতীয়ত, বিশ্বব্যাংকের ইন্টারনেট তথ্য ২০২৪ পর্যন্তই আছে। আর হেনারের প্রবন্ধটি তাঁর ব্যক্তিগত মত, ফাউন্ডেশনের আনুষ্ঠানিক অবস্থান নয়। Signpost জানিয়েছে, লেখাটিতে তিনি একটি এআই সহকারীর সাহায্য নিয়েছিলেন।</a:t>
            </a:r>
            <a:endParaRPr/>
          </a:p>
        </p:txBody>
      </p:sp>
      <p:sp>
        <p:nvSpPr>
          <p:cNvPr id="778" name="Google Shape;778;h56b677035f06b965_2_7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9" name="Shape 789"/>
        <p:cNvGrpSpPr/>
        <p:nvPr/>
      </p:nvGrpSpPr>
      <p:grpSpPr>
        <a:xfrm>
          <a:off x="0" y="0"/>
          <a:ext cx="0" cy="0"/>
          <a:chOff x="0" y="0"/>
          <a:chExt cx="0" cy="0"/>
        </a:xfrm>
      </p:grpSpPr>
      <p:sp>
        <p:nvSpPr>
          <p:cNvPr id="790" name="Google Shape;790;h56b677035f06b965_2_7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1" name="Google Shape;791;h56b677035f06b965_2_7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(পাঠক কোথা থেকে কমেছেন, এমন প্রশ্ন এলে এই স্লাইড দেখান।) উইকিমিডিয়া বাংলাদেশের আলাদা দেশভিত্তিক সংখ্যা প্রকাশ করে না। তবে ভারত থেকে মানুষের পেজভিউ কমেছে ৬৫%, আর বাংলাদেশসহ যেসব দেশ তালিকায় আলাদা করে নেই, সেগুলো মিলিয়ে কমেছে ৭৪%। অর্থাৎ পশ্চিমবঙ্গ আর বাংলাদেশ, দুই দিকেই পাঠক কমেছে। অদ্ভুত ব্যতিক্রম যুক্তরাষ্ট্র আর ব্রাজিল, সেখান থেকে ‘মানুষ’ পাঠক বেড়েছে। ফাউন্ডেশনও জানিয়েছিল, ২০২৫-এর অস্বাভাবিক ট্রাফিক মূলত ব্রাজিল থেকে আসা ছদ্মবেশী বট। তাই ২০২৬-এর ‘মানুষ’ সংখ্যাতেও কিছু বট থেকে যেতে পারে। সেক্ষেত্রে আসল মানুষের পতন হয়তো আরও একটু বেশি।</a:t>
            </a:r>
            <a:endParaRPr/>
          </a:p>
        </p:txBody>
      </p:sp>
      <p:sp>
        <p:nvSpPr>
          <p:cNvPr id="792" name="Google Shape;792;h56b677035f06b965_2_74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2" name="Shape 1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transition spd="med">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 name="Shape 11"/>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transition spd="med">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3.png"/><Relationship Id="rId4" Type="http://schemas.openxmlformats.org/officeDocument/2006/relationships/image" Target="../media/image1.png"/><Relationship Id="rId5"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15.png"/><Relationship Id="rId5"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15.png"/><Relationship Id="rId5" Type="http://schemas.openxmlformats.org/officeDocument/2006/relationships/image" Target="../media/image7.png"/><Relationship Id="rId6"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7.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7.png"/><Relationship Id="rId4" Type="http://schemas.openxmlformats.org/officeDocument/2006/relationships/image" Target="../media/image11.png"/><Relationship Id="rId5"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7.png"/><Relationship Id="rId4" Type="http://schemas.openxmlformats.org/officeDocument/2006/relationships/image" Target="../media/image11.png"/><Relationship Id="rId5" Type="http://schemas.openxmlformats.org/officeDocument/2006/relationships/image" Target="../media/image14.png"/><Relationship Id="rId6"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8.pn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0.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8.png"/><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6.png"/><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9.png"/><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2.png"/><Relationship Id="rId4"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2.png"/><Relationship Id="rId4" Type="http://schemas.openxmlformats.org/officeDocument/2006/relationships/hyperlink" Target="https://github.com/UserYahya/bangla-wiki-ai-before-after" TargetMode="External"/><Relationship Id="rId5" Type="http://schemas.openxmlformats.org/officeDocument/2006/relationships/image" Target="../media/image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hyperlink" Target="https://github.com/UserYahya/bangla-wiki-ai-before-after" TargetMode="External"/><Relationship Id="rId4" Type="http://schemas.openxmlformats.org/officeDocument/2006/relationships/image" Target="../media/image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 name="Shape 17"/>
        <p:cNvGrpSpPr/>
        <p:nvPr/>
      </p:nvGrpSpPr>
      <p:grpSpPr>
        <a:xfrm>
          <a:off x="0" y="0"/>
          <a:ext cx="0" cy="0"/>
          <a:chOff x="0" y="0"/>
          <a:chExt cx="0" cy="0"/>
        </a:xfrm>
      </p:grpSpPr>
      <p:sp>
        <p:nvSpPr>
          <p:cNvPr id="18" name="Google Shape;18;p5"/>
          <p:cNvSpPr/>
          <p:nvPr/>
        </p:nvSpPr>
        <p:spPr>
          <a:xfrm>
            <a:off x="812800" y="1024128"/>
            <a:ext cx="877824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8501A"/>
              </a:buClr>
              <a:buSzPts val="1200"/>
              <a:buFont typeface="Tiro Bangla"/>
              <a:buNone/>
            </a:pPr>
            <a:r>
              <a:rPr b="1" i="0" lang="en-US" sz="1200" u="none" cap="none" strike="noStrike">
                <a:solidFill>
                  <a:srgbClr val="C8501A"/>
                </a:solidFill>
                <a:latin typeface="Tiro Bangla"/>
                <a:ea typeface="Tiro Bangla"/>
                <a:cs typeface="Tiro Bangla"/>
                <a:sym typeface="Tiro Bangla"/>
              </a:rPr>
              <a:t>বাংলা উইকিসম্মেলন ২০২৬</a:t>
            </a:r>
            <a:endParaRPr b="0" i="0" sz="1200" u="none" cap="none" strike="noStrike">
              <a:solidFill>
                <a:schemeClr val="dk1"/>
              </a:solidFill>
              <a:latin typeface="Tiro Bangla"/>
              <a:ea typeface="Tiro Bangla"/>
              <a:cs typeface="Tiro Bangla"/>
              <a:sym typeface="Tiro Bangla"/>
            </a:endParaRPr>
          </a:p>
        </p:txBody>
      </p:sp>
      <p:sp>
        <p:nvSpPr>
          <p:cNvPr id="19" name="Google Shape;19;p5"/>
          <p:cNvSpPr/>
          <p:nvPr/>
        </p:nvSpPr>
        <p:spPr>
          <a:xfrm>
            <a:off x="812800" y="1280160"/>
            <a:ext cx="8778240" cy="1025525"/>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384D86"/>
              </a:buClr>
              <a:buSzPts val="7500"/>
              <a:buFont typeface="Tiro Bangla"/>
              <a:buNone/>
            </a:pPr>
            <a:r>
              <a:rPr b="0" i="0" lang="en-US" sz="7500" u="none" cap="none" strike="noStrike">
                <a:solidFill>
                  <a:srgbClr val="384D86"/>
                </a:solidFill>
                <a:latin typeface="Tiro Bangla"/>
                <a:ea typeface="Tiro Bangla"/>
                <a:cs typeface="Tiro Bangla"/>
                <a:sym typeface="Tiro Bangla"/>
              </a:rPr>
              <a:t>এআই-এর আগে ও পরে</a:t>
            </a:r>
            <a:endParaRPr b="0" i="0" sz="7500" u="none" cap="none" strike="noStrike">
              <a:solidFill>
                <a:schemeClr val="dk1"/>
              </a:solidFill>
              <a:latin typeface="Tiro Bangla"/>
              <a:ea typeface="Tiro Bangla"/>
              <a:cs typeface="Tiro Bangla"/>
              <a:sym typeface="Tiro Bangla"/>
            </a:endParaRPr>
          </a:p>
        </p:txBody>
      </p:sp>
      <p:sp>
        <p:nvSpPr>
          <p:cNvPr id="20" name="Google Shape;20;p5"/>
          <p:cNvSpPr/>
          <p:nvPr/>
        </p:nvSpPr>
        <p:spPr>
          <a:xfrm>
            <a:off x="812800" y="2359152"/>
            <a:ext cx="9156700" cy="33397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5F6A8A"/>
              </a:buClr>
              <a:buSzPts val="1800"/>
              <a:buFont typeface="Tiro Bangla"/>
              <a:buNone/>
            </a:pPr>
            <a:r>
              <a:rPr b="0" i="0" lang="en-US" sz="1800" u="none" cap="none" strike="noStrike">
                <a:solidFill>
                  <a:srgbClr val="5F6A8A"/>
                </a:solidFill>
                <a:latin typeface="Tiro Bangla"/>
                <a:ea typeface="Tiro Bangla"/>
                <a:cs typeface="Tiro Bangla"/>
                <a:sym typeface="Tiro Bangla"/>
              </a:rPr>
              <a:t>এক দশকের পরিসংখ্যানে বাংলা উইকিমিডিয়া প্রকল্পগুলোর পাঠক, সম্পাদক ও টেকসই ভবিষ্যৎ</a:t>
            </a:r>
            <a:endParaRPr b="0" i="0" sz="1800" u="none" cap="none" strike="noStrike">
              <a:solidFill>
                <a:schemeClr val="dk1"/>
              </a:solidFill>
              <a:latin typeface="Tiro Bangla"/>
              <a:ea typeface="Tiro Bangla"/>
              <a:cs typeface="Tiro Bangla"/>
              <a:sym typeface="Tiro Bangla"/>
            </a:endParaRPr>
          </a:p>
        </p:txBody>
      </p:sp>
      <p:sp>
        <p:nvSpPr>
          <p:cNvPr id="21" name="Google Shape;21;p5"/>
          <p:cNvSpPr/>
          <p:nvPr/>
        </p:nvSpPr>
        <p:spPr>
          <a:xfrm>
            <a:off x="812800" y="5468112"/>
            <a:ext cx="10883392" cy="27305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384D86"/>
              </a:buClr>
              <a:buSzPts val="1500"/>
              <a:buFont typeface="Tiro Bangla"/>
              <a:buNone/>
            </a:pPr>
            <a:r>
              <a:rPr b="1" i="0" lang="en-US" sz="1500" u="none" cap="none" strike="noStrike">
                <a:solidFill>
                  <a:srgbClr val="384D86"/>
                </a:solidFill>
                <a:latin typeface="Tiro Bangla"/>
                <a:ea typeface="Tiro Bangla"/>
                <a:cs typeface="Tiro Bangla"/>
                <a:sym typeface="Tiro Bangla"/>
              </a:rPr>
              <a:t>Muhammad Yahya</a:t>
            </a:r>
            <a:endParaRPr b="0" i="0" sz="1500" u="none" cap="none" strike="noStrike">
              <a:solidFill>
                <a:schemeClr val="dk1"/>
              </a:solidFill>
              <a:latin typeface="Tiro Bangla"/>
              <a:ea typeface="Tiro Bangla"/>
              <a:cs typeface="Tiro Bangla"/>
              <a:sym typeface="Tiro Bangla"/>
            </a:endParaRPr>
          </a:p>
        </p:txBody>
      </p:sp>
      <p:sp>
        <p:nvSpPr>
          <p:cNvPr id="22" name="Google Shape;22;p5"/>
          <p:cNvSpPr/>
          <p:nvPr/>
        </p:nvSpPr>
        <p:spPr>
          <a:xfrm>
            <a:off x="812800" y="3200400"/>
            <a:ext cx="10883392" cy="22350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বাংলা উইকিপিডিয়ার মাসিক পেজভিউ, ২০১৬–২০২৬</a:t>
            </a:r>
            <a:endParaRPr b="0" i="0" sz="1200" u="none" cap="none" strike="noStrike">
              <a:solidFill>
                <a:schemeClr val="dk1"/>
              </a:solidFill>
              <a:latin typeface="Tiro Bangla"/>
              <a:ea typeface="Tiro Bangla"/>
              <a:cs typeface="Tiro Bangla"/>
              <a:sym typeface="Tiro Bangla"/>
            </a:endParaRPr>
          </a:p>
        </p:txBody>
      </p:sp>
      <p:pic>
        <p:nvPicPr>
          <p:cNvPr descr="বাংলা উইকিপিডিয়ার মাসিক পেজভিউ, ২০১৬–২০২৬: মানুষ কমলা রেখা, যন্ত্র নীল বিন্দুরেখা" id="23" name="Google Shape;23;p5"/>
          <p:cNvPicPr preferRelativeResize="0"/>
          <p:nvPr/>
        </p:nvPicPr>
        <p:blipFill rotWithShape="1">
          <a:blip r:embed="rId4">
            <a:alphaModFix/>
          </a:blip>
          <a:srcRect b="0" l="-50" r="-50" t="0"/>
          <a:stretch/>
        </p:blipFill>
        <p:spPr>
          <a:xfrm>
            <a:off x="812800" y="3511296"/>
            <a:ext cx="10566400" cy="1587500"/>
          </a:xfrm>
          <a:prstGeom prst="rect">
            <a:avLst/>
          </a:prstGeom>
          <a:noFill/>
          <a:ln>
            <a:noFill/>
          </a:ln>
        </p:spPr>
      </p:pic>
      <p:sp>
        <p:nvSpPr>
          <p:cNvPr id="24" name="Google Shape;24;p5"/>
          <p:cNvSpPr/>
          <p:nvPr/>
        </p:nvSpPr>
        <p:spPr>
          <a:xfrm>
            <a:off x="9417050" y="4343400"/>
            <a:ext cx="1962150" cy="273050"/>
          </a:xfrm>
          <a:prstGeom prst="rect">
            <a:avLst/>
          </a:prstGeom>
          <a:noFill/>
          <a:ln>
            <a:noFill/>
          </a:ln>
        </p:spPr>
        <p:txBody>
          <a:bodyPr anchorCtr="0" anchor="t" bIns="0" lIns="0" spcFirstLastPara="1" rIns="0" wrap="square" tIns="0">
            <a:noAutofit/>
          </a:bodyPr>
          <a:lstStyle/>
          <a:p>
            <a:pPr indent="0" lvl="0" marL="0" marR="0" rtl="0" algn="r">
              <a:lnSpc>
                <a:spcPct val="130000"/>
              </a:lnSpc>
              <a:spcBef>
                <a:spcPts val="0"/>
              </a:spcBef>
              <a:spcAft>
                <a:spcPts val="0"/>
              </a:spcAft>
              <a:buClr>
                <a:srgbClr val="C8501A"/>
              </a:buClr>
              <a:buSzPts val="1500"/>
              <a:buFont typeface="Tiro Bangla"/>
              <a:buNone/>
            </a:pPr>
            <a:r>
              <a:rPr b="1" i="0" lang="en-US" sz="1500" u="none" cap="none" strike="noStrike">
                <a:solidFill>
                  <a:srgbClr val="C8501A"/>
                </a:solidFill>
                <a:latin typeface="Tiro Bangla"/>
                <a:ea typeface="Tiro Bangla"/>
                <a:cs typeface="Tiro Bangla"/>
                <a:sym typeface="Tiro Bangla"/>
              </a:rPr>
              <a:t>মানুষ</a:t>
            </a:r>
            <a:endParaRPr b="0" i="0" sz="1500" u="none" cap="none" strike="noStrike">
              <a:solidFill>
                <a:schemeClr val="dk1"/>
              </a:solidFill>
              <a:latin typeface="Tiro Bangla"/>
              <a:ea typeface="Tiro Bangla"/>
              <a:cs typeface="Tiro Bangla"/>
              <a:sym typeface="Tiro Bangla"/>
            </a:endParaRPr>
          </a:p>
        </p:txBody>
      </p:sp>
      <p:sp>
        <p:nvSpPr>
          <p:cNvPr id="25" name="Google Shape;25;p5"/>
          <p:cNvSpPr/>
          <p:nvPr/>
        </p:nvSpPr>
        <p:spPr>
          <a:xfrm>
            <a:off x="9417050" y="3803904"/>
            <a:ext cx="1962150" cy="273050"/>
          </a:xfrm>
          <a:prstGeom prst="rect">
            <a:avLst/>
          </a:prstGeom>
          <a:noFill/>
          <a:ln>
            <a:noFill/>
          </a:ln>
        </p:spPr>
        <p:txBody>
          <a:bodyPr anchorCtr="0" anchor="t" bIns="0" lIns="0" spcFirstLastPara="1" rIns="0" wrap="square" tIns="0">
            <a:noAutofit/>
          </a:bodyPr>
          <a:lstStyle/>
          <a:p>
            <a:pPr indent="0" lvl="0" marL="0" marR="0" rtl="0" algn="r">
              <a:lnSpc>
                <a:spcPct val="130000"/>
              </a:lnSpc>
              <a:spcBef>
                <a:spcPts val="0"/>
              </a:spcBef>
              <a:spcAft>
                <a:spcPts val="0"/>
              </a:spcAft>
              <a:buClr>
                <a:srgbClr val="0E65C0"/>
              </a:buClr>
              <a:buSzPts val="1500"/>
              <a:buFont typeface="Tiro Bangla"/>
              <a:buNone/>
            </a:pPr>
            <a:r>
              <a:rPr b="1" i="0" lang="en-US" sz="1500" u="none" cap="none" strike="noStrike">
                <a:solidFill>
                  <a:srgbClr val="0E65C0"/>
                </a:solidFill>
                <a:latin typeface="Tiro Bangla"/>
                <a:ea typeface="Tiro Bangla"/>
                <a:cs typeface="Tiro Bangla"/>
                <a:sym typeface="Tiro Bangla"/>
              </a:rPr>
              <a:t>যন্ত্র</a:t>
            </a:r>
            <a:endParaRPr b="0" i="0" sz="1500" u="none" cap="none" strike="noStrike">
              <a:solidFill>
                <a:schemeClr val="dk1"/>
              </a:solidFill>
              <a:latin typeface="Tiro Bangla"/>
              <a:ea typeface="Tiro Bangla"/>
              <a:cs typeface="Tiro Bangla"/>
              <a:sym typeface="Tiro Bangla"/>
            </a:endParaRPr>
          </a:p>
        </p:txBody>
      </p:sp>
      <p:sp>
        <p:nvSpPr>
          <p:cNvPr id="26" name="Google Shape;26;p5"/>
          <p:cNvSpPr/>
          <p:nvPr/>
        </p:nvSpPr>
        <p:spPr>
          <a:xfrm>
            <a:off x="812800" y="5148072"/>
            <a:ext cx="1320800" cy="22350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২০১৬</a:t>
            </a:r>
            <a:endParaRPr b="0" i="0" sz="1200" u="none" cap="none" strike="noStrike">
              <a:solidFill>
                <a:schemeClr val="dk1"/>
              </a:solidFill>
              <a:latin typeface="Tiro Bangla"/>
              <a:ea typeface="Tiro Bangla"/>
              <a:cs typeface="Tiro Bangla"/>
              <a:sym typeface="Tiro Bangla"/>
            </a:endParaRPr>
          </a:p>
        </p:txBody>
      </p:sp>
      <p:sp>
        <p:nvSpPr>
          <p:cNvPr id="27" name="Google Shape;27;p5"/>
          <p:cNvSpPr/>
          <p:nvPr/>
        </p:nvSpPr>
        <p:spPr>
          <a:xfrm>
            <a:off x="10058400" y="5148072"/>
            <a:ext cx="1320800" cy="223507"/>
          </a:xfrm>
          <a:prstGeom prst="rect">
            <a:avLst/>
          </a:prstGeom>
          <a:noFill/>
          <a:ln>
            <a:noFill/>
          </a:ln>
        </p:spPr>
        <p:txBody>
          <a:bodyPr anchorCtr="0" anchor="t" bIns="0" lIns="0" spcFirstLastPara="1" rIns="0" wrap="square" tIns="0">
            <a:noAutofit/>
          </a:bodyPr>
          <a:lstStyle/>
          <a:p>
            <a:pPr indent="0" lvl="0" marL="0" marR="0" rtl="0" algn="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২০২৬</a:t>
            </a:r>
            <a:endParaRPr b="0" i="0" sz="1200" u="none" cap="none" strike="noStrike">
              <a:solidFill>
                <a:schemeClr val="dk1"/>
              </a:solidFill>
              <a:latin typeface="Tiro Bangla"/>
              <a:ea typeface="Tiro Bangla"/>
              <a:cs typeface="Tiro Bangla"/>
              <a:sym typeface="Tiro Bangla"/>
            </a:endParaRPr>
          </a:p>
        </p:txBody>
      </p:sp>
      <p:pic>
        <p:nvPicPr>
          <p:cNvPr descr="বাংলা উইকিসম্মেলন ২০২৬ লোগো" id="28" name="Google Shape;28;p5"/>
          <p:cNvPicPr preferRelativeResize="0"/>
          <p:nvPr/>
        </p:nvPicPr>
        <p:blipFill rotWithShape="1">
          <a:blip r:embed="rId5">
            <a:alphaModFix/>
          </a:blip>
          <a:srcRect b="0" l="0" r="0" t="0"/>
          <a:stretch/>
        </p:blipFill>
        <p:spPr>
          <a:xfrm>
            <a:off x="9829800" y="1024128"/>
            <a:ext cx="1600200" cy="95656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0E4FF"/>
        </a:solidFill>
      </p:bgPr>
    </p:bg>
    <p:spTree>
      <p:nvGrpSpPr>
        <p:cNvPr id="33" name="Shape 33"/>
        <p:cNvGrpSpPr/>
        <p:nvPr/>
      </p:nvGrpSpPr>
      <p:grpSpPr>
        <a:xfrm>
          <a:off x="0" y="0"/>
          <a:ext cx="0" cy="0"/>
          <a:chOff x="0" y="0"/>
          <a:chExt cx="0" cy="0"/>
        </a:xfrm>
      </p:grpSpPr>
      <p:sp>
        <p:nvSpPr>
          <p:cNvPr id="34" name="Google Shape;34;p6"/>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8400F"/>
              </a:buClr>
              <a:buSzPts val="1200"/>
              <a:buFont typeface="Tiro Bangla"/>
              <a:buNone/>
            </a:pPr>
            <a:r>
              <a:rPr b="1" i="0" lang="en-US" sz="1200" u="none" cap="none" strike="noStrike">
                <a:solidFill>
                  <a:srgbClr val="A8400F"/>
                </a:solidFill>
                <a:latin typeface="Tiro Bangla"/>
                <a:ea typeface="Tiro Bangla"/>
                <a:cs typeface="Tiro Bangla"/>
                <a:sym typeface="Tiro Bangla"/>
              </a:rPr>
              <a:t>শুরুর কথা</a:t>
            </a:r>
            <a:endParaRPr b="0" i="0" sz="1200" u="none" cap="none" strike="noStrike">
              <a:solidFill>
                <a:schemeClr val="dk1"/>
              </a:solidFill>
              <a:latin typeface="Tiro Bangla"/>
              <a:ea typeface="Tiro Bangla"/>
              <a:cs typeface="Tiro Bangla"/>
              <a:sym typeface="Tiro Bangla"/>
            </a:endParaRPr>
          </a:p>
        </p:txBody>
      </p:sp>
      <p:sp>
        <p:nvSpPr>
          <p:cNvPr id="35" name="Google Shape;35;p6"/>
          <p:cNvSpPr/>
          <p:nvPr/>
        </p:nvSpPr>
        <p:spPr>
          <a:xfrm>
            <a:off x="812800" y="1153120"/>
            <a:ext cx="9810750" cy="1254654"/>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384D86"/>
              </a:buClr>
              <a:buSzPts val="4400"/>
              <a:buFont typeface="Tiro Bangla"/>
              <a:buNone/>
            </a:pPr>
            <a:r>
              <a:rPr b="0" i="0" lang="en-US" sz="4400" u="none" cap="none" strike="noStrike">
                <a:solidFill>
                  <a:srgbClr val="384D86"/>
                </a:solidFill>
                <a:latin typeface="Tiro Bangla"/>
                <a:ea typeface="Tiro Bangla"/>
                <a:cs typeface="Tiro Bangla"/>
                <a:sym typeface="Tiro Bangla"/>
              </a:rPr>
              <a:t>বাংলা উইকিপিডিয়ায় প্রতি ১০টি পেজভিউয়ের </a:t>
            </a:r>
            <a:r>
              <a:rPr b="0" i="0" lang="en-US" sz="4400" u="none" cap="none" strike="noStrike">
                <a:solidFill>
                  <a:srgbClr val="0E65C0"/>
                </a:solidFill>
                <a:latin typeface="Tiro Bangla"/>
                <a:ea typeface="Tiro Bangla"/>
                <a:cs typeface="Tiro Bangla"/>
                <a:sym typeface="Tiro Bangla"/>
              </a:rPr>
              <a:t>৭টিই</a:t>
            </a:r>
            <a:r>
              <a:rPr b="0" i="0" lang="en-US" sz="4400" u="none" cap="none" strike="noStrike">
                <a:solidFill>
                  <a:srgbClr val="384D86"/>
                </a:solidFill>
                <a:latin typeface="Tiro Bangla"/>
                <a:ea typeface="Tiro Bangla"/>
                <a:cs typeface="Tiro Bangla"/>
                <a:sym typeface="Tiro Bangla"/>
              </a:rPr>
              <a:t> এখন যন্ত্রের</a:t>
            </a:r>
            <a:endParaRPr b="0" i="0" sz="4400" u="none" cap="none" strike="noStrike">
              <a:solidFill>
                <a:schemeClr val="dk1"/>
              </a:solidFill>
              <a:latin typeface="Tiro Bangla"/>
              <a:ea typeface="Tiro Bangla"/>
              <a:cs typeface="Tiro Bangla"/>
              <a:sym typeface="Tiro Bangla"/>
            </a:endParaRPr>
          </a:p>
        </p:txBody>
      </p:sp>
      <p:pic>
        <p:nvPicPr>
          <p:cNvPr descr="ellipse" id="36" name="Google Shape;36;p6"/>
          <p:cNvPicPr preferRelativeResize="0"/>
          <p:nvPr/>
        </p:nvPicPr>
        <p:blipFill rotWithShape="1">
          <a:blip r:embed="rId3">
            <a:alphaModFix/>
          </a:blip>
          <a:srcRect b="0" l="0" r="0" t="0"/>
          <a:stretch/>
        </p:blipFill>
        <p:spPr>
          <a:xfrm>
            <a:off x="1257300" y="3175000"/>
            <a:ext cx="762000" cy="762000"/>
          </a:xfrm>
          <a:prstGeom prst="rect">
            <a:avLst/>
          </a:prstGeom>
          <a:noFill/>
          <a:ln>
            <a:noFill/>
          </a:ln>
        </p:spPr>
      </p:pic>
      <p:pic>
        <p:nvPicPr>
          <p:cNvPr descr="ellipse" id="37" name="Google Shape;37;p6"/>
          <p:cNvPicPr preferRelativeResize="0"/>
          <p:nvPr/>
        </p:nvPicPr>
        <p:blipFill rotWithShape="1">
          <a:blip r:embed="rId3">
            <a:alphaModFix/>
          </a:blip>
          <a:srcRect b="0" l="0" r="0" t="0"/>
          <a:stretch/>
        </p:blipFill>
        <p:spPr>
          <a:xfrm>
            <a:off x="2247900" y="3175000"/>
            <a:ext cx="762000" cy="762000"/>
          </a:xfrm>
          <a:prstGeom prst="rect">
            <a:avLst/>
          </a:prstGeom>
          <a:noFill/>
          <a:ln>
            <a:noFill/>
          </a:ln>
        </p:spPr>
      </p:pic>
      <p:pic>
        <p:nvPicPr>
          <p:cNvPr descr="ellipse" id="38" name="Google Shape;38;p6"/>
          <p:cNvPicPr preferRelativeResize="0"/>
          <p:nvPr/>
        </p:nvPicPr>
        <p:blipFill rotWithShape="1">
          <a:blip r:embed="rId3">
            <a:alphaModFix/>
          </a:blip>
          <a:srcRect b="0" l="0" r="0" t="0"/>
          <a:stretch/>
        </p:blipFill>
        <p:spPr>
          <a:xfrm>
            <a:off x="3238500" y="3175000"/>
            <a:ext cx="762000" cy="762000"/>
          </a:xfrm>
          <a:prstGeom prst="rect">
            <a:avLst/>
          </a:prstGeom>
          <a:noFill/>
          <a:ln>
            <a:noFill/>
          </a:ln>
        </p:spPr>
      </p:pic>
      <p:pic>
        <p:nvPicPr>
          <p:cNvPr descr="ellipse" id="39" name="Google Shape;39;p6"/>
          <p:cNvPicPr preferRelativeResize="0"/>
          <p:nvPr/>
        </p:nvPicPr>
        <p:blipFill rotWithShape="1">
          <a:blip r:embed="rId3">
            <a:alphaModFix/>
          </a:blip>
          <a:srcRect b="0" l="0" r="0" t="0"/>
          <a:stretch/>
        </p:blipFill>
        <p:spPr>
          <a:xfrm>
            <a:off x="4229100" y="3175000"/>
            <a:ext cx="762000" cy="762000"/>
          </a:xfrm>
          <a:prstGeom prst="rect">
            <a:avLst/>
          </a:prstGeom>
          <a:noFill/>
          <a:ln>
            <a:noFill/>
          </a:ln>
        </p:spPr>
      </p:pic>
      <p:pic>
        <p:nvPicPr>
          <p:cNvPr descr="ellipse" id="40" name="Google Shape;40;p6"/>
          <p:cNvPicPr preferRelativeResize="0"/>
          <p:nvPr/>
        </p:nvPicPr>
        <p:blipFill rotWithShape="1">
          <a:blip r:embed="rId3">
            <a:alphaModFix/>
          </a:blip>
          <a:srcRect b="0" l="0" r="0" t="0"/>
          <a:stretch/>
        </p:blipFill>
        <p:spPr>
          <a:xfrm>
            <a:off x="5219700" y="3175000"/>
            <a:ext cx="762000" cy="762000"/>
          </a:xfrm>
          <a:prstGeom prst="rect">
            <a:avLst/>
          </a:prstGeom>
          <a:noFill/>
          <a:ln>
            <a:noFill/>
          </a:ln>
        </p:spPr>
      </p:pic>
      <p:pic>
        <p:nvPicPr>
          <p:cNvPr descr="ellipse" id="41" name="Google Shape;41;p6"/>
          <p:cNvPicPr preferRelativeResize="0"/>
          <p:nvPr/>
        </p:nvPicPr>
        <p:blipFill rotWithShape="1">
          <a:blip r:embed="rId3">
            <a:alphaModFix/>
          </a:blip>
          <a:srcRect b="0" l="0" r="0" t="0"/>
          <a:stretch/>
        </p:blipFill>
        <p:spPr>
          <a:xfrm>
            <a:off x="6210300" y="3175000"/>
            <a:ext cx="762000" cy="762000"/>
          </a:xfrm>
          <a:prstGeom prst="rect">
            <a:avLst/>
          </a:prstGeom>
          <a:noFill/>
          <a:ln>
            <a:noFill/>
          </a:ln>
        </p:spPr>
      </p:pic>
      <p:pic>
        <p:nvPicPr>
          <p:cNvPr descr="ellipse" id="42" name="Google Shape;42;p6"/>
          <p:cNvPicPr preferRelativeResize="0"/>
          <p:nvPr/>
        </p:nvPicPr>
        <p:blipFill rotWithShape="1">
          <a:blip r:embed="rId3">
            <a:alphaModFix/>
          </a:blip>
          <a:srcRect b="0" l="0" r="0" t="0"/>
          <a:stretch/>
        </p:blipFill>
        <p:spPr>
          <a:xfrm>
            <a:off x="7200900" y="3175000"/>
            <a:ext cx="762000" cy="762000"/>
          </a:xfrm>
          <a:prstGeom prst="rect">
            <a:avLst/>
          </a:prstGeom>
          <a:noFill/>
          <a:ln>
            <a:noFill/>
          </a:ln>
        </p:spPr>
      </p:pic>
      <p:pic>
        <p:nvPicPr>
          <p:cNvPr descr="ellipse" id="43" name="Google Shape;43;p6"/>
          <p:cNvPicPr preferRelativeResize="0"/>
          <p:nvPr/>
        </p:nvPicPr>
        <p:blipFill rotWithShape="1">
          <a:blip r:embed="rId4">
            <a:alphaModFix/>
          </a:blip>
          <a:srcRect b="0" l="0" r="0" t="0"/>
          <a:stretch/>
        </p:blipFill>
        <p:spPr>
          <a:xfrm>
            <a:off x="8191500" y="3175000"/>
            <a:ext cx="762000" cy="762000"/>
          </a:xfrm>
          <a:prstGeom prst="rect">
            <a:avLst/>
          </a:prstGeom>
          <a:noFill/>
          <a:ln>
            <a:noFill/>
          </a:ln>
        </p:spPr>
      </p:pic>
      <p:pic>
        <p:nvPicPr>
          <p:cNvPr descr="ellipse" id="44" name="Google Shape;44;p6"/>
          <p:cNvPicPr preferRelativeResize="0"/>
          <p:nvPr/>
        </p:nvPicPr>
        <p:blipFill rotWithShape="1">
          <a:blip r:embed="rId4">
            <a:alphaModFix/>
          </a:blip>
          <a:srcRect b="0" l="0" r="0" t="0"/>
          <a:stretch/>
        </p:blipFill>
        <p:spPr>
          <a:xfrm>
            <a:off x="9182100" y="3175000"/>
            <a:ext cx="762000" cy="762000"/>
          </a:xfrm>
          <a:prstGeom prst="rect">
            <a:avLst/>
          </a:prstGeom>
          <a:noFill/>
          <a:ln>
            <a:noFill/>
          </a:ln>
        </p:spPr>
      </p:pic>
      <p:pic>
        <p:nvPicPr>
          <p:cNvPr descr="ellipse" id="45" name="Google Shape;45;p6"/>
          <p:cNvPicPr preferRelativeResize="0"/>
          <p:nvPr/>
        </p:nvPicPr>
        <p:blipFill rotWithShape="1">
          <a:blip r:embed="rId4">
            <a:alphaModFix/>
          </a:blip>
          <a:srcRect b="0" l="0" r="0" t="0"/>
          <a:stretch/>
        </p:blipFill>
        <p:spPr>
          <a:xfrm>
            <a:off x="10172700" y="3175000"/>
            <a:ext cx="762000" cy="762000"/>
          </a:xfrm>
          <a:prstGeom prst="rect">
            <a:avLst/>
          </a:prstGeom>
          <a:noFill/>
          <a:ln>
            <a:noFill/>
          </a:ln>
        </p:spPr>
      </p:pic>
      <p:sp>
        <p:nvSpPr>
          <p:cNvPr id="46" name="Google Shape;46;p6"/>
          <p:cNvSpPr/>
          <p:nvPr/>
        </p:nvSpPr>
        <p:spPr>
          <a:xfrm>
            <a:off x="2647950" y="4064000"/>
            <a:ext cx="3924300" cy="273050"/>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0E65C0"/>
              </a:buClr>
              <a:buSzPts val="1500"/>
              <a:buFont typeface="Tiro Bangla"/>
              <a:buNone/>
            </a:pPr>
            <a:r>
              <a:rPr b="1" i="0" lang="en-US" sz="1500" u="none" cap="none" strike="noStrike">
                <a:solidFill>
                  <a:srgbClr val="0E65C0"/>
                </a:solidFill>
                <a:latin typeface="Tiro Bangla"/>
                <a:ea typeface="Tiro Bangla"/>
                <a:cs typeface="Tiro Bangla"/>
                <a:sym typeface="Tiro Bangla"/>
              </a:rPr>
              <a:t>যন্ত্র</a:t>
            </a:r>
            <a:endParaRPr b="0" i="0" sz="1500" u="none" cap="none" strike="noStrike">
              <a:solidFill>
                <a:schemeClr val="dk1"/>
              </a:solidFill>
              <a:latin typeface="Tiro Bangla"/>
              <a:ea typeface="Tiro Bangla"/>
              <a:cs typeface="Tiro Bangla"/>
              <a:sym typeface="Tiro Bangla"/>
            </a:endParaRPr>
          </a:p>
        </p:txBody>
      </p:sp>
      <p:sp>
        <p:nvSpPr>
          <p:cNvPr id="47" name="Google Shape;47;p6"/>
          <p:cNvSpPr/>
          <p:nvPr/>
        </p:nvSpPr>
        <p:spPr>
          <a:xfrm>
            <a:off x="8255000" y="4064000"/>
            <a:ext cx="2616200" cy="273050"/>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A8400F"/>
              </a:buClr>
              <a:buSzPts val="1500"/>
              <a:buFont typeface="Tiro Bangla"/>
              <a:buNone/>
            </a:pPr>
            <a:r>
              <a:rPr b="1" i="0" lang="en-US" sz="1500" u="none" cap="none" strike="noStrike">
                <a:solidFill>
                  <a:srgbClr val="A8400F"/>
                </a:solidFill>
                <a:latin typeface="Tiro Bangla"/>
                <a:ea typeface="Tiro Bangla"/>
                <a:cs typeface="Tiro Bangla"/>
                <a:sym typeface="Tiro Bangla"/>
              </a:rPr>
              <a:t>মানুষ</a:t>
            </a:r>
            <a:endParaRPr b="0" i="0" sz="1500" u="none" cap="none" strike="noStrike">
              <a:solidFill>
                <a:schemeClr val="dk1"/>
              </a:solidFill>
              <a:latin typeface="Tiro Bangla"/>
              <a:ea typeface="Tiro Bangla"/>
              <a:cs typeface="Tiro Bangla"/>
              <a:sym typeface="Tiro Bangla"/>
            </a:endParaRPr>
          </a:p>
        </p:txBody>
      </p:sp>
      <p:sp>
        <p:nvSpPr>
          <p:cNvPr id="48" name="Google Shape;48;p6"/>
          <p:cNvSpPr/>
          <p:nvPr/>
        </p:nvSpPr>
        <p:spPr>
          <a:xfrm>
            <a:off x="654304" y="4724400"/>
            <a:ext cx="10883392" cy="368300"/>
          </a:xfrm>
          <a:prstGeom prst="rect">
            <a:avLst/>
          </a:prstGeom>
          <a:noFill/>
          <a:ln>
            <a:noFill/>
          </a:ln>
        </p:spPr>
        <p:txBody>
          <a:bodyPr anchorCtr="0" anchor="t" bIns="0" lIns="0" spcFirstLastPara="1" rIns="0" wrap="square" tIns="0">
            <a:noAutofit/>
          </a:bodyPr>
          <a:lstStyle/>
          <a:p>
            <a:pPr indent="0" lvl="0" marL="0" marR="0" rtl="0" algn="ctr">
              <a:lnSpc>
                <a:spcPct val="135000"/>
              </a:lnSpc>
              <a:spcBef>
                <a:spcPts val="0"/>
              </a:spcBef>
              <a:spcAft>
                <a:spcPts val="0"/>
              </a:spcAft>
              <a:buClr>
                <a:srgbClr val="384D86"/>
              </a:buClr>
              <a:buSzPts val="2000"/>
              <a:buFont typeface="Tiro Bangla"/>
              <a:buNone/>
            </a:pPr>
            <a:r>
              <a:rPr b="0" i="0" lang="en-US" sz="2000" u="none" cap="none" strike="noStrike">
                <a:solidFill>
                  <a:srgbClr val="384D86"/>
                </a:solidFill>
                <a:latin typeface="Tiro Bangla"/>
                <a:ea typeface="Tiro Bangla"/>
                <a:cs typeface="Tiro Bangla"/>
                <a:sym typeface="Tiro Bangla"/>
              </a:rPr>
              <a:t>দুই বছর আগে ধরা পড়ত ১০টিতে ৪টি। </a:t>
            </a:r>
            <a:r>
              <a:rPr b="0" i="0" lang="en-US" sz="2000" u="none" cap="none" strike="noStrike">
                <a:solidFill>
                  <a:srgbClr val="4E5878"/>
                </a:solidFill>
                <a:latin typeface="Tiro Bangla"/>
                <a:ea typeface="Tiro Bangla"/>
                <a:cs typeface="Tiro Bangla"/>
                <a:sym typeface="Tiro Bangla"/>
              </a:rPr>
              <a:t>ইংরেজি উইকিপিডিয়ায় এখনো ১০টিতে ৩টি।</a:t>
            </a:r>
            <a:endParaRPr b="0" i="0" sz="2000" u="none" cap="none" strike="noStrike">
              <a:solidFill>
                <a:schemeClr val="dk1"/>
              </a:solidFill>
              <a:latin typeface="Tiro Bangla"/>
              <a:ea typeface="Tiro Bangla"/>
              <a:cs typeface="Tiro Bangla"/>
              <a:sym typeface="Tiro Bangla"/>
            </a:endParaRPr>
          </a:p>
        </p:txBody>
      </p:sp>
      <p:sp>
        <p:nvSpPr>
          <p:cNvPr id="49" name="Google Shape;49;p6"/>
          <p:cNvSpPr/>
          <p:nvPr/>
        </p:nvSpPr>
        <p:spPr>
          <a:xfrm>
            <a:off x="812800" y="6236957"/>
            <a:ext cx="926671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E5878"/>
              </a:buClr>
              <a:buSzPts val="1200"/>
              <a:buFont typeface="Tiro Bangla"/>
              <a:buNone/>
            </a:pPr>
            <a:r>
              <a:rPr b="0" i="0" lang="en-US" sz="1200" u="none" cap="none" strike="noStrike">
                <a:solidFill>
                  <a:srgbClr val="4E5878"/>
                </a:solidFill>
                <a:latin typeface="Tiro Bangla"/>
                <a:ea typeface="Tiro Bangla"/>
                <a:cs typeface="Tiro Bangla"/>
                <a:sym typeface="Tiro Bangla"/>
              </a:rPr>
              <a:t>যন্ত্র = সার্চ ইঞ্জিনের ক্রলার ও শনাক্ত হওয়া স্বয়ংক্রিয় বট · জানুয়ারি–সেপ্টেম্বর ২০২৬, মাসিক গড় · উৎস: উইকিমিডিয়া পেজভিউ API</a:t>
            </a:r>
            <a:endParaRPr b="0" i="0" sz="1200" u="none" cap="none" strike="noStrike">
              <a:solidFill>
                <a:schemeClr val="dk1"/>
              </a:solidFill>
              <a:latin typeface="Tiro Bangla"/>
              <a:ea typeface="Tiro Bangla"/>
              <a:cs typeface="Tiro Bangla"/>
              <a:sym typeface="Tiro Bangla"/>
            </a:endParaRPr>
          </a:p>
        </p:txBody>
      </p:sp>
      <p:sp>
        <p:nvSpPr>
          <p:cNvPr id="50" name="Google Shape;50;p6"/>
          <p:cNvSpPr/>
          <p:nvPr/>
        </p:nvSpPr>
        <p:spPr>
          <a:xfrm>
            <a:off x="10972536" y="6236957"/>
            <a:ext cx="457465"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E5878"/>
              </a:buClr>
              <a:buSzPts val="1200"/>
              <a:buFont typeface="Tiro Bangla"/>
              <a:buNone/>
            </a:pPr>
            <a:r>
              <a:rPr b="0" i="0" lang="en-US" sz="1200" u="none" cap="none" strike="noStrike">
                <a:solidFill>
                  <a:srgbClr val="4E5878"/>
                </a:solidFill>
                <a:latin typeface="Tiro Bangla"/>
                <a:ea typeface="Tiro Bangla"/>
                <a:cs typeface="Tiro Bangla"/>
                <a:sym typeface="Tiro Bangla"/>
              </a:rPr>
              <a:t>২ / ১৯</a:t>
            </a:r>
            <a:endParaRPr b="0" i="0" sz="1200" u="none" cap="none" strike="noStrike">
              <a:solidFill>
                <a:schemeClr val="dk1"/>
              </a:solidFill>
              <a:latin typeface="Tiro Bangla"/>
              <a:ea typeface="Tiro Bangla"/>
              <a:cs typeface="Tiro Bangla"/>
              <a:sym typeface="Tiro Bangla"/>
            </a:endParaRPr>
          </a:p>
        </p:txBody>
      </p:sp>
      <p:pic>
        <p:nvPicPr>
          <p:cNvPr descr="বাংলা উইকিসম্মেলন ২০২৬ লোগো" id="51" name="Google Shape;51;p6"/>
          <p:cNvPicPr preferRelativeResize="0"/>
          <p:nvPr/>
        </p:nvPicPr>
        <p:blipFill rotWithShape="1">
          <a:blip r:embed="rId5">
            <a:alphaModFix/>
          </a:blip>
          <a:srcRect b="0" l="0" r="0" t="0"/>
          <a:stretch/>
        </p:blipFill>
        <p:spPr>
          <a:xfrm>
            <a:off x="10314432" y="365760"/>
            <a:ext cx="1115568" cy="66686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36"/>
                                        </p:tgtEl>
                                        <p:attrNameLst>
                                          <p:attrName>style.visibility</p:attrName>
                                        </p:attrNameLst>
                                      </p:cBhvr>
                                      <p:to>
                                        <p:strVal val="visible"/>
                                      </p:to>
                                    </p:set>
                                    <p:anim calcmode="lin" valueType="num">
                                      <p:cBhvr additive="base">
                                        <p:cTn dur="300"/>
                                        <p:tgtEl>
                                          <p:spTgt spid="36"/>
                                        </p:tgtEl>
                                        <p:attrNameLst>
                                          <p:attrName>ppt_w</p:attrName>
                                        </p:attrNameLst>
                                      </p:cBhvr>
                                      <p:tavLst>
                                        <p:tav fmla="" tm="0">
                                          <p:val>
                                            <p:strVal val="0"/>
                                          </p:val>
                                        </p:tav>
                                        <p:tav fmla="" tm="100000">
                                          <p:val>
                                            <p:strVal val="#ppt_w"/>
                                          </p:val>
                                        </p:tav>
                                      </p:tavLst>
                                    </p:anim>
                                    <p:anim calcmode="lin" valueType="num">
                                      <p:cBhvr additive="base">
                                        <p:cTn dur="300"/>
                                        <p:tgtEl>
                                          <p:spTgt spid="36"/>
                                        </p:tgtEl>
                                        <p:attrNameLst>
                                          <p:attrName>ppt_h</p:attrName>
                                        </p:attrNameLst>
                                      </p:cBhvr>
                                      <p:tavLst>
                                        <p:tav fmla="" tm="0">
                                          <p:val>
                                            <p:strVal val="0"/>
                                          </p:val>
                                        </p:tav>
                                        <p:tav fmla="" tm="100000">
                                          <p:val>
                                            <p:strVal val="#ppt_h"/>
                                          </p:val>
                                        </p:tav>
                                      </p:tavLst>
                                    </p:anim>
                                  </p:childTnLst>
                                </p:cTn>
                              </p:par>
                            </p:childTnLst>
                          </p:cTn>
                        </p:par>
                        <p:par>
                          <p:cTn fill="hold">
                            <p:stCondLst>
                              <p:cond delay="300"/>
                            </p:stCondLst>
                            <p:childTnLst>
                              <p:par>
                                <p:cTn fill="hold" nodeType="afterEffect" presetClass="entr" presetID="23" presetSubtype="16">
                                  <p:stCondLst>
                                    <p:cond delay="0"/>
                                  </p:stCondLst>
                                  <p:childTnLst>
                                    <p:set>
                                      <p:cBhvr>
                                        <p:cTn dur="1" fill="hold">
                                          <p:stCondLst>
                                            <p:cond delay="0"/>
                                          </p:stCondLst>
                                        </p:cTn>
                                        <p:tgtEl>
                                          <p:spTgt spid="37"/>
                                        </p:tgtEl>
                                        <p:attrNameLst>
                                          <p:attrName>style.visibility</p:attrName>
                                        </p:attrNameLst>
                                      </p:cBhvr>
                                      <p:to>
                                        <p:strVal val="visible"/>
                                      </p:to>
                                    </p:set>
                                    <p:anim calcmode="lin" valueType="num">
                                      <p:cBhvr additive="base">
                                        <p:cTn dur="300"/>
                                        <p:tgtEl>
                                          <p:spTgt spid="37"/>
                                        </p:tgtEl>
                                        <p:attrNameLst>
                                          <p:attrName>ppt_w</p:attrName>
                                        </p:attrNameLst>
                                      </p:cBhvr>
                                      <p:tavLst>
                                        <p:tav fmla="" tm="0">
                                          <p:val>
                                            <p:strVal val="0"/>
                                          </p:val>
                                        </p:tav>
                                        <p:tav fmla="" tm="100000">
                                          <p:val>
                                            <p:strVal val="#ppt_w"/>
                                          </p:val>
                                        </p:tav>
                                      </p:tavLst>
                                    </p:anim>
                                    <p:anim calcmode="lin" valueType="num">
                                      <p:cBhvr additive="base">
                                        <p:cTn dur="300"/>
                                        <p:tgtEl>
                                          <p:spTgt spid="37"/>
                                        </p:tgtEl>
                                        <p:attrNameLst>
                                          <p:attrName>ppt_h</p:attrName>
                                        </p:attrNameLst>
                                      </p:cBhvr>
                                      <p:tavLst>
                                        <p:tav fmla="" tm="0">
                                          <p:val>
                                            <p:strVal val="0"/>
                                          </p:val>
                                        </p:tav>
                                        <p:tav fmla="" tm="100000">
                                          <p:val>
                                            <p:strVal val="#ppt_h"/>
                                          </p:val>
                                        </p:tav>
                                      </p:tavLst>
                                    </p:anim>
                                  </p:childTnLst>
                                </p:cTn>
                              </p:par>
                            </p:childTnLst>
                          </p:cTn>
                        </p:par>
                        <p:par>
                          <p:cTn fill="hold">
                            <p:stCondLst>
                              <p:cond delay="600"/>
                            </p:stCondLst>
                            <p:childTnLst>
                              <p:par>
                                <p:cTn fill="hold" nodeType="afterEffect" presetClass="entr" presetID="23" presetSubtype="16">
                                  <p:stCondLst>
                                    <p:cond delay="0"/>
                                  </p:stCondLst>
                                  <p:childTnLst>
                                    <p:set>
                                      <p:cBhvr>
                                        <p:cTn dur="1" fill="hold">
                                          <p:stCondLst>
                                            <p:cond delay="0"/>
                                          </p:stCondLst>
                                        </p:cTn>
                                        <p:tgtEl>
                                          <p:spTgt spid="38"/>
                                        </p:tgtEl>
                                        <p:attrNameLst>
                                          <p:attrName>style.visibility</p:attrName>
                                        </p:attrNameLst>
                                      </p:cBhvr>
                                      <p:to>
                                        <p:strVal val="visible"/>
                                      </p:to>
                                    </p:set>
                                    <p:anim calcmode="lin" valueType="num">
                                      <p:cBhvr additive="base">
                                        <p:cTn dur="300"/>
                                        <p:tgtEl>
                                          <p:spTgt spid="38"/>
                                        </p:tgtEl>
                                        <p:attrNameLst>
                                          <p:attrName>ppt_w</p:attrName>
                                        </p:attrNameLst>
                                      </p:cBhvr>
                                      <p:tavLst>
                                        <p:tav fmla="" tm="0">
                                          <p:val>
                                            <p:strVal val="0"/>
                                          </p:val>
                                        </p:tav>
                                        <p:tav fmla="" tm="100000">
                                          <p:val>
                                            <p:strVal val="#ppt_w"/>
                                          </p:val>
                                        </p:tav>
                                      </p:tavLst>
                                    </p:anim>
                                    <p:anim calcmode="lin" valueType="num">
                                      <p:cBhvr additive="base">
                                        <p:cTn dur="300"/>
                                        <p:tgtEl>
                                          <p:spTgt spid="38"/>
                                        </p:tgtEl>
                                        <p:attrNameLst>
                                          <p:attrName>ppt_h</p:attrName>
                                        </p:attrNameLst>
                                      </p:cBhvr>
                                      <p:tavLst>
                                        <p:tav fmla="" tm="0">
                                          <p:val>
                                            <p:strVal val="0"/>
                                          </p:val>
                                        </p:tav>
                                        <p:tav fmla="" tm="100000">
                                          <p:val>
                                            <p:strVal val="#ppt_h"/>
                                          </p:val>
                                        </p:tav>
                                      </p:tavLst>
                                    </p:anim>
                                  </p:childTnLst>
                                </p:cTn>
                              </p:par>
                            </p:childTnLst>
                          </p:cTn>
                        </p:par>
                        <p:par>
                          <p:cTn fill="hold">
                            <p:stCondLst>
                              <p:cond delay="900"/>
                            </p:stCondLst>
                            <p:childTnLst>
                              <p:par>
                                <p:cTn fill="hold" nodeType="afterEffect" presetClass="entr" presetID="23" presetSubtype="16">
                                  <p:stCondLst>
                                    <p:cond delay="0"/>
                                  </p:stCondLst>
                                  <p:childTnLst>
                                    <p:set>
                                      <p:cBhvr>
                                        <p:cTn dur="1" fill="hold">
                                          <p:stCondLst>
                                            <p:cond delay="0"/>
                                          </p:stCondLst>
                                        </p:cTn>
                                        <p:tgtEl>
                                          <p:spTgt spid="39"/>
                                        </p:tgtEl>
                                        <p:attrNameLst>
                                          <p:attrName>style.visibility</p:attrName>
                                        </p:attrNameLst>
                                      </p:cBhvr>
                                      <p:to>
                                        <p:strVal val="visible"/>
                                      </p:to>
                                    </p:set>
                                    <p:anim calcmode="lin" valueType="num">
                                      <p:cBhvr additive="base">
                                        <p:cTn dur="300"/>
                                        <p:tgtEl>
                                          <p:spTgt spid="39"/>
                                        </p:tgtEl>
                                        <p:attrNameLst>
                                          <p:attrName>ppt_w</p:attrName>
                                        </p:attrNameLst>
                                      </p:cBhvr>
                                      <p:tavLst>
                                        <p:tav fmla="" tm="0">
                                          <p:val>
                                            <p:strVal val="0"/>
                                          </p:val>
                                        </p:tav>
                                        <p:tav fmla="" tm="100000">
                                          <p:val>
                                            <p:strVal val="#ppt_w"/>
                                          </p:val>
                                        </p:tav>
                                      </p:tavLst>
                                    </p:anim>
                                    <p:anim calcmode="lin" valueType="num">
                                      <p:cBhvr additive="base">
                                        <p:cTn dur="300"/>
                                        <p:tgtEl>
                                          <p:spTgt spid="39"/>
                                        </p:tgtEl>
                                        <p:attrNameLst>
                                          <p:attrName>ppt_h</p:attrName>
                                        </p:attrNameLst>
                                      </p:cBhvr>
                                      <p:tavLst>
                                        <p:tav fmla="" tm="0">
                                          <p:val>
                                            <p:strVal val="0"/>
                                          </p:val>
                                        </p:tav>
                                        <p:tav fmla="" tm="100000">
                                          <p:val>
                                            <p:strVal val="#ppt_h"/>
                                          </p:val>
                                        </p:tav>
                                      </p:tavLst>
                                    </p:anim>
                                  </p:childTnLst>
                                </p:cTn>
                              </p:par>
                            </p:childTnLst>
                          </p:cTn>
                        </p:par>
                        <p:par>
                          <p:cTn fill="hold">
                            <p:stCondLst>
                              <p:cond delay="1200"/>
                            </p:stCondLst>
                            <p:childTnLst>
                              <p:par>
                                <p:cTn fill="hold" nodeType="afterEffect" presetClass="entr" presetID="23" presetSubtype="16">
                                  <p:stCondLst>
                                    <p:cond delay="0"/>
                                  </p:stCondLst>
                                  <p:childTnLst>
                                    <p:set>
                                      <p:cBhvr>
                                        <p:cTn dur="1" fill="hold">
                                          <p:stCondLst>
                                            <p:cond delay="0"/>
                                          </p:stCondLst>
                                        </p:cTn>
                                        <p:tgtEl>
                                          <p:spTgt spid="40"/>
                                        </p:tgtEl>
                                        <p:attrNameLst>
                                          <p:attrName>style.visibility</p:attrName>
                                        </p:attrNameLst>
                                      </p:cBhvr>
                                      <p:to>
                                        <p:strVal val="visible"/>
                                      </p:to>
                                    </p:set>
                                    <p:anim calcmode="lin" valueType="num">
                                      <p:cBhvr additive="base">
                                        <p:cTn dur="300"/>
                                        <p:tgtEl>
                                          <p:spTgt spid="40"/>
                                        </p:tgtEl>
                                        <p:attrNameLst>
                                          <p:attrName>ppt_w</p:attrName>
                                        </p:attrNameLst>
                                      </p:cBhvr>
                                      <p:tavLst>
                                        <p:tav fmla="" tm="0">
                                          <p:val>
                                            <p:strVal val="0"/>
                                          </p:val>
                                        </p:tav>
                                        <p:tav fmla="" tm="100000">
                                          <p:val>
                                            <p:strVal val="#ppt_w"/>
                                          </p:val>
                                        </p:tav>
                                      </p:tavLst>
                                    </p:anim>
                                    <p:anim calcmode="lin" valueType="num">
                                      <p:cBhvr additive="base">
                                        <p:cTn dur="300"/>
                                        <p:tgtEl>
                                          <p:spTgt spid="40"/>
                                        </p:tgtEl>
                                        <p:attrNameLst>
                                          <p:attrName>ppt_h</p:attrName>
                                        </p:attrNameLst>
                                      </p:cBhvr>
                                      <p:tavLst>
                                        <p:tav fmla="" tm="0">
                                          <p:val>
                                            <p:strVal val="0"/>
                                          </p:val>
                                        </p:tav>
                                        <p:tav fmla="" tm="100000">
                                          <p:val>
                                            <p:strVal val="#ppt_h"/>
                                          </p:val>
                                        </p:tav>
                                      </p:tavLst>
                                    </p:anim>
                                  </p:childTnLst>
                                </p:cTn>
                              </p:par>
                            </p:childTnLst>
                          </p:cTn>
                        </p:par>
                        <p:par>
                          <p:cTn fill="hold">
                            <p:stCondLst>
                              <p:cond delay="1500"/>
                            </p:stCondLst>
                            <p:childTnLst>
                              <p:par>
                                <p:cTn fill="hold" nodeType="afterEffect" presetClass="entr" presetID="23" presetSubtype="16">
                                  <p:stCondLst>
                                    <p:cond delay="0"/>
                                  </p:stCondLst>
                                  <p:childTnLst>
                                    <p:set>
                                      <p:cBhvr>
                                        <p:cTn dur="1" fill="hold">
                                          <p:stCondLst>
                                            <p:cond delay="0"/>
                                          </p:stCondLst>
                                        </p:cTn>
                                        <p:tgtEl>
                                          <p:spTgt spid="41"/>
                                        </p:tgtEl>
                                        <p:attrNameLst>
                                          <p:attrName>style.visibility</p:attrName>
                                        </p:attrNameLst>
                                      </p:cBhvr>
                                      <p:to>
                                        <p:strVal val="visible"/>
                                      </p:to>
                                    </p:set>
                                    <p:anim calcmode="lin" valueType="num">
                                      <p:cBhvr additive="base">
                                        <p:cTn dur="300"/>
                                        <p:tgtEl>
                                          <p:spTgt spid="41"/>
                                        </p:tgtEl>
                                        <p:attrNameLst>
                                          <p:attrName>ppt_w</p:attrName>
                                        </p:attrNameLst>
                                      </p:cBhvr>
                                      <p:tavLst>
                                        <p:tav fmla="" tm="0">
                                          <p:val>
                                            <p:strVal val="0"/>
                                          </p:val>
                                        </p:tav>
                                        <p:tav fmla="" tm="100000">
                                          <p:val>
                                            <p:strVal val="#ppt_w"/>
                                          </p:val>
                                        </p:tav>
                                      </p:tavLst>
                                    </p:anim>
                                    <p:anim calcmode="lin" valueType="num">
                                      <p:cBhvr additive="base">
                                        <p:cTn dur="300"/>
                                        <p:tgtEl>
                                          <p:spTgt spid="41"/>
                                        </p:tgtEl>
                                        <p:attrNameLst>
                                          <p:attrName>ppt_h</p:attrName>
                                        </p:attrNameLst>
                                      </p:cBhvr>
                                      <p:tavLst>
                                        <p:tav fmla="" tm="0">
                                          <p:val>
                                            <p:strVal val="0"/>
                                          </p:val>
                                        </p:tav>
                                        <p:tav fmla="" tm="100000">
                                          <p:val>
                                            <p:strVal val="#ppt_h"/>
                                          </p:val>
                                        </p:tav>
                                      </p:tavLst>
                                    </p:anim>
                                  </p:childTnLst>
                                </p:cTn>
                              </p:par>
                            </p:childTnLst>
                          </p:cTn>
                        </p:par>
                        <p:par>
                          <p:cTn fill="hold">
                            <p:stCondLst>
                              <p:cond delay="1800"/>
                            </p:stCondLst>
                            <p:childTnLst>
                              <p:par>
                                <p:cTn fill="hold" nodeType="afterEffect" presetClass="entr" presetID="23" presetSubtype="16">
                                  <p:stCondLst>
                                    <p:cond delay="0"/>
                                  </p:stCondLst>
                                  <p:childTnLst>
                                    <p:set>
                                      <p:cBhvr>
                                        <p:cTn dur="1" fill="hold">
                                          <p:stCondLst>
                                            <p:cond delay="0"/>
                                          </p:stCondLst>
                                        </p:cTn>
                                        <p:tgtEl>
                                          <p:spTgt spid="42"/>
                                        </p:tgtEl>
                                        <p:attrNameLst>
                                          <p:attrName>style.visibility</p:attrName>
                                        </p:attrNameLst>
                                      </p:cBhvr>
                                      <p:to>
                                        <p:strVal val="visible"/>
                                      </p:to>
                                    </p:set>
                                    <p:anim calcmode="lin" valueType="num">
                                      <p:cBhvr additive="base">
                                        <p:cTn dur="300"/>
                                        <p:tgtEl>
                                          <p:spTgt spid="42"/>
                                        </p:tgtEl>
                                        <p:attrNameLst>
                                          <p:attrName>ppt_w</p:attrName>
                                        </p:attrNameLst>
                                      </p:cBhvr>
                                      <p:tavLst>
                                        <p:tav fmla="" tm="0">
                                          <p:val>
                                            <p:strVal val="0"/>
                                          </p:val>
                                        </p:tav>
                                        <p:tav fmla="" tm="100000">
                                          <p:val>
                                            <p:strVal val="#ppt_w"/>
                                          </p:val>
                                        </p:tav>
                                      </p:tavLst>
                                    </p:anim>
                                    <p:anim calcmode="lin" valueType="num">
                                      <p:cBhvr additive="base">
                                        <p:cTn dur="300"/>
                                        <p:tgtEl>
                                          <p:spTgt spid="42"/>
                                        </p:tgtEl>
                                        <p:attrNameLst>
                                          <p:attrName>ppt_h</p:attrName>
                                        </p:attrNameLst>
                                      </p:cBhvr>
                                      <p:tavLst>
                                        <p:tav fmla="" tm="0">
                                          <p:val>
                                            <p:strVal val="0"/>
                                          </p:val>
                                        </p:tav>
                                        <p:tav fmla="" tm="100000">
                                          <p:val>
                                            <p:strVal val="#ppt_h"/>
                                          </p:val>
                                        </p:tav>
                                      </p:tavLst>
                                    </p:anim>
                                  </p:childTnLst>
                                </p:cTn>
                              </p:par>
                            </p:childTnLst>
                          </p:cTn>
                        </p:par>
                        <p:par>
                          <p:cTn fill="hold">
                            <p:stCondLst>
                              <p:cond delay="2100"/>
                            </p:stCondLst>
                            <p:childTnLst>
                              <p:par>
                                <p:cTn fill="hold" nodeType="afterEffect" presetClass="entr" presetID="23" presetSubtype="16">
                                  <p:stCondLst>
                                    <p:cond delay="0"/>
                                  </p:stCondLst>
                                  <p:childTnLst>
                                    <p:set>
                                      <p:cBhvr>
                                        <p:cTn dur="1" fill="hold">
                                          <p:stCondLst>
                                            <p:cond delay="0"/>
                                          </p:stCondLst>
                                        </p:cTn>
                                        <p:tgtEl>
                                          <p:spTgt spid="43"/>
                                        </p:tgtEl>
                                        <p:attrNameLst>
                                          <p:attrName>style.visibility</p:attrName>
                                        </p:attrNameLst>
                                      </p:cBhvr>
                                      <p:to>
                                        <p:strVal val="visible"/>
                                      </p:to>
                                    </p:set>
                                    <p:anim calcmode="lin" valueType="num">
                                      <p:cBhvr additive="base">
                                        <p:cTn dur="300"/>
                                        <p:tgtEl>
                                          <p:spTgt spid="43"/>
                                        </p:tgtEl>
                                        <p:attrNameLst>
                                          <p:attrName>ppt_w</p:attrName>
                                        </p:attrNameLst>
                                      </p:cBhvr>
                                      <p:tavLst>
                                        <p:tav fmla="" tm="0">
                                          <p:val>
                                            <p:strVal val="0"/>
                                          </p:val>
                                        </p:tav>
                                        <p:tav fmla="" tm="100000">
                                          <p:val>
                                            <p:strVal val="#ppt_w"/>
                                          </p:val>
                                        </p:tav>
                                      </p:tavLst>
                                    </p:anim>
                                    <p:anim calcmode="lin" valueType="num">
                                      <p:cBhvr additive="base">
                                        <p:cTn dur="300"/>
                                        <p:tgtEl>
                                          <p:spTgt spid="43"/>
                                        </p:tgtEl>
                                        <p:attrNameLst>
                                          <p:attrName>ppt_h</p:attrName>
                                        </p:attrNameLst>
                                      </p:cBhvr>
                                      <p:tavLst>
                                        <p:tav fmla="" tm="0">
                                          <p:val>
                                            <p:strVal val="0"/>
                                          </p:val>
                                        </p:tav>
                                        <p:tav fmla="" tm="100000">
                                          <p:val>
                                            <p:strVal val="#ppt_h"/>
                                          </p:val>
                                        </p:tav>
                                      </p:tavLst>
                                    </p:anim>
                                  </p:childTnLst>
                                </p:cTn>
                              </p:par>
                            </p:childTnLst>
                          </p:cTn>
                        </p:par>
                        <p:par>
                          <p:cTn fill="hold">
                            <p:stCondLst>
                              <p:cond delay="2400"/>
                            </p:stCondLst>
                            <p:childTnLst>
                              <p:par>
                                <p:cTn fill="hold" nodeType="afterEffect" presetClass="entr" presetID="23" presetSubtype="16">
                                  <p:stCondLst>
                                    <p:cond delay="0"/>
                                  </p:stCondLst>
                                  <p:childTnLst>
                                    <p:set>
                                      <p:cBhvr>
                                        <p:cTn dur="1" fill="hold">
                                          <p:stCondLst>
                                            <p:cond delay="0"/>
                                          </p:stCondLst>
                                        </p:cTn>
                                        <p:tgtEl>
                                          <p:spTgt spid="44"/>
                                        </p:tgtEl>
                                        <p:attrNameLst>
                                          <p:attrName>style.visibility</p:attrName>
                                        </p:attrNameLst>
                                      </p:cBhvr>
                                      <p:to>
                                        <p:strVal val="visible"/>
                                      </p:to>
                                    </p:set>
                                    <p:anim calcmode="lin" valueType="num">
                                      <p:cBhvr additive="base">
                                        <p:cTn dur="300"/>
                                        <p:tgtEl>
                                          <p:spTgt spid="44"/>
                                        </p:tgtEl>
                                        <p:attrNameLst>
                                          <p:attrName>ppt_w</p:attrName>
                                        </p:attrNameLst>
                                      </p:cBhvr>
                                      <p:tavLst>
                                        <p:tav fmla="" tm="0">
                                          <p:val>
                                            <p:strVal val="0"/>
                                          </p:val>
                                        </p:tav>
                                        <p:tav fmla="" tm="100000">
                                          <p:val>
                                            <p:strVal val="#ppt_w"/>
                                          </p:val>
                                        </p:tav>
                                      </p:tavLst>
                                    </p:anim>
                                    <p:anim calcmode="lin" valueType="num">
                                      <p:cBhvr additive="base">
                                        <p:cTn dur="300"/>
                                        <p:tgtEl>
                                          <p:spTgt spid="44"/>
                                        </p:tgtEl>
                                        <p:attrNameLst>
                                          <p:attrName>ppt_h</p:attrName>
                                        </p:attrNameLst>
                                      </p:cBhvr>
                                      <p:tavLst>
                                        <p:tav fmla="" tm="0">
                                          <p:val>
                                            <p:strVal val="0"/>
                                          </p:val>
                                        </p:tav>
                                        <p:tav fmla="" tm="100000">
                                          <p:val>
                                            <p:strVal val="#ppt_h"/>
                                          </p:val>
                                        </p:tav>
                                      </p:tavLst>
                                    </p:anim>
                                  </p:childTnLst>
                                </p:cTn>
                              </p:par>
                            </p:childTnLst>
                          </p:cTn>
                        </p:par>
                        <p:par>
                          <p:cTn fill="hold">
                            <p:stCondLst>
                              <p:cond delay="2700"/>
                            </p:stCondLst>
                            <p:childTnLst>
                              <p:par>
                                <p:cTn fill="hold" nodeType="afterEffect" presetClass="entr" presetID="23" presetSubtype="16">
                                  <p:stCondLst>
                                    <p:cond delay="0"/>
                                  </p:stCondLst>
                                  <p:childTnLst>
                                    <p:set>
                                      <p:cBhvr>
                                        <p:cTn dur="1" fill="hold">
                                          <p:stCondLst>
                                            <p:cond delay="0"/>
                                          </p:stCondLst>
                                        </p:cTn>
                                        <p:tgtEl>
                                          <p:spTgt spid="45"/>
                                        </p:tgtEl>
                                        <p:attrNameLst>
                                          <p:attrName>style.visibility</p:attrName>
                                        </p:attrNameLst>
                                      </p:cBhvr>
                                      <p:to>
                                        <p:strVal val="visible"/>
                                      </p:to>
                                    </p:set>
                                    <p:anim calcmode="lin" valueType="num">
                                      <p:cBhvr additive="base">
                                        <p:cTn dur="300"/>
                                        <p:tgtEl>
                                          <p:spTgt spid="45"/>
                                        </p:tgtEl>
                                        <p:attrNameLst>
                                          <p:attrName>ppt_w</p:attrName>
                                        </p:attrNameLst>
                                      </p:cBhvr>
                                      <p:tavLst>
                                        <p:tav fmla="" tm="0">
                                          <p:val>
                                            <p:strVal val="0"/>
                                          </p:val>
                                        </p:tav>
                                        <p:tav fmla="" tm="100000">
                                          <p:val>
                                            <p:strVal val="#ppt_w"/>
                                          </p:val>
                                        </p:tav>
                                      </p:tavLst>
                                    </p:anim>
                                    <p:anim calcmode="lin" valueType="num">
                                      <p:cBhvr additive="base">
                                        <p:cTn dur="300"/>
                                        <p:tgtEl>
                                          <p:spTgt spid="45"/>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0E4FF"/>
        </a:solidFill>
      </p:bgPr>
    </p:bg>
    <p:spTree>
      <p:nvGrpSpPr>
        <p:cNvPr id="56" name="Shape 56"/>
        <p:cNvGrpSpPr/>
        <p:nvPr/>
      </p:nvGrpSpPr>
      <p:grpSpPr>
        <a:xfrm>
          <a:off x="0" y="0"/>
          <a:ext cx="0" cy="0"/>
          <a:chOff x="0" y="0"/>
          <a:chExt cx="0" cy="0"/>
        </a:xfrm>
      </p:grpSpPr>
      <p:sp>
        <p:nvSpPr>
          <p:cNvPr id="57" name="Google Shape;57;p7"/>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8400F"/>
              </a:buClr>
              <a:buSzPts val="1200"/>
              <a:buFont typeface="Tiro Bangla"/>
              <a:buNone/>
            </a:pPr>
            <a:r>
              <a:rPr b="1" i="0" lang="en-US" sz="1200" u="none" cap="none" strike="noStrike">
                <a:solidFill>
                  <a:srgbClr val="A8400F"/>
                </a:solidFill>
                <a:latin typeface="Tiro Bangla"/>
                <a:ea typeface="Tiro Bangla"/>
                <a:cs typeface="Tiro Bangla"/>
                <a:sym typeface="Tiro Bangla"/>
              </a:rPr>
              <a:t>শুরুর কথা</a:t>
            </a:r>
            <a:endParaRPr b="0" i="0" sz="1200" u="none" cap="none" strike="noStrike">
              <a:solidFill>
                <a:schemeClr val="dk1"/>
              </a:solidFill>
              <a:latin typeface="Tiro Bangla"/>
              <a:ea typeface="Tiro Bangla"/>
              <a:cs typeface="Tiro Bangla"/>
              <a:sym typeface="Tiro Bangla"/>
            </a:endParaRPr>
          </a:p>
        </p:txBody>
      </p:sp>
      <p:sp>
        <p:nvSpPr>
          <p:cNvPr id="58" name="Google Shape;58;p7"/>
          <p:cNvSpPr/>
          <p:nvPr/>
        </p:nvSpPr>
        <p:spPr>
          <a:xfrm>
            <a:off x="812800" y="2481528"/>
            <a:ext cx="5591378" cy="2057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A8400F"/>
              </a:buClr>
              <a:buSzPts val="16000"/>
              <a:buFont typeface="Tiro Bangla"/>
              <a:buNone/>
            </a:pPr>
            <a:r>
              <a:rPr b="0" i="0" lang="en-US" sz="16000" u="none" cap="none" strike="noStrike">
                <a:solidFill>
                  <a:srgbClr val="A8400F"/>
                </a:solidFill>
                <a:latin typeface="Tiro Bangla"/>
                <a:ea typeface="Tiro Bangla"/>
                <a:cs typeface="Tiro Bangla"/>
                <a:sym typeface="Tiro Bangla"/>
              </a:rPr>
              <a:t>−৬৪%</a:t>
            </a:r>
            <a:endParaRPr b="0" i="0" sz="16000" u="none" cap="none" strike="noStrike">
              <a:solidFill>
                <a:schemeClr val="dk1"/>
              </a:solidFill>
              <a:latin typeface="Tiro Bangla"/>
              <a:ea typeface="Tiro Bangla"/>
              <a:cs typeface="Tiro Bangla"/>
              <a:sym typeface="Tiro Bangla"/>
            </a:endParaRPr>
          </a:p>
        </p:txBody>
      </p:sp>
      <p:sp>
        <p:nvSpPr>
          <p:cNvPr id="59" name="Google Shape;59;p7"/>
          <p:cNvSpPr/>
          <p:nvPr/>
        </p:nvSpPr>
        <p:spPr>
          <a:xfrm>
            <a:off x="6698523" y="2641535"/>
            <a:ext cx="4821098" cy="38860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384D86"/>
              </a:buClr>
              <a:buSzPts val="2200"/>
              <a:buFont typeface="Tiro Bangla"/>
              <a:buNone/>
            </a:pPr>
            <a:r>
              <a:rPr b="0" i="0" lang="en-US" sz="2200" u="none" cap="none" strike="noStrike">
                <a:solidFill>
                  <a:srgbClr val="384D86"/>
                </a:solidFill>
                <a:latin typeface="Tiro Bangla"/>
                <a:ea typeface="Tiro Bangla"/>
                <a:cs typeface="Tiro Bangla"/>
                <a:sym typeface="Tiro Bangla"/>
              </a:rPr>
              <a:t>মানব পেজভিউ, ২০২৪ থেকে ২০২৬</a:t>
            </a:r>
            <a:endParaRPr b="0" i="0" sz="2200" u="none" cap="none" strike="noStrike">
              <a:solidFill>
                <a:schemeClr val="dk1"/>
              </a:solidFill>
              <a:latin typeface="Tiro Bangla"/>
              <a:ea typeface="Tiro Bangla"/>
              <a:cs typeface="Tiro Bangla"/>
              <a:sym typeface="Tiro Bangla"/>
            </a:endParaRPr>
          </a:p>
        </p:txBody>
      </p:sp>
      <p:sp>
        <p:nvSpPr>
          <p:cNvPr id="60" name="Google Shape;60;p7"/>
          <p:cNvSpPr/>
          <p:nvPr/>
        </p:nvSpPr>
        <p:spPr>
          <a:xfrm>
            <a:off x="6698523" y="3182541"/>
            <a:ext cx="4821098" cy="751814"/>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384D86"/>
              </a:buClr>
              <a:buSzPts val="2200"/>
              <a:buFont typeface="Tiro Bangla"/>
              <a:buNone/>
            </a:pPr>
            <a:r>
              <a:rPr b="0" i="0" lang="en-US" sz="2200" u="none" cap="none" strike="noStrike">
                <a:solidFill>
                  <a:srgbClr val="384D86"/>
                </a:solidFill>
                <a:latin typeface="Tiro Bangla"/>
                <a:ea typeface="Tiro Bangla"/>
                <a:cs typeface="Tiro Bangla"/>
                <a:sym typeface="Tiro Bangla"/>
              </a:rPr>
              <a:t>মাসে গড়ে ২.৪৯ কোটি থেকে নেমে ৯০ লাখে</a:t>
            </a:r>
            <a:endParaRPr b="0" i="0" sz="2200" u="none" cap="none" strike="noStrike">
              <a:solidFill>
                <a:schemeClr val="dk1"/>
              </a:solidFill>
              <a:latin typeface="Tiro Bangla"/>
              <a:ea typeface="Tiro Bangla"/>
              <a:cs typeface="Tiro Bangla"/>
              <a:sym typeface="Tiro Bangla"/>
            </a:endParaRPr>
          </a:p>
        </p:txBody>
      </p:sp>
      <p:sp>
        <p:nvSpPr>
          <p:cNvPr id="61" name="Google Shape;61;p7"/>
          <p:cNvSpPr/>
          <p:nvPr/>
        </p:nvSpPr>
        <p:spPr>
          <a:xfrm>
            <a:off x="6698523" y="4086755"/>
            <a:ext cx="4821098" cy="292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E5878"/>
              </a:buClr>
              <a:buSzPts val="1500"/>
              <a:buFont typeface="Tiro Bangla"/>
              <a:buNone/>
            </a:pPr>
            <a:r>
              <a:rPr b="0" i="0" lang="en-US" sz="1500" u="none" cap="none" strike="noStrike">
                <a:solidFill>
                  <a:srgbClr val="4E5878"/>
                </a:solidFill>
                <a:latin typeface="Tiro Bangla"/>
                <a:ea typeface="Tiro Bangla"/>
                <a:cs typeface="Tiro Bangla"/>
                <a:sym typeface="Tiro Bangla"/>
              </a:rPr>
              <a:t>২০১৯-এর তুলনায়ও −৪৩%</a:t>
            </a:r>
            <a:endParaRPr b="0" i="0" sz="1500" u="none" cap="none" strike="noStrike">
              <a:solidFill>
                <a:schemeClr val="dk1"/>
              </a:solidFill>
              <a:latin typeface="Tiro Bangla"/>
              <a:ea typeface="Tiro Bangla"/>
              <a:cs typeface="Tiro Bangla"/>
              <a:sym typeface="Tiro Bangla"/>
            </a:endParaRPr>
          </a:p>
        </p:txBody>
      </p:sp>
      <p:sp>
        <p:nvSpPr>
          <p:cNvPr id="62" name="Google Shape;62;p7"/>
          <p:cNvSpPr/>
          <p:nvPr/>
        </p:nvSpPr>
        <p:spPr>
          <a:xfrm>
            <a:off x="812800" y="6236957"/>
            <a:ext cx="6820218"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E5878"/>
              </a:buClr>
              <a:buSzPts val="1200"/>
              <a:buFont typeface="Tiro Bangla"/>
              <a:buNone/>
            </a:pPr>
            <a:r>
              <a:rPr b="0" i="0" lang="en-US" sz="1200" u="none" cap="none" strike="noStrike">
                <a:solidFill>
                  <a:srgbClr val="4E5878"/>
                </a:solidFill>
                <a:latin typeface="Tiro Bangla"/>
                <a:ea typeface="Tiro Bangla"/>
                <a:cs typeface="Tiro Bangla"/>
                <a:sym typeface="Tiro Bangla"/>
              </a:rPr>
              <a:t>উৎস: উইকিমিডিয়া পেজভিউ API, agent = user · প্রতি বছরের জানুয়ারি–সেপ্টেম্বর মাসিক গড়</a:t>
            </a:r>
            <a:endParaRPr b="0" i="0" sz="1200" u="none" cap="none" strike="noStrike">
              <a:solidFill>
                <a:schemeClr val="dk1"/>
              </a:solidFill>
              <a:latin typeface="Tiro Bangla"/>
              <a:ea typeface="Tiro Bangla"/>
              <a:cs typeface="Tiro Bangla"/>
              <a:sym typeface="Tiro Bangla"/>
            </a:endParaRPr>
          </a:p>
        </p:txBody>
      </p:sp>
      <p:sp>
        <p:nvSpPr>
          <p:cNvPr id="63" name="Google Shape;63;p7"/>
          <p:cNvSpPr/>
          <p:nvPr/>
        </p:nvSpPr>
        <p:spPr>
          <a:xfrm>
            <a:off x="10972536" y="6236957"/>
            <a:ext cx="457465"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E5878"/>
              </a:buClr>
              <a:buSzPts val="1200"/>
              <a:buFont typeface="Tiro Bangla"/>
              <a:buNone/>
            </a:pPr>
            <a:r>
              <a:rPr b="0" i="0" lang="en-US" sz="1200" u="none" cap="none" strike="noStrike">
                <a:solidFill>
                  <a:srgbClr val="4E5878"/>
                </a:solidFill>
                <a:latin typeface="Tiro Bangla"/>
                <a:ea typeface="Tiro Bangla"/>
                <a:cs typeface="Tiro Bangla"/>
                <a:sym typeface="Tiro Bangla"/>
              </a:rPr>
              <a:t>৩ / ১৯</a:t>
            </a:r>
            <a:endParaRPr b="0" i="0" sz="1200" u="none" cap="none" strike="noStrike">
              <a:solidFill>
                <a:schemeClr val="dk1"/>
              </a:solidFill>
              <a:latin typeface="Tiro Bangla"/>
              <a:ea typeface="Tiro Bangla"/>
              <a:cs typeface="Tiro Bangla"/>
              <a:sym typeface="Tiro Bangla"/>
            </a:endParaRPr>
          </a:p>
        </p:txBody>
      </p:sp>
      <p:pic>
        <p:nvPicPr>
          <p:cNvPr descr="বাংলা উইকিসম্মেলন ২০২৬ লোগো" id="64" name="Google Shape;64;p7"/>
          <p:cNvPicPr preferRelativeResize="0"/>
          <p:nvPr/>
        </p:nvPicPr>
        <p:blipFill rotWithShape="1">
          <a:blip r:embed="rId3">
            <a:alphaModFix/>
          </a:blip>
          <a:srcRect b="0" l="0" r="0" t="0"/>
          <a:stretch/>
        </p:blipFill>
        <p:spPr>
          <a:xfrm>
            <a:off x="10314432" y="365760"/>
            <a:ext cx="1115568" cy="66686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8DA"/>
        </a:solidFill>
      </p:bgPr>
    </p:bg>
    <p:spTree>
      <p:nvGrpSpPr>
        <p:cNvPr id="69" name="Shape 69"/>
        <p:cNvGrpSpPr/>
        <p:nvPr/>
      </p:nvGrpSpPr>
      <p:grpSpPr>
        <a:xfrm>
          <a:off x="0" y="0"/>
          <a:ext cx="0" cy="0"/>
          <a:chOff x="0" y="0"/>
          <a:chExt cx="0" cy="0"/>
        </a:xfrm>
      </p:grpSpPr>
      <p:sp>
        <p:nvSpPr>
          <p:cNvPr id="70" name="Google Shape;70;p8"/>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8501A"/>
              </a:buClr>
              <a:buSzPts val="1200"/>
              <a:buFont typeface="Tiro Bangla"/>
              <a:buNone/>
            </a:pPr>
            <a:r>
              <a:rPr b="1" i="0" lang="en-US" sz="1200" u="none" cap="none" strike="noStrike">
                <a:solidFill>
                  <a:srgbClr val="C8501A"/>
                </a:solidFill>
                <a:latin typeface="Tiro Bangla"/>
                <a:ea typeface="Tiro Bangla"/>
                <a:cs typeface="Tiro Bangla"/>
                <a:sym typeface="Tiro Bangla"/>
              </a:rPr>
              <a:t>পাঠক · ১</a:t>
            </a:r>
            <a:endParaRPr b="0" i="0" sz="1200" u="none" cap="none" strike="noStrike">
              <a:solidFill>
                <a:schemeClr val="dk1"/>
              </a:solidFill>
              <a:latin typeface="Tiro Bangla"/>
              <a:ea typeface="Tiro Bangla"/>
              <a:cs typeface="Tiro Bangla"/>
              <a:sym typeface="Tiro Bangla"/>
            </a:endParaRPr>
          </a:p>
        </p:txBody>
      </p:sp>
      <p:sp>
        <p:nvSpPr>
          <p:cNvPr id="71" name="Google Shape;71;p8"/>
          <p:cNvSpPr/>
          <p:nvPr/>
        </p:nvSpPr>
        <p:spPr>
          <a:xfrm>
            <a:off x="812800" y="1127720"/>
            <a:ext cx="7194550" cy="960041"/>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84D86"/>
              </a:buClr>
              <a:buSzPts val="3200"/>
              <a:buFont typeface="Tiro Bangla"/>
              <a:buNone/>
            </a:pPr>
            <a:r>
              <a:rPr b="0" i="0" lang="en-US" sz="3200" u="none" cap="none" strike="noStrike">
                <a:solidFill>
                  <a:srgbClr val="384D86"/>
                </a:solidFill>
                <a:latin typeface="Tiro Bangla"/>
                <a:ea typeface="Tiro Bangla"/>
                <a:cs typeface="Tiro Bangla"/>
                <a:sym typeface="Tiro Bangla"/>
              </a:rPr>
              <a:t>এআই-এর আগে বাংলা উইকিপিডিয়া বেড়েছে ইন্টারনেটের চেয়েও দ্রুত</a:t>
            </a:r>
            <a:endParaRPr b="0" i="0" sz="3200" u="none" cap="none" strike="noStrike">
              <a:solidFill>
                <a:schemeClr val="dk1"/>
              </a:solidFill>
              <a:latin typeface="Tiro Bangla"/>
              <a:ea typeface="Tiro Bangla"/>
              <a:cs typeface="Tiro Bangla"/>
              <a:sym typeface="Tiro Bangla"/>
            </a:endParaRPr>
          </a:p>
        </p:txBody>
      </p:sp>
      <p:pic>
        <p:nvPicPr>
          <p:cNvPr descr="সূচক রেখাচিত্র, ২০১৬ = ১০০: বাংলা উইকিপিডিয়ার মানুষের পেজভিউ ও বাংলাদেশে ইন্টারনেট ব্যবহারকারী" id="72" name="Google Shape;72;p8"/>
          <p:cNvPicPr preferRelativeResize="0"/>
          <p:nvPr/>
        </p:nvPicPr>
        <p:blipFill rotWithShape="1">
          <a:blip r:embed="rId3">
            <a:alphaModFix/>
          </a:blip>
          <a:srcRect b="-4" l="0" r="0" t="-4"/>
          <a:stretch/>
        </p:blipFill>
        <p:spPr>
          <a:xfrm>
            <a:off x="1498600" y="2540000"/>
            <a:ext cx="6731000" cy="2984500"/>
          </a:xfrm>
          <a:prstGeom prst="rect">
            <a:avLst/>
          </a:prstGeom>
          <a:noFill/>
          <a:ln>
            <a:noFill/>
          </a:ln>
        </p:spPr>
      </p:pic>
      <p:sp>
        <p:nvSpPr>
          <p:cNvPr id="73" name="Google Shape;73;p8"/>
          <p:cNvSpPr/>
          <p:nvPr/>
        </p:nvSpPr>
        <p:spPr>
          <a:xfrm>
            <a:off x="762000" y="5410200"/>
            <a:ext cx="622300" cy="223507"/>
          </a:xfrm>
          <a:prstGeom prst="rect">
            <a:avLst/>
          </a:prstGeom>
          <a:noFill/>
          <a:ln>
            <a:noFill/>
          </a:ln>
        </p:spPr>
        <p:txBody>
          <a:bodyPr anchorCtr="0" anchor="t" bIns="0" lIns="0" spcFirstLastPara="1" rIns="0" wrap="square" tIns="0">
            <a:noAutofit/>
          </a:bodyPr>
          <a:lstStyle/>
          <a:p>
            <a:pPr indent="0" lvl="0" marL="0" marR="0" rtl="0" algn="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০</a:t>
            </a:r>
            <a:endParaRPr b="0" i="0" sz="1200" u="none" cap="none" strike="noStrike">
              <a:solidFill>
                <a:schemeClr val="dk1"/>
              </a:solidFill>
              <a:latin typeface="Tiro Bangla"/>
              <a:ea typeface="Tiro Bangla"/>
              <a:cs typeface="Tiro Bangla"/>
              <a:sym typeface="Tiro Bangla"/>
            </a:endParaRPr>
          </a:p>
        </p:txBody>
      </p:sp>
      <p:sp>
        <p:nvSpPr>
          <p:cNvPr id="74" name="Google Shape;74;p8"/>
          <p:cNvSpPr/>
          <p:nvPr/>
        </p:nvSpPr>
        <p:spPr>
          <a:xfrm>
            <a:off x="762000" y="4813300"/>
            <a:ext cx="622300" cy="223507"/>
          </a:xfrm>
          <a:prstGeom prst="rect">
            <a:avLst/>
          </a:prstGeom>
          <a:noFill/>
          <a:ln>
            <a:noFill/>
          </a:ln>
        </p:spPr>
        <p:txBody>
          <a:bodyPr anchorCtr="0" anchor="t" bIns="0" lIns="0" spcFirstLastPara="1" rIns="0" wrap="square" tIns="0">
            <a:noAutofit/>
          </a:bodyPr>
          <a:lstStyle/>
          <a:p>
            <a:pPr indent="0" lvl="0" marL="0" marR="0" rtl="0" algn="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১০০</a:t>
            </a:r>
            <a:endParaRPr b="0" i="0" sz="1200" u="none" cap="none" strike="noStrike">
              <a:solidFill>
                <a:schemeClr val="dk1"/>
              </a:solidFill>
              <a:latin typeface="Tiro Bangla"/>
              <a:ea typeface="Tiro Bangla"/>
              <a:cs typeface="Tiro Bangla"/>
              <a:sym typeface="Tiro Bangla"/>
            </a:endParaRPr>
          </a:p>
        </p:txBody>
      </p:sp>
      <p:sp>
        <p:nvSpPr>
          <p:cNvPr id="75" name="Google Shape;75;p8"/>
          <p:cNvSpPr/>
          <p:nvPr/>
        </p:nvSpPr>
        <p:spPr>
          <a:xfrm>
            <a:off x="762000" y="4216400"/>
            <a:ext cx="622300" cy="223507"/>
          </a:xfrm>
          <a:prstGeom prst="rect">
            <a:avLst/>
          </a:prstGeom>
          <a:noFill/>
          <a:ln>
            <a:noFill/>
          </a:ln>
        </p:spPr>
        <p:txBody>
          <a:bodyPr anchorCtr="0" anchor="t" bIns="0" lIns="0" spcFirstLastPara="1" rIns="0" wrap="square" tIns="0">
            <a:noAutofit/>
          </a:bodyPr>
          <a:lstStyle/>
          <a:p>
            <a:pPr indent="0" lvl="0" marL="0" marR="0" rtl="0" algn="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২০০</a:t>
            </a:r>
            <a:endParaRPr b="0" i="0" sz="1200" u="none" cap="none" strike="noStrike">
              <a:solidFill>
                <a:schemeClr val="dk1"/>
              </a:solidFill>
              <a:latin typeface="Tiro Bangla"/>
              <a:ea typeface="Tiro Bangla"/>
              <a:cs typeface="Tiro Bangla"/>
              <a:sym typeface="Tiro Bangla"/>
            </a:endParaRPr>
          </a:p>
        </p:txBody>
      </p:sp>
      <p:sp>
        <p:nvSpPr>
          <p:cNvPr id="76" name="Google Shape;76;p8"/>
          <p:cNvSpPr/>
          <p:nvPr/>
        </p:nvSpPr>
        <p:spPr>
          <a:xfrm>
            <a:off x="762000" y="3619500"/>
            <a:ext cx="622300" cy="223507"/>
          </a:xfrm>
          <a:prstGeom prst="rect">
            <a:avLst/>
          </a:prstGeom>
          <a:noFill/>
          <a:ln>
            <a:noFill/>
          </a:ln>
        </p:spPr>
        <p:txBody>
          <a:bodyPr anchorCtr="0" anchor="t" bIns="0" lIns="0" spcFirstLastPara="1" rIns="0" wrap="square" tIns="0">
            <a:noAutofit/>
          </a:bodyPr>
          <a:lstStyle/>
          <a:p>
            <a:pPr indent="0" lvl="0" marL="0" marR="0" rtl="0" algn="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৩০০</a:t>
            </a:r>
            <a:endParaRPr b="0" i="0" sz="1200" u="none" cap="none" strike="noStrike">
              <a:solidFill>
                <a:schemeClr val="dk1"/>
              </a:solidFill>
              <a:latin typeface="Tiro Bangla"/>
              <a:ea typeface="Tiro Bangla"/>
              <a:cs typeface="Tiro Bangla"/>
              <a:sym typeface="Tiro Bangla"/>
            </a:endParaRPr>
          </a:p>
        </p:txBody>
      </p:sp>
      <p:sp>
        <p:nvSpPr>
          <p:cNvPr id="77" name="Google Shape;77;p8"/>
          <p:cNvSpPr/>
          <p:nvPr/>
        </p:nvSpPr>
        <p:spPr>
          <a:xfrm>
            <a:off x="762000" y="3022600"/>
            <a:ext cx="622300" cy="223507"/>
          </a:xfrm>
          <a:prstGeom prst="rect">
            <a:avLst/>
          </a:prstGeom>
          <a:noFill/>
          <a:ln>
            <a:noFill/>
          </a:ln>
        </p:spPr>
        <p:txBody>
          <a:bodyPr anchorCtr="0" anchor="t" bIns="0" lIns="0" spcFirstLastPara="1" rIns="0" wrap="square" tIns="0">
            <a:noAutofit/>
          </a:bodyPr>
          <a:lstStyle/>
          <a:p>
            <a:pPr indent="0" lvl="0" marL="0" marR="0" rtl="0" algn="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৪০০</a:t>
            </a:r>
            <a:endParaRPr b="0" i="0" sz="1200" u="none" cap="none" strike="noStrike">
              <a:solidFill>
                <a:schemeClr val="dk1"/>
              </a:solidFill>
              <a:latin typeface="Tiro Bangla"/>
              <a:ea typeface="Tiro Bangla"/>
              <a:cs typeface="Tiro Bangla"/>
              <a:sym typeface="Tiro Bangla"/>
            </a:endParaRPr>
          </a:p>
        </p:txBody>
      </p:sp>
      <p:sp>
        <p:nvSpPr>
          <p:cNvPr id="78" name="Google Shape;78;p8"/>
          <p:cNvSpPr/>
          <p:nvPr/>
        </p:nvSpPr>
        <p:spPr>
          <a:xfrm>
            <a:off x="762000" y="2425700"/>
            <a:ext cx="622300" cy="223507"/>
          </a:xfrm>
          <a:prstGeom prst="rect">
            <a:avLst/>
          </a:prstGeom>
          <a:noFill/>
          <a:ln>
            <a:noFill/>
          </a:ln>
        </p:spPr>
        <p:txBody>
          <a:bodyPr anchorCtr="0" anchor="t" bIns="0" lIns="0" spcFirstLastPara="1" rIns="0" wrap="square" tIns="0">
            <a:noAutofit/>
          </a:bodyPr>
          <a:lstStyle/>
          <a:p>
            <a:pPr indent="0" lvl="0" marL="0" marR="0" rtl="0" algn="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৫০০</a:t>
            </a:r>
            <a:endParaRPr b="0" i="0" sz="1200" u="none" cap="none" strike="noStrike">
              <a:solidFill>
                <a:schemeClr val="dk1"/>
              </a:solidFill>
              <a:latin typeface="Tiro Bangla"/>
              <a:ea typeface="Tiro Bangla"/>
              <a:cs typeface="Tiro Bangla"/>
              <a:sym typeface="Tiro Bangla"/>
            </a:endParaRPr>
          </a:p>
        </p:txBody>
      </p:sp>
      <p:sp>
        <p:nvSpPr>
          <p:cNvPr id="79" name="Google Shape;79;p8"/>
          <p:cNvSpPr/>
          <p:nvPr/>
        </p:nvSpPr>
        <p:spPr>
          <a:xfrm>
            <a:off x="1346200" y="56007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২০১৬</a:t>
            </a:r>
            <a:endParaRPr b="0" i="0" sz="1200" u="none" cap="none" strike="noStrike">
              <a:solidFill>
                <a:schemeClr val="dk1"/>
              </a:solidFill>
              <a:latin typeface="Tiro Bangla"/>
              <a:ea typeface="Tiro Bangla"/>
              <a:cs typeface="Tiro Bangla"/>
              <a:sym typeface="Tiro Bangla"/>
            </a:endParaRPr>
          </a:p>
        </p:txBody>
      </p:sp>
      <p:sp>
        <p:nvSpPr>
          <p:cNvPr id="80" name="Google Shape;80;p8"/>
          <p:cNvSpPr/>
          <p:nvPr/>
        </p:nvSpPr>
        <p:spPr>
          <a:xfrm>
            <a:off x="2616200" y="56007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২০১৮</a:t>
            </a:r>
            <a:endParaRPr b="0" i="0" sz="1200" u="none" cap="none" strike="noStrike">
              <a:solidFill>
                <a:schemeClr val="dk1"/>
              </a:solidFill>
              <a:latin typeface="Tiro Bangla"/>
              <a:ea typeface="Tiro Bangla"/>
              <a:cs typeface="Tiro Bangla"/>
              <a:sym typeface="Tiro Bangla"/>
            </a:endParaRPr>
          </a:p>
        </p:txBody>
      </p:sp>
      <p:sp>
        <p:nvSpPr>
          <p:cNvPr id="81" name="Google Shape;81;p8"/>
          <p:cNvSpPr/>
          <p:nvPr/>
        </p:nvSpPr>
        <p:spPr>
          <a:xfrm>
            <a:off x="3886200" y="56007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২০২০</a:t>
            </a:r>
            <a:endParaRPr b="0" i="0" sz="1200" u="none" cap="none" strike="noStrike">
              <a:solidFill>
                <a:schemeClr val="dk1"/>
              </a:solidFill>
              <a:latin typeface="Tiro Bangla"/>
              <a:ea typeface="Tiro Bangla"/>
              <a:cs typeface="Tiro Bangla"/>
              <a:sym typeface="Tiro Bangla"/>
            </a:endParaRPr>
          </a:p>
        </p:txBody>
      </p:sp>
      <p:sp>
        <p:nvSpPr>
          <p:cNvPr id="82" name="Google Shape;82;p8"/>
          <p:cNvSpPr/>
          <p:nvPr/>
        </p:nvSpPr>
        <p:spPr>
          <a:xfrm>
            <a:off x="5156200" y="56007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২০২২</a:t>
            </a:r>
            <a:endParaRPr b="0" i="0" sz="1200" u="none" cap="none" strike="noStrike">
              <a:solidFill>
                <a:schemeClr val="dk1"/>
              </a:solidFill>
              <a:latin typeface="Tiro Bangla"/>
              <a:ea typeface="Tiro Bangla"/>
              <a:cs typeface="Tiro Bangla"/>
              <a:sym typeface="Tiro Bangla"/>
            </a:endParaRPr>
          </a:p>
        </p:txBody>
      </p:sp>
      <p:sp>
        <p:nvSpPr>
          <p:cNvPr id="83" name="Google Shape;83;p8"/>
          <p:cNvSpPr/>
          <p:nvPr/>
        </p:nvSpPr>
        <p:spPr>
          <a:xfrm>
            <a:off x="6426200" y="56007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২০২৪</a:t>
            </a:r>
            <a:endParaRPr b="0" i="0" sz="1200" u="none" cap="none" strike="noStrike">
              <a:solidFill>
                <a:schemeClr val="dk1"/>
              </a:solidFill>
              <a:latin typeface="Tiro Bangla"/>
              <a:ea typeface="Tiro Bangla"/>
              <a:cs typeface="Tiro Bangla"/>
              <a:sym typeface="Tiro Bangla"/>
            </a:endParaRPr>
          </a:p>
        </p:txBody>
      </p:sp>
      <p:sp>
        <p:nvSpPr>
          <p:cNvPr id="84" name="Google Shape;84;p8"/>
          <p:cNvSpPr/>
          <p:nvPr/>
        </p:nvSpPr>
        <p:spPr>
          <a:xfrm>
            <a:off x="7696200" y="56007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২০২৬</a:t>
            </a:r>
            <a:endParaRPr b="0" i="0" sz="1200" u="none" cap="none" strike="noStrike">
              <a:solidFill>
                <a:schemeClr val="dk1"/>
              </a:solidFill>
              <a:latin typeface="Tiro Bangla"/>
              <a:ea typeface="Tiro Bangla"/>
              <a:cs typeface="Tiro Bangla"/>
              <a:sym typeface="Tiro Bangla"/>
            </a:endParaRPr>
          </a:p>
        </p:txBody>
      </p:sp>
      <p:sp>
        <p:nvSpPr>
          <p:cNvPr id="85" name="Google Shape;85;p8"/>
          <p:cNvSpPr/>
          <p:nvPr/>
        </p:nvSpPr>
        <p:spPr>
          <a:xfrm>
            <a:off x="5829300" y="2552700"/>
            <a:ext cx="939800" cy="355600"/>
          </a:xfrm>
          <a:prstGeom prst="rect">
            <a:avLst/>
          </a:prstGeom>
          <a:noFill/>
          <a:ln>
            <a:noFill/>
          </a:ln>
        </p:spPr>
        <p:txBody>
          <a:bodyPr anchorCtr="0" anchor="t" bIns="0" lIns="0" spcFirstLastPara="1" rIns="0" wrap="square" tIns="0">
            <a:noAutofit/>
          </a:bodyPr>
          <a:lstStyle/>
          <a:p>
            <a:pPr indent="0" lvl="0" marL="0" marR="0" rtl="0" algn="r">
              <a:lnSpc>
                <a:spcPct val="130000"/>
              </a:lnSpc>
              <a:spcBef>
                <a:spcPts val="0"/>
              </a:spcBef>
              <a:spcAft>
                <a:spcPts val="0"/>
              </a:spcAft>
              <a:buClr>
                <a:srgbClr val="C8501A"/>
              </a:buClr>
              <a:buSzPts val="2000"/>
              <a:buFont typeface="Tiro Bangla"/>
              <a:buNone/>
            </a:pPr>
            <a:r>
              <a:rPr b="0" i="0" lang="en-US" sz="2000" u="none" cap="none" strike="noStrike">
                <a:solidFill>
                  <a:srgbClr val="C8501A"/>
                </a:solidFill>
                <a:latin typeface="Tiro Bangla"/>
                <a:ea typeface="Tiro Bangla"/>
                <a:cs typeface="Tiro Bangla"/>
                <a:sym typeface="Tiro Bangla"/>
              </a:rPr>
              <a:t>৪৩২</a:t>
            </a:r>
            <a:endParaRPr b="0" i="0" sz="2000" u="none" cap="none" strike="noStrike">
              <a:solidFill>
                <a:schemeClr val="dk1"/>
              </a:solidFill>
              <a:latin typeface="Tiro Bangla"/>
              <a:ea typeface="Tiro Bangla"/>
              <a:cs typeface="Tiro Bangla"/>
              <a:sym typeface="Tiro Bangla"/>
            </a:endParaRPr>
          </a:p>
        </p:txBody>
      </p:sp>
      <p:sp>
        <p:nvSpPr>
          <p:cNvPr id="86" name="Google Shape;86;p8"/>
          <p:cNvSpPr/>
          <p:nvPr/>
        </p:nvSpPr>
        <p:spPr>
          <a:xfrm>
            <a:off x="5918200" y="3111500"/>
            <a:ext cx="749300" cy="355600"/>
          </a:xfrm>
          <a:prstGeom prst="rect">
            <a:avLst/>
          </a:prstGeom>
          <a:noFill/>
          <a:ln>
            <a:noFill/>
          </a:ln>
        </p:spPr>
        <p:txBody>
          <a:bodyPr anchorCtr="0" anchor="t" bIns="0" lIns="0" spcFirstLastPara="1" rIns="0" wrap="square" tIns="0">
            <a:noAutofit/>
          </a:bodyPr>
          <a:lstStyle/>
          <a:p>
            <a:pPr indent="0" lvl="0" marL="0" marR="0" rtl="0" algn="r">
              <a:lnSpc>
                <a:spcPct val="130000"/>
              </a:lnSpc>
              <a:spcBef>
                <a:spcPts val="0"/>
              </a:spcBef>
              <a:spcAft>
                <a:spcPts val="0"/>
              </a:spcAft>
              <a:buClr>
                <a:srgbClr val="384D86"/>
              </a:buClr>
              <a:buSzPts val="2000"/>
              <a:buFont typeface="Tiro Bangla"/>
              <a:buNone/>
            </a:pPr>
            <a:r>
              <a:rPr b="0" i="0" lang="en-US" sz="2000" u="none" cap="none" strike="noStrike">
                <a:solidFill>
                  <a:srgbClr val="384D86"/>
                </a:solidFill>
                <a:latin typeface="Tiro Bangla"/>
                <a:ea typeface="Tiro Bangla"/>
                <a:cs typeface="Tiro Bangla"/>
                <a:sym typeface="Tiro Bangla"/>
              </a:rPr>
              <a:t>৩৪১</a:t>
            </a:r>
            <a:endParaRPr b="0" i="0" sz="2000" u="none" cap="none" strike="noStrike">
              <a:solidFill>
                <a:schemeClr val="dk1"/>
              </a:solidFill>
              <a:latin typeface="Tiro Bangla"/>
              <a:ea typeface="Tiro Bangla"/>
              <a:cs typeface="Tiro Bangla"/>
              <a:sym typeface="Tiro Bangla"/>
            </a:endParaRPr>
          </a:p>
        </p:txBody>
      </p:sp>
      <p:sp>
        <p:nvSpPr>
          <p:cNvPr id="87" name="Google Shape;87;p8"/>
          <p:cNvSpPr/>
          <p:nvPr/>
        </p:nvSpPr>
        <p:spPr>
          <a:xfrm>
            <a:off x="8636000" y="2565400"/>
            <a:ext cx="355600" cy="44450"/>
          </a:xfrm>
          <a:prstGeom prst="rect">
            <a:avLst/>
          </a:prstGeom>
          <a:solidFill>
            <a:srgbClr val="C8501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8"/>
          <p:cNvSpPr/>
          <p:nvPr/>
        </p:nvSpPr>
        <p:spPr>
          <a:xfrm>
            <a:off x="8636000" y="2647950"/>
            <a:ext cx="2825496" cy="27305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384D86"/>
              </a:buClr>
              <a:buSzPts val="1500"/>
              <a:buFont typeface="Tiro Bangla"/>
              <a:buNone/>
            </a:pPr>
            <a:r>
              <a:rPr b="1" i="0" lang="en-US" sz="1500" u="none" cap="none" strike="noStrike">
                <a:solidFill>
                  <a:srgbClr val="384D86"/>
                </a:solidFill>
                <a:latin typeface="Tiro Bangla"/>
                <a:ea typeface="Tiro Bangla"/>
                <a:cs typeface="Tiro Bangla"/>
                <a:sym typeface="Tiro Bangla"/>
              </a:rPr>
              <a:t>বাংলা উইকিপিডিয়া</a:t>
            </a:r>
            <a:endParaRPr b="0" i="0" sz="1500" u="none" cap="none" strike="noStrike">
              <a:solidFill>
                <a:schemeClr val="dk1"/>
              </a:solidFill>
              <a:latin typeface="Tiro Bangla"/>
              <a:ea typeface="Tiro Bangla"/>
              <a:cs typeface="Tiro Bangla"/>
              <a:sym typeface="Tiro Bangla"/>
            </a:endParaRPr>
          </a:p>
        </p:txBody>
      </p:sp>
      <p:sp>
        <p:nvSpPr>
          <p:cNvPr id="89" name="Google Shape;89;p8"/>
          <p:cNvSpPr/>
          <p:nvPr/>
        </p:nvSpPr>
        <p:spPr>
          <a:xfrm>
            <a:off x="8636000" y="2933700"/>
            <a:ext cx="2825496" cy="22350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মানুষের পেজভিউ</a:t>
            </a:r>
            <a:endParaRPr b="0" i="0" sz="1200" u="none" cap="none" strike="noStrike">
              <a:solidFill>
                <a:schemeClr val="dk1"/>
              </a:solidFill>
              <a:latin typeface="Tiro Bangla"/>
              <a:ea typeface="Tiro Bangla"/>
              <a:cs typeface="Tiro Bangla"/>
              <a:sym typeface="Tiro Bangla"/>
            </a:endParaRPr>
          </a:p>
        </p:txBody>
      </p:sp>
      <p:sp>
        <p:nvSpPr>
          <p:cNvPr id="90" name="Google Shape;90;p8"/>
          <p:cNvSpPr/>
          <p:nvPr/>
        </p:nvSpPr>
        <p:spPr>
          <a:xfrm>
            <a:off x="8636000" y="3309607"/>
            <a:ext cx="355600" cy="31750"/>
          </a:xfrm>
          <a:prstGeom prst="rect">
            <a:avLst/>
          </a:prstGeom>
          <a:solidFill>
            <a:srgbClr val="384D8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8"/>
          <p:cNvSpPr/>
          <p:nvPr/>
        </p:nvSpPr>
        <p:spPr>
          <a:xfrm>
            <a:off x="8636000" y="3379457"/>
            <a:ext cx="2825496" cy="27305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384D86"/>
              </a:buClr>
              <a:buSzPts val="1500"/>
              <a:buFont typeface="Tiro Bangla"/>
              <a:buNone/>
            </a:pPr>
            <a:r>
              <a:rPr b="1" i="0" lang="en-US" sz="1500" u="none" cap="none" strike="noStrike">
                <a:solidFill>
                  <a:srgbClr val="384D86"/>
                </a:solidFill>
                <a:latin typeface="Tiro Bangla"/>
                <a:ea typeface="Tiro Bangla"/>
                <a:cs typeface="Tiro Bangla"/>
                <a:sym typeface="Tiro Bangla"/>
              </a:rPr>
              <a:t>বাংলাদেশে ইন্টারনেট ব্যবহারকারী</a:t>
            </a:r>
            <a:endParaRPr b="0" i="0" sz="1500" u="none" cap="none" strike="noStrike">
              <a:solidFill>
                <a:schemeClr val="dk1"/>
              </a:solidFill>
              <a:latin typeface="Tiro Bangla"/>
              <a:ea typeface="Tiro Bangla"/>
              <a:cs typeface="Tiro Bangla"/>
              <a:sym typeface="Tiro Bangla"/>
            </a:endParaRPr>
          </a:p>
        </p:txBody>
      </p:sp>
      <p:sp>
        <p:nvSpPr>
          <p:cNvPr id="92" name="Google Shape;92;p8"/>
          <p:cNvSpPr/>
          <p:nvPr/>
        </p:nvSpPr>
        <p:spPr>
          <a:xfrm>
            <a:off x="8636000" y="3665207"/>
            <a:ext cx="2825496" cy="22350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বিশ্বব্যাংক, ২০২৪ পর্যন্ত</a:t>
            </a:r>
            <a:endParaRPr b="0" i="0" sz="1200" u="none" cap="none" strike="noStrike">
              <a:solidFill>
                <a:schemeClr val="dk1"/>
              </a:solidFill>
              <a:latin typeface="Tiro Bangla"/>
              <a:ea typeface="Tiro Bangla"/>
              <a:cs typeface="Tiro Bangla"/>
              <a:sym typeface="Tiro Bangla"/>
            </a:endParaRPr>
          </a:p>
        </p:txBody>
      </p:sp>
      <p:sp>
        <p:nvSpPr>
          <p:cNvPr id="93" name="Google Shape;93;p8"/>
          <p:cNvSpPr/>
          <p:nvPr/>
        </p:nvSpPr>
        <p:spPr>
          <a:xfrm>
            <a:off x="8636000" y="4041115"/>
            <a:ext cx="2743200" cy="1291564"/>
          </a:xfrm>
          <a:prstGeom prst="roundRect">
            <a:avLst>
              <a:gd fmla="val 5900" name="adj"/>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8"/>
          <p:cNvSpPr/>
          <p:nvPr/>
        </p:nvSpPr>
        <p:spPr>
          <a:xfrm>
            <a:off x="8788400" y="4193515"/>
            <a:ext cx="2511552" cy="22350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বিশ্বজুড়ে তুলনা, ২০১৬–২০২৫</a:t>
            </a:r>
            <a:endParaRPr b="0" i="0" sz="1200" u="none" cap="none" strike="noStrike">
              <a:solidFill>
                <a:schemeClr val="dk1"/>
              </a:solidFill>
              <a:latin typeface="Tiro Bangla"/>
              <a:ea typeface="Tiro Bangla"/>
              <a:cs typeface="Tiro Bangla"/>
              <a:sym typeface="Tiro Bangla"/>
            </a:endParaRPr>
          </a:p>
        </p:txBody>
      </p:sp>
      <p:sp>
        <p:nvSpPr>
          <p:cNvPr id="95" name="Google Shape;95;p8"/>
          <p:cNvSpPr/>
          <p:nvPr/>
        </p:nvSpPr>
        <p:spPr>
          <a:xfrm>
            <a:off x="8788400" y="4429720"/>
            <a:ext cx="2511552" cy="53975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384D86"/>
              </a:buClr>
              <a:buSzPts val="1500"/>
              <a:buFont typeface="Tiro Bangla"/>
              <a:buNone/>
            </a:pPr>
            <a:r>
              <a:rPr b="1" i="0" lang="en-US" sz="1200" u="none" cap="none" strike="noStrike">
                <a:solidFill>
                  <a:srgbClr val="384D86"/>
                </a:solidFill>
                <a:latin typeface="Tiro Bangla"/>
                <a:ea typeface="Tiro Bangla"/>
                <a:cs typeface="Tiro Bangla"/>
                <a:sym typeface="Tiro Bangla"/>
              </a:rPr>
              <a:t>ইন্টারনেট +৮৩%</a:t>
            </a:r>
            <a:endParaRPr b="0" i="0" sz="1200" u="none" cap="none" strike="noStrike">
              <a:solidFill>
                <a:schemeClr val="dk1"/>
              </a:solidFill>
              <a:latin typeface="Tiro Bangla"/>
              <a:ea typeface="Tiro Bangla"/>
              <a:cs typeface="Tiro Bangla"/>
              <a:sym typeface="Tiro Bangla"/>
            </a:endParaRPr>
          </a:p>
          <a:p>
            <a:pPr indent="0" lvl="0" marL="0" marR="0" rtl="0" algn="l">
              <a:lnSpc>
                <a:spcPct val="135000"/>
              </a:lnSpc>
              <a:spcBef>
                <a:spcPts val="0"/>
              </a:spcBef>
              <a:spcAft>
                <a:spcPts val="0"/>
              </a:spcAft>
              <a:buClr>
                <a:srgbClr val="384D86"/>
              </a:buClr>
              <a:buSzPts val="1500"/>
              <a:buFont typeface="Tiro Bangla"/>
              <a:buNone/>
            </a:pPr>
            <a:r>
              <a:rPr b="1" i="0" lang="en-US" sz="1200" u="none" cap="none" strike="noStrike">
                <a:solidFill>
                  <a:srgbClr val="384D86"/>
                </a:solidFill>
                <a:latin typeface="Tiro Bangla"/>
                <a:ea typeface="Tiro Bangla"/>
                <a:cs typeface="Tiro Bangla"/>
                <a:sym typeface="Tiro Bangla"/>
              </a:rPr>
              <a:t>উইকিমিডিয়ায় মানুষের পেজভিউ −৯%</a:t>
            </a:r>
            <a:endParaRPr b="0" i="0" sz="1200" u="none" cap="none" strike="noStrike">
              <a:solidFill>
                <a:schemeClr val="dk1"/>
              </a:solidFill>
              <a:latin typeface="Tiro Bangla"/>
              <a:ea typeface="Tiro Bangla"/>
              <a:cs typeface="Tiro Bangla"/>
              <a:sym typeface="Tiro Bangla"/>
            </a:endParaRPr>
          </a:p>
        </p:txBody>
      </p:sp>
      <p:sp>
        <p:nvSpPr>
          <p:cNvPr id="96" name="Google Shape;96;p8"/>
          <p:cNvSpPr/>
          <p:nvPr/>
        </p:nvSpPr>
        <p:spPr>
          <a:xfrm>
            <a:off x="8788400" y="4982170"/>
            <a:ext cx="2511552" cy="22350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ক্রিস্টফ হেনার, জানুয়ারি ২০২৬</a:t>
            </a:r>
            <a:endParaRPr b="0" i="0" sz="1200" u="none" cap="none" strike="noStrike">
              <a:solidFill>
                <a:schemeClr val="dk1"/>
              </a:solidFill>
              <a:latin typeface="Tiro Bangla"/>
              <a:ea typeface="Tiro Bangla"/>
              <a:cs typeface="Tiro Bangla"/>
              <a:sym typeface="Tiro Bangla"/>
            </a:endParaRPr>
          </a:p>
        </p:txBody>
      </p:sp>
      <p:sp>
        <p:nvSpPr>
          <p:cNvPr id="97" name="Google Shape;97;p8"/>
          <p:cNvSpPr/>
          <p:nvPr/>
        </p:nvSpPr>
        <p:spPr>
          <a:xfrm>
            <a:off x="812800" y="6236959"/>
            <a:ext cx="710184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সূচক: ২০১৬ = ১০০ · জানুয়ারি–সেপ্টেম্বর মাসিক গড় · উৎস: উইকিমিডিয়া পেজভিউ API, বিশ্বব্যাংক</a:t>
            </a:r>
            <a:endParaRPr b="0" i="0" sz="1200" u="none" cap="none" strike="noStrike">
              <a:solidFill>
                <a:schemeClr val="dk1"/>
              </a:solidFill>
              <a:latin typeface="Tiro Bangla"/>
              <a:ea typeface="Tiro Bangla"/>
              <a:cs typeface="Tiro Bangla"/>
              <a:sym typeface="Tiro Bangla"/>
            </a:endParaRPr>
          </a:p>
        </p:txBody>
      </p:sp>
      <p:sp>
        <p:nvSpPr>
          <p:cNvPr id="98" name="Google Shape;98;p8"/>
          <p:cNvSpPr/>
          <p:nvPr/>
        </p:nvSpPr>
        <p:spPr>
          <a:xfrm>
            <a:off x="10972536" y="6236959"/>
            <a:ext cx="457465"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৪ / ১৯</a:t>
            </a:r>
            <a:endParaRPr b="0" i="0" sz="1200" u="none" cap="none" strike="noStrike">
              <a:solidFill>
                <a:schemeClr val="dk1"/>
              </a:solidFill>
              <a:latin typeface="Tiro Bangla"/>
              <a:ea typeface="Tiro Bangla"/>
              <a:cs typeface="Tiro Bangla"/>
              <a:sym typeface="Tiro Bangla"/>
            </a:endParaRPr>
          </a:p>
        </p:txBody>
      </p:sp>
      <p:pic>
        <p:nvPicPr>
          <p:cNvPr descr="বাংলা উইকিসম্মেলন ২০২৬ লোগো" id="99" name="Google Shape;99;p8"/>
          <p:cNvPicPr preferRelativeResize="0"/>
          <p:nvPr/>
        </p:nvPicPr>
        <p:blipFill rotWithShape="1">
          <a:blip r:embed="rId4">
            <a:alphaModFix/>
          </a:blip>
          <a:srcRect b="0" l="0" r="0" t="0"/>
          <a:stretch/>
        </p:blipFill>
        <p:spPr>
          <a:xfrm>
            <a:off x="10314432" y="365760"/>
            <a:ext cx="1115568" cy="66686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8DA"/>
        </a:solidFill>
      </p:bgPr>
    </p:bg>
    <p:spTree>
      <p:nvGrpSpPr>
        <p:cNvPr id="104" name="Shape 104"/>
        <p:cNvGrpSpPr/>
        <p:nvPr/>
      </p:nvGrpSpPr>
      <p:grpSpPr>
        <a:xfrm>
          <a:off x="0" y="0"/>
          <a:ext cx="0" cy="0"/>
          <a:chOff x="0" y="0"/>
          <a:chExt cx="0" cy="0"/>
        </a:xfrm>
      </p:grpSpPr>
      <p:sp>
        <p:nvSpPr>
          <p:cNvPr id="105" name="Google Shape;105;p9"/>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8501A"/>
              </a:buClr>
              <a:buSzPts val="1200"/>
              <a:buFont typeface="Tiro Bangla"/>
              <a:buNone/>
            </a:pPr>
            <a:r>
              <a:rPr b="1" i="0" lang="en-US" sz="1200" u="none" cap="none" strike="noStrike">
                <a:solidFill>
                  <a:srgbClr val="C8501A"/>
                </a:solidFill>
                <a:latin typeface="Tiro Bangla"/>
                <a:ea typeface="Tiro Bangla"/>
                <a:cs typeface="Tiro Bangla"/>
                <a:sym typeface="Tiro Bangla"/>
              </a:rPr>
              <a:t>পাঠক · ১</a:t>
            </a:r>
            <a:endParaRPr b="0" i="0" sz="1200" u="none" cap="none" strike="noStrike">
              <a:solidFill>
                <a:schemeClr val="dk1"/>
              </a:solidFill>
              <a:latin typeface="Tiro Bangla"/>
              <a:ea typeface="Tiro Bangla"/>
              <a:cs typeface="Tiro Bangla"/>
              <a:sym typeface="Tiro Bangla"/>
            </a:endParaRPr>
          </a:p>
        </p:txBody>
      </p:sp>
      <p:sp>
        <p:nvSpPr>
          <p:cNvPr id="106" name="Google Shape;106;p9"/>
          <p:cNvSpPr/>
          <p:nvPr/>
        </p:nvSpPr>
        <p:spPr>
          <a:xfrm>
            <a:off x="812800" y="1127720"/>
            <a:ext cx="7194550" cy="960041"/>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84D86"/>
              </a:buClr>
              <a:buSzPts val="3200"/>
              <a:buFont typeface="Tiro Bangla"/>
              <a:buNone/>
            </a:pPr>
            <a:r>
              <a:rPr b="0" i="0" lang="en-US" sz="3200" u="none" cap="none" strike="noStrike">
                <a:solidFill>
                  <a:srgbClr val="384D86"/>
                </a:solidFill>
                <a:latin typeface="Tiro Bangla"/>
                <a:ea typeface="Tiro Bangla"/>
                <a:cs typeface="Tiro Bangla"/>
                <a:sym typeface="Tiro Bangla"/>
              </a:rPr>
              <a:t>এআই-এর আগে বাংলা উইকিপিডিয়া বেড়েছে ইন্টারনেটের চেয়েও দ্রুত</a:t>
            </a:r>
            <a:endParaRPr b="0" i="0" sz="3200" u="none" cap="none" strike="noStrike">
              <a:solidFill>
                <a:schemeClr val="dk1"/>
              </a:solidFill>
              <a:latin typeface="Tiro Bangla"/>
              <a:ea typeface="Tiro Bangla"/>
              <a:cs typeface="Tiro Bangla"/>
              <a:sym typeface="Tiro Bangla"/>
            </a:endParaRPr>
          </a:p>
        </p:txBody>
      </p:sp>
      <p:pic>
        <p:nvPicPr>
          <p:cNvPr descr="সূচক রেখাচিত্র, ২০১৬ = ১০০: বাংলা উইকিপিডিয়ার মানুষের পেজভিউ ও বাংলাদেশে ইন্টারনেট ব্যবহারকারী" id="107" name="Google Shape;107;p9"/>
          <p:cNvPicPr preferRelativeResize="0"/>
          <p:nvPr/>
        </p:nvPicPr>
        <p:blipFill rotWithShape="1">
          <a:blip r:embed="rId3">
            <a:alphaModFix/>
          </a:blip>
          <a:srcRect b="-4" l="0" r="0" t="-4"/>
          <a:stretch/>
        </p:blipFill>
        <p:spPr>
          <a:xfrm>
            <a:off x="1498600" y="2540000"/>
            <a:ext cx="6731000" cy="2984500"/>
          </a:xfrm>
          <a:prstGeom prst="rect">
            <a:avLst/>
          </a:prstGeom>
          <a:noFill/>
          <a:ln>
            <a:noFill/>
          </a:ln>
        </p:spPr>
      </p:pic>
      <p:pic>
        <p:nvPicPr>
          <p:cNvPr descr="২০২৫ ও ২০২৬-এ বাংলা উইকিপিডিয়ার সূচক নেমে এসেছে" id="108" name="Google Shape;108;p9"/>
          <p:cNvPicPr preferRelativeResize="0"/>
          <p:nvPr/>
        </p:nvPicPr>
        <p:blipFill rotWithShape="1">
          <a:blip r:embed="rId4">
            <a:alphaModFix/>
          </a:blip>
          <a:srcRect b="-4" l="0" r="0" t="-4"/>
          <a:stretch/>
        </p:blipFill>
        <p:spPr>
          <a:xfrm>
            <a:off x="1498600" y="2540000"/>
            <a:ext cx="6731000" cy="2984500"/>
          </a:xfrm>
          <a:prstGeom prst="rect">
            <a:avLst/>
          </a:prstGeom>
          <a:noFill/>
          <a:ln>
            <a:noFill/>
          </a:ln>
        </p:spPr>
      </p:pic>
      <p:sp>
        <p:nvSpPr>
          <p:cNvPr id="109" name="Google Shape;109;p9"/>
          <p:cNvSpPr/>
          <p:nvPr/>
        </p:nvSpPr>
        <p:spPr>
          <a:xfrm>
            <a:off x="762000" y="5410200"/>
            <a:ext cx="622300" cy="223507"/>
          </a:xfrm>
          <a:prstGeom prst="rect">
            <a:avLst/>
          </a:prstGeom>
          <a:noFill/>
          <a:ln>
            <a:noFill/>
          </a:ln>
        </p:spPr>
        <p:txBody>
          <a:bodyPr anchorCtr="0" anchor="t" bIns="0" lIns="0" spcFirstLastPara="1" rIns="0" wrap="square" tIns="0">
            <a:noAutofit/>
          </a:bodyPr>
          <a:lstStyle/>
          <a:p>
            <a:pPr indent="0" lvl="0" marL="0" marR="0" rtl="0" algn="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০</a:t>
            </a:r>
            <a:endParaRPr b="0" i="0" sz="1200" u="none" cap="none" strike="noStrike">
              <a:solidFill>
                <a:schemeClr val="dk1"/>
              </a:solidFill>
              <a:latin typeface="Tiro Bangla"/>
              <a:ea typeface="Tiro Bangla"/>
              <a:cs typeface="Tiro Bangla"/>
              <a:sym typeface="Tiro Bangla"/>
            </a:endParaRPr>
          </a:p>
        </p:txBody>
      </p:sp>
      <p:sp>
        <p:nvSpPr>
          <p:cNvPr id="110" name="Google Shape;110;p9"/>
          <p:cNvSpPr/>
          <p:nvPr/>
        </p:nvSpPr>
        <p:spPr>
          <a:xfrm>
            <a:off x="762000" y="4813300"/>
            <a:ext cx="622300" cy="223507"/>
          </a:xfrm>
          <a:prstGeom prst="rect">
            <a:avLst/>
          </a:prstGeom>
          <a:noFill/>
          <a:ln>
            <a:noFill/>
          </a:ln>
        </p:spPr>
        <p:txBody>
          <a:bodyPr anchorCtr="0" anchor="t" bIns="0" lIns="0" spcFirstLastPara="1" rIns="0" wrap="square" tIns="0">
            <a:noAutofit/>
          </a:bodyPr>
          <a:lstStyle/>
          <a:p>
            <a:pPr indent="0" lvl="0" marL="0" marR="0" rtl="0" algn="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১০০</a:t>
            </a:r>
            <a:endParaRPr b="0" i="0" sz="1200" u="none" cap="none" strike="noStrike">
              <a:solidFill>
                <a:schemeClr val="dk1"/>
              </a:solidFill>
              <a:latin typeface="Tiro Bangla"/>
              <a:ea typeface="Tiro Bangla"/>
              <a:cs typeface="Tiro Bangla"/>
              <a:sym typeface="Tiro Bangla"/>
            </a:endParaRPr>
          </a:p>
        </p:txBody>
      </p:sp>
      <p:sp>
        <p:nvSpPr>
          <p:cNvPr id="111" name="Google Shape;111;p9"/>
          <p:cNvSpPr/>
          <p:nvPr/>
        </p:nvSpPr>
        <p:spPr>
          <a:xfrm>
            <a:off x="762000" y="4216400"/>
            <a:ext cx="622300" cy="223507"/>
          </a:xfrm>
          <a:prstGeom prst="rect">
            <a:avLst/>
          </a:prstGeom>
          <a:noFill/>
          <a:ln>
            <a:noFill/>
          </a:ln>
        </p:spPr>
        <p:txBody>
          <a:bodyPr anchorCtr="0" anchor="t" bIns="0" lIns="0" spcFirstLastPara="1" rIns="0" wrap="square" tIns="0">
            <a:noAutofit/>
          </a:bodyPr>
          <a:lstStyle/>
          <a:p>
            <a:pPr indent="0" lvl="0" marL="0" marR="0" rtl="0" algn="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২০০</a:t>
            </a:r>
            <a:endParaRPr b="0" i="0" sz="1200" u="none" cap="none" strike="noStrike">
              <a:solidFill>
                <a:schemeClr val="dk1"/>
              </a:solidFill>
              <a:latin typeface="Tiro Bangla"/>
              <a:ea typeface="Tiro Bangla"/>
              <a:cs typeface="Tiro Bangla"/>
              <a:sym typeface="Tiro Bangla"/>
            </a:endParaRPr>
          </a:p>
        </p:txBody>
      </p:sp>
      <p:sp>
        <p:nvSpPr>
          <p:cNvPr id="112" name="Google Shape;112;p9"/>
          <p:cNvSpPr/>
          <p:nvPr/>
        </p:nvSpPr>
        <p:spPr>
          <a:xfrm>
            <a:off x="762000" y="3619500"/>
            <a:ext cx="622300" cy="223507"/>
          </a:xfrm>
          <a:prstGeom prst="rect">
            <a:avLst/>
          </a:prstGeom>
          <a:noFill/>
          <a:ln>
            <a:noFill/>
          </a:ln>
        </p:spPr>
        <p:txBody>
          <a:bodyPr anchorCtr="0" anchor="t" bIns="0" lIns="0" spcFirstLastPara="1" rIns="0" wrap="square" tIns="0">
            <a:noAutofit/>
          </a:bodyPr>
          <a:lstStyle/>
          <a:p>
            <a:pPr indent="0" lvl="0" marL="0" marR="0" rtl="0" algn="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৩০০</a:t>
            </a:r>
            <a:endParaRPr b="0" i="0" sz="1200" u="none" cap="none" strike="noStrike">
              <a:solidFill>
                <a:schemeClr val="dk1"/>
              </a:solidFill>
              <a:latin typeface="Tiro Bangla"/>
              <a:ea typeface="Tiro Bangla"/>
              <a:cs typeface="Tiro Bangla"/>
              <a:sym typeface="Tiro Bangla"/>
            </a:endParaRPr>
          </a:p>
        </p:txBody>
      </p:sp>
      <p:sp>
        <p:nvSpPr>
          <p:cNvPr id="113" name="Google Shape;113;p9"/>
          <p:cNvSpPr/>
          <p:nvPr/>
        </p:nvSpPr>
        <p:spPr>
          <a:xfrm>
            <a:off x="762000" y="3022600"/>
            <a:ext cx="622300" cy="223507"/>
          </a:xfrm>
          <a:prstGeom prst="rect">
            <a:avLst/>
          </a:prstGeom>
          <a:noFill/>
          <a:ln>
            <a:noFill/>
          </a:ln>
        </p:spPr>
        <p:txBody>
          <a:bodyPr anchorCtr="0" anchor="t" bIns="0" lIns="0" spcFirstLastPara="1" rIns="0" wrap="square" tIns="0">
            <a:noAutofit/>
          </a:bodyPr>
          <a:lstStyle/>
          <a:p>
            <a:pPr indent="0" lvl="0" marL="0" marR="0" rtl="0" algn="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৪০০</a:t>
            </a:r>
            <a:endParaRPr b="0" i="0" sz="1200" u="none" cap="none" strike="noStrike">
              <a:solidFill>
                <a:schemeClr val="dk1"/>
              </a:solidFill>
              <a:latin typeface="Tiro Bangla"/>
              <a:ea typeface="Tiro Bangla"/>
              <a:cs typeface="Tiro Bangla"/>
              <a:sym typeface="Tiro Bangla"/>
            </a:endParaRPr>
          </a:p>
        </p:txBody>
      </p:sp>
      <p:sp>
        <p:nvSpPr>
          <p:cNvPr id="114" name="Google Shape;114;p9"/>
          <p:cNvSpPr/>
          <p:nvPr/>
        </p:nvSpPr>
        <p:spPr>
          <a:xfrm>
            <a:off x="762000" y="2425700"/>
            <a:ext cx="622300" cy="223507"/>
          </a:xfrm>
          <a:prstGeom prst="rect">
            <a:avLst/>
          </a:prstGeom>
          <a:noFill/>
          <a:ln>
            <a:noFill/>
          </a:ln>
        </p:spPr>
        <p:txBody>
          <a:bodyPr anchorCtr="0" anchor="t" bIns="0" lIns="0" spcFirstLastPara="1" rIns="0" wrap="square" tIns="0">
            <a:noAutofit/>
          </a:bodyPr>
          <a:lstStyle/>
          <a:p>
            <a:pPr indent="0" lvl="0" marL="0" marR="0" rtl="0" algn="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৫০০</a:t>
            </a:r>
            <a:endParaRPr b="0" i="0" sz="1200" u="none" cap="none" strike="noStrike">
              <a:solidFill>
                <a:schemeClr val="dk1"/>
              </a:solidFill>
              <a:latin typeface="Tiro Bangla"/>
              <a:ea typeface="Tiro Bangla"/>
              <a:cs typeface="Tiro Bangla"/>
              <a:sym typeface="Tiro Bangla"/>
            </a:endParaRPr>
          </a:p>
        </p:txBody>
      </p:sp>
      <p:sp>
        <p:nvSpPr>
          <p:cNvPr id="115" name="Google Shape;115;p9"/>
          <p:cNvSpPr/>
          <p:nvPr/>
        </p:nvSpPr>
        <p:spPr>
          <a:xfrm>
            <a:off x="1346200" y="56007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২০১৬</a:t>
            </a:r>
            <a:endParaRPr b="0" i="0" sz="1200" u="none" cap="none" strike="noStrike">
              <a:solidFill>
                <a:schemeClr val="dk1"/>
              </a:solidFill>
              <a:latin typeface="Tiro Bangla"/>
              <a:ea typeface="Tiro Bangla"/>
              <a:cs typeface="Tiro Bangla"/>
              <a:sym typeface="Tiro Bangla"/>
            </a:endParaRPr>
          </a:p>
        </p:txBody>
      </p:sp>
      <p:sp>
        <p:nvSpPr>
          <p:cNvPr id="116" name="Google Shape;116;p9"/>
          <p:cNvSpPr/>
          <p:nvPr/>
        </p:nvSpPr>
        <p:spPr>
          <a:xfrm>
            <a:off x="2616200" y="56007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২০১৮</a:t>
            </a:r>
            <a:endParaRPr b="0" i="0" sz="1200" u="none" cap="none" strike="noStrike">
              <a:solidFill>
                <a:schemeClr val="dk1"/>
              </a:solidFill>
              <a:latin typeface="Tiro Bangla"/>
              <a:ea typeface="Tiro Bangla"/>
              <a:cs typeface="Tiro Bangla"/>
              <a:sym typeface="Tiro Bangla"/>
            </a:endParaRPr>
          </a:p>
        </p:txBody>
      </p:sp>
      <p:sp>
        <p:nvSpPr>
          <p:cNvPr id="117" name="Google Shape;117;p9"/>
          <p:cNvSpPr/>
          <p:nvPr/>
        </p:nvSpPr>
        <p:spPr>
          <a:xfrm>
            <a:off x="3886200" y="56007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২০২০</a:t>
            </a:r>
            <a:endParaRPr b="0" i="0" sz="1200" u="none" cap="none" strike="noStrike">
              <a:solidFill>
                <a:schemeClr val="dk1"/>
              </a:solidFill>
              <a:latin typeface="Tiro Bangla"/>
              <a:ea typeface="Tiro Bangla"/>
              <a:cs typeface="Tiro Bangla"/>
              <a:sym typeface="Tiro Bangla"/>
            </a:endParaRPr>
          </a:p>
        </p:txBody>
      </p:sp>
      <p:sp>
        <p:nvSpPr>
          <p:cNvPr id="118" name="Google Shape;118;p9"/>
          <p:cNvSpPr/>
          <p:nvPr/>
        </p:nvSpPr>
        <p:spPr>
          <a:xfrm>
            <a:off x="5156200" y="56007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২০২২</a:t>
            </a:r>
            <a:endParaRPr b="0" i="0" sz="1200" u="none" cap="none" strike="noStrike">
              <a:solidFill>
                <a:schemeClr val="dk1"/>
              </a:solidFill>
              <a:latin typeface="Tiro Bangla"/>
              <a:ea typeface="Tiro Bangla"/>
              <a:cs typeface="Tiro Bangla"/>
              <a:sym typeface="Tiro Bangla"/>
            </a:endParaRPr>
          </a:p>
        </p:txBody>
      </p:sp>
      <p:sp>
        <p:nvSpPr>
          <p:cNvPr id="119" name="Google Shape;119;p9"/>
          <p:cNvSpPr/>
          <p:nvPr/>
        </p:nvSpPr>
        <p:spPr>
          <a:xfrm>
            <a:off x="6426200" y="56007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২০২৪</a:t>
            </a:r>
            <a:endParaRPr b="0" i="0" sz="1200" u="none" cap="none" strike="noStrike">
              <a:solidFill>
                <a:schemeClr val="dk1"/>
              </a:solidFill>
              <a:latin typeface="Tiro Bangla"/>
              <a:ea typeface="Tiro Bangla"/>
              <a:cs typeface="Tiro Bangla"/>
              <a:sym typeface="Tiro Bangla"/>
            </a:endParaRPr>
          </a:p>
        </p:txBody>
      </p:sp>
      <p:sp>
        <p:nvSpPr>
          <p:cNvPr id="120" name="Google Shape;120;p9"/>
          <p:cNvSpPr/>
          <p:nvPr/>
        </p:nvSpPr>
        <p:spPr>
          <a:xfrm>
            <a:off x="7696200" y="56007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২০২৬</a:t>
            </a:r>
            <a:endParaRPr b="0" i="0" sz="1200" u="none" cap="none" strike="noStrike">
              <a:solidFill>
                <a:schemeClr val="dk1"/>
              </a:solidFill>
              <a:latin typeface="Tiro Bangla"/>
              <a:ea typeface="Tiro Bangla"/>
              <a:cs typeface="Tiro Bangla"/>
              <a:sym typeface="Tiro Bangla"/>
            </a:endParaRPr>
          </a:p>
        </p:txBody>
      </p:sp>
      <p:sp>
        <p:nvSpPr>
          <p:cNvPr id="121" name="Google Shape;121;p9"/>
          <p:cNvSpPr/>
          <p:nvPr/>
        </p:nvSpPr>
        <p:spPr>
          <a:xfrm>
            <a:off x="5829300" y="2552700"/>
            <a:ext cx="939800" cy="355600"/>
          </a:xfrm>
          <a:prstGeom prst="rect">
            <a:avLst/>
          </a:prstGeom>
          <a:noFill/>
          <a:ln>
            <a:noFill/>
          </a:ln>
        </p:spPr>
        <p:txBody>
          <a:bodyPr anchorCtr="0" anchor="t" bIns="0" lIns="0" spcFirstLastPara="1" rIns="0" wrap="square" tIns="0">
            <a:noAutofit/>
          </a:bodyPr>
          <a:lstStyle/>
          <a:p>
            <a:pPr indent="0" lvl="0" marL="0" marR="0" rtl="0" algn="r">
              <a:lnSpc>
                <a:spcPct val="130000"/>
              </a:lnSpc>
              <a:spcBef>
                <a:spcPts val="0"/>
              </a:spcBef>
              <a:spcAft>
                <a:spcPts val="0"/>
              </a:spcAft>
              <a:buClr>
                <a:srgbClr val="C8501A"/>
              </a:buClr>
              <a:buSzPts val="2000"/>
              <a:buFont typeface="Tiro Bangla"/>
              <a:buNone/>
            </a:pPr>
            <a:r>
              <a:rPr b="0" i="0" lang="en-US" sz="2000" u="none" cap="none" strike="noStrike">
                <a:solidFill>
                  <a:srgbClr val="C8501A"/>
                </a:solidFill>
                <a:latin typeface="Tiro Bangla"/>
                <a:ea typeface="Tiro Bangla"/>
                <a:cs typeface="Tiro Bangla"/>
                <a:sym typeface="Tiro Bangla"/>
              </a:rPr>
              <a:t>৪৩২</a:t>
            </a:r>
            <a:endParaRPr b="0" i="0" sz="2000" u="none" cap="none" strike="noStrike">
              <a:solidFill>
                <a:schemeClr val="dk1"/>
              </a:solidFill>
              <a:latin typeface="Tiro Bangla"/>
              <a:ea typeface="Tiro Bangla"/>
              <a:cs typeface="Tiro Bangla"/>
              <a:sym typeface="Tiro Bangla"/>
            </a:endParaRPr>
          </a:p>
        </p:txBody>
      </p:sp>
      <p:sp>
        <p:nvSpPr>
          <p:cNvPr id="122" name="Google Shape;122;p9"/>
          <p:cNvSpPr/>
          <p:nvPr/>
        </p:nvSpPr>
        <p:spPr>
          <a:xfrm>
            <a:off x="5918200" y="3111500"/>
            <a:ext cx="749300" cy="355600"/>
          </a:xfrm>
          <a:prstGeom prst="rect">
            <a:avLst/>
          </a:prstGeom>
          <a:noFill/>
          <a:ln>
            <a:noFill/>
          </a:ln>
        </p:spPr>
        <p:txBody>
          <a:bodyPr anchorCtr="0" anchor="t" bIns="0" lIns="0" spcFirstLastPara="1" rIns="0" wrap="square" tIns="0">
            <a:noAutofit/>
          </a:bodyPr>
          <a:lstStyle/>
          <a:p>
            <a:pPr indent="0" lvl="0" marL="0" marR="0" rtl="0" algn="r">
              <a:lnSpc>
                <a:spcPct val="130000"/>
              </a:lnSpc>
              <a:spcBef>
                <a:spcPts val="0"/>
              </a:spcBef>
              <a:spcAft>
                <a:spcPts val="0"/>
              </a:spcAft>
              <a:buClr>
                <a:srgbClr val="384D86"/>
              </a:buClr>
              <a:buSzPts val="2000"/>
              <a:buFont typeface="Tiro Bangla"/>
              <a:buNone/>
            </a:pPr>
            <a:r>
              <a:rPr b="0" i="0" lang="en-US" sz="2000" u="none" cap="none" strike="noStrike">
                <a:solidFill>
                  <a:srgbClr val="384D86"/>
                </a:solidFill>
                <a:latin typeface="Tiro Bangla"/>
                <a:ea typeface="Tiro Bangla"/>
                <a:cs typeface="Tiro Bangla"/>
                <a:sym typeface="Tiro Bangla"/>
              </a:rPr>
              <a:t>৩৪১</a:t>
            </a:r>
            <a:endParaRPr b="0" i="0" sz="2000" u="none" cap="none" strike="noStrike">
              <a:solidFill>
                <a:schemeClr val="dk1"/>
              </a:solidFill>
              <a:latin typeface="Tiro Bangla"/>
              <a:ea typeface="Tiro Bangla"/>
              <a:cs typeface="Tiro Bangla"/>
              <a:sym typeface="Tiro Bangla"/>
            </a:endParaRPr>
          </a:p>
        </p:txBody>
      </p:sp>
      <p:sp>
        <p:nvSpPr>
          <p:cNvPr id="123" name="Google Shape;123;p9"/>
          <p:cNvSpPr/>
          <p:nvPr/>
        </p:nvSpPr>
        <p:spPr>
          <a:xfrm>
            <a:off x="6934200" y="4445000"/>
            <a:ext cx="939800" cy="355600"/>
          </a:xfrm>
          <a:prstGeom prst="rect">
            <a:avLst/>
          </a:prstGeom>
          <a:noFill/>
          <a:ln>
            <a:noFill/>
          </a:ln>
        </p:spPr>
        <p:txBody>
          <a:bodyPr anchorCtr="0" anchor="t" bIns="0" lIns="0" spcFirstLastPara="1" rIns="0" wrap="square" tIns="0">
            <a:noAutofit/>
          </a:bodyPr>
          <a:lstStyle/>
          <a:p>
            <a:pPr indent="0" lvl="0" marL="0" marR="0" rtl="0" algn="r">
              <a:lnSpc>
                <a:spcPct val="130000"/>
              </a:lnSpc>
              <a:spcBef>
                <a:spcPts val="0"/>
              </a:spcBef>
              <a:spcAft>
                <a:spcPts val="0"/>
              </a:spcAft>
              <a:buClr>
                <a:srgbClr val="C8501A"/>
              </a:buClr>
              <a:buSzPts val="2000"/>
              <a:buFont typeface="Tiro Bangla"/>
              <a:buNone/>
            </a:pPr>
            <a:r>
              <a:rPr b="0" i="0" lang="en-US" sz="2000" u="none" cap="none" strike="noStrike">
                <a:solidFill>
                  <a:srgbClr val="C8501A"/>
                </a:solidFill>
                <a:latin typeface="Tiro Bangla"/>
                <a:ea typeface="Tiro Bangla"/>
                <a:cs typeface="Tiro Bangla"/>
                <a:sym typeface="Tiro Bangla"/>
              </a:rPr>
              <a:t>১৫৭</a:t>
            </a:r>
            <a:endParaRPr b="0" i="0" sz="2000" u="none" cap="none" strike="noStrike">
              <a:solidFill>
                <a:schemeClr val="dk1"/>
              </a:solidFill>
              <a:latin typeface="Tiro Bangla"/>
              <a:ea typeface="Tiro Bangla"/>
              <a:cs typeface="Tiro Bangla"/>
              <a:sym typeface="Tiro Bangla"/>
            </a:endParaRPr>
          </a:p>
        </p:txBody>
      </p:sp>
      <p:sp>
        <p:nvSpPr>
          <p:cNvPr id="124" name="Google Shape;124;p9"/>
          <p:cNvSpPr/>
          <p:nvPr/>
        </p:nvSpPr>
        <p:spPr>
          <a:xfrm>
            <a:off x="8636000" y="2565400"/>
            <a:ext cx="355600" cy="44450"/>
          </a:xfrm>
          <a:prstGeom prst="rect">
            <a:avLst/>
          </a:prstGeom>
          <a:solidFill>
            <a:srgbClr val="C8501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9"/>
          <p:cNvSpPr/>
          <p:nvPr/>
        </p:nvSpPr>
        <p:spPr>
          <a:xfrm>
            <a:off x="8636000" y="2647950"/>
            <a:ext cx="2825496" cy="27305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384D86"/>
              </a:buClr>
              <a:buSzPts val="1500"/>
              <a:buFont typeface="Tiro Bangla"/>
              <a:buNone/>
            </a:pPr>
            <a:r>
              <a:rPr b="1" i="0" lang="en-US" sz="1500" u="none" cap="none" strike="noStrike">
                <a:solidFill>
                  <a:srgbClr val="384D86"/>
                </a:solidFill>
                <a:latin typeface="Tiro Bangla"/>
                <a:ea typeface="Tiro Bangla"/>
                <a:cs typeface="Tiro Bangla"/>
                <a:sym typeface="Tiro Bangla"/>
              </a:rPr>
              <a:t>বাংলা উইকিপিডিয়া</a:t>
            </a:r>
            <a:endParaRPr b="0" i="0" sz="1500" u="none" cap="none" strike="noStrike">
              <a:solidFill>
                <a:schemeClr val="dk1"/>
              </a:solidFill>
              <a:latin typeface="Tiro Bangla"/>
              <a:ea typeface="Tiro Bangla"/>
              <a:cs typeface="Tiro Bangla"/>
              <a:sym typeface="Tiro Bangla"/>
            </a:endParaRPr>
          </a:p>
        </p:txBody>
      </p:sp>
      <p:sp>
        <p:nvSpPr>
          <p:cNvPr id="126" name="Google Shape;126;p9"/>
          <p:cNvSpPr/>
          <p:nvPr/>
        </p:nvSpPr>
        <p:spPr>
          <a:xfrm>
            <a:off x="8636000" y="2933700"/>
            <a:ext cx="2825496" cy="22350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মানুষের পেজভিউ</a:t>
            </a:r>
            <a:endParaRPr b="0" i="0" sz="1200" u="none" cap="none" strike="noStrike">
              <a:solidFill>
                <a:schemeClr val="dk1"/>
              </a:solidFill>
              <a:latin typeface="Tiro Bangla"/>
              <a:ea typeface="Tiro Bangla"/>
              <a:cs typeface="Tiro Bangla"/>
              <a:sym typeface="Tiro Bangla"/>
            </a:endParaRPr>
          </a:p>
        </p:txBody>
      </p:sp>
      <p:sp>
        <p:nvSpPr>
          <p:cNvPr id="127" name="Google Shape;127;p9"/>
          <p:cNvSpPr/>
          <p:nvPr/>
        </p:nvSpPr>
        <p:spPr>
          <a:xfrm>
            <a:off x="8636000" y="3309609"/>
            <a:ext cx="355600" cy="31750"/>
          </a:xfrm>
          <a:prstGeom prst="rect">
            <a:avLst/>
          </a:prstGeom>
          <a:solidFill>
            <a:srgbClr val="384D8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9"/>
          <p:cNvSpPr/>
          <p:nvPr/>
        </p:nvSpPr>
        <p:spPr>
          <a:xfrm>
            <a:off x="8636000" y="3379459"/>
            <a:ext cx="2825496" cy="27305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384D86"/>
              </a:buClr>
              <a:buSzPts val="1500"/>
              <a:buFont typeface="Tiro Bangla"/>
              <a:buNone/>
            </a:pPr>
            <a:r>
              <a:rPr b="1" i="0" lang="en-US" sz="1500" u="none" cap="none" strike="noStrike">
                <a:solidFill>
                  <a:srgbClr val="384D86"/>
                </a:solidFill>
                <a:latin typeface="Tiro Bangla"/>
                <a:ea typeface="Tiro Bangla"/>
                <a:cs typeface="Tiro Bangla"/>
                <a:sym typeface="Tiro Bangla"/>
              </a:rPr>
              <a:t>বাংলাদেশে ইন্টারনেট ব্যবহারকারী</a:t>
            </a:r>
            <a:endParaRPr b="0" i="0" sz="1500" u="none" cap="none" strike="noStrike">
              <a:solidFill>
                <a:schemeClr val="dk1"/>
              </a:solidFill>
              <a:latin typeface="Tiro Bangla"/>
              <a:ea typeface="Tiro Bangla"/>
              <a:cs typeface="Tiro Bangla"/>
              <a:sym typeface="Tiro Bangla"/>
            </a:endParaRPr>
          </a:p>
        </p:txBody>
      </p:sp>
      <p:sp>
        <p:nvSpPr>
          <p:cNvPr id="129" name="Google Shape;129;p9"/>
          <p:cNvSpPr/>
          <p:nvPr/>
        </p:nvSpPr>
        <p:spPr>
          <a:xfrm>
            <a:off x="8636000" y="3665209"/>
            <a:ext cx="2825496" cy="22350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বিশ্বব্যাংক, ২০২৪ পর্যন্ত</a:t>
            </a:r>
            <a:endParaRPr b="0" i="0" sz="1200" u="none" cap="none" strike="noStrike">
              <a:solidFill>
                <a:schemeClr val="dk1"/>
              </a:solidFill>
              <a:latin typeface="Tiro Bangla"/>
              <a:ea typeface="Tiro Bangla"/>
              <a:cs typeface="Tiro Bangla"/>
              <a:sym typeface="Tiro Bangla"/>
            </a:endParaRPr>
          </a:p>
        </p:txBody>
      </p:sp>
      <p:sp>
        <p:nvSpPr>
          <p:cNvPr id="130" name="Google Shape;130;p9"/>
          <p:cNvSpPr/>
          <p:nvPr/>
        </p:nvSpPr>
        <p:spPr>
          <a:xfrm>
            <a:off x="8636000" y="4041115"/>
            <a:ext cx="2743200" cy="1291564"/>
          </a:xfrm>
          <a:prstGeom prst="roundRect">
            <a:avLst>
              <a:gd fmla="val 5900" name="adj"/>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9"/>
          <p:cNvSpPr/>
          <p:nvPr/>
        </p:nvSpPr>
        <p:spPr>
          <a:xfrm>
            <a:off x="8788400" y="4193515"/>
            <a:ext cx="2511552" cy="22350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বিশ্বজুড়ে তুলনা, ২০১৬–২০২৫</a:t>
            </a:r>
            <a:endParaRPr b="0" i="0" sz="1200" u="none" cap="none" strike="noStrike">
              <a:solidFill>
                <a:schemeClr val="dk1"/>
              </a:solidFill>
              <a:latin typeface="Tiro Bangla"/>
              <a:ea typeface="Tiro Bangla"/>
              <a:cs typeface="Tiro Bangla"/>
              <a:sym typeface="Tiro Bangla"/>
            </a:endParaRPr>
          </a:p>
        </p:txBody>
      </p:sp>
      <p:sp>
        <p:nvSpPr>
          <p:cNvPr id="132" name="Google Shape;132;p9"/>
          <p:cNvSpPr/>
          <p:nvPr/>
        </p:nvSpPr>
        <p:spPr>
          <a:xfrm>
            <a:off x="8788400" y="4429720"/>
            <a:ext cx="2511552" cy="53975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384D86"/>
              </a:buClr>
              <a:buSzPts val="1500"/>
              <a:buFont typeface="Tiro Bangla"/>
              <a:buNone/>
            </a:pPr>
            <a:r>
              <a:rPr b="1" i="0" lang="en-US" sz="1200" u="none" cap="none" strike="noStrike">
                <a:solidFill>
                  <a:srgbClr val="384D86"/>
                </a:solidFill>
                <a:latin typeface="Tiro Bangla"/>
                <a:ea typeface="Tiro Bangla"/>
                <a:cs typeface="Tiro Bangla"/>
                <a:sym typeface="Tiro Bangla"/>
              </a:rPr>
              <a:t>ইন্টারনেট +৮৩%</a:t>
            </a:r>
            <a:endParaRPr b="0" i="0" sz="1200" u="none" cap="none" strike="noStrike">
              <a:solidFill>
                <a:schemeClr val="dk1"/>
              </a:solidFill>
              <a:latin typeface="Tiro Bangla"/>
              <a:ea typeface="Tiro Bangla"/>
              <a:cs typeface="Tiro Bangla"/>
              <a:sym typeface="Tiro Bangla"/>
            </a:endParaRPr>
          </a:p>
          <a:p>
            <a:pPr indent="0" lvl="0" marL="0" marR="0" rtl="0" algn="l">
              <a:lnSpc>
                <a:spcPct val="135000"/>
              </a:lnSpc>
              <a:spcBef>
                <a:spcPts val="0"/>
              </a:spcBef>
              <a:spcAft>
                <a:spcPts val="0"/>
              </a:spcAft>
              <a:buClr>
                <a:srgbClr val="384D86"/>
              </a:buClr>
              <a:buSzPts val="1500"/>
              <a:buFont typeface="Tiro Bangla"/>
              <a:buNone/>
            </a:pPr>
            <a:r>
              <a:rPr b="1" i="0" lang="en-US" sz="1200" u="none" cap="none" strike="noStrike">
                <a:solidFill>
                  <a:srgbClr val="384D86"/>
                </a:solidFill>
                <a:latin typeface="Tiro Bangla"/>
                <a:ea typeface="Tiro Bangla"/>
                <a:cs typeface="Tiro Bangla"/>
                <a:sym typeface="Tiro Bangla"/>
              </a:rPr>
              <a:t>উইকিমিডিয়ায় মানুষের পেজভিউ −৯%</a:t>
            </a:r>
            <a:endParaRPr b="0" i="0" sz="1200" u="none" cap="none" strike="noStrike">
              <a:solidFill>
                <a:schemeClr val="dk1"/>
              </a:solidFill>
              <a:latin typeface="Tiro Bangla"/>
              <a:ea typeface="Tiro Bangla"/>
              <a:cs typeface="Tiro Bangla"/>
              <a:sym typeface="Tiro Bangla"/>
            </a:endParaRPr>
          </a:p>
        </p:txBody>
      </p:sp>
      <p:sp>
        <p:nvSpPr>
          <p:cNvPr id="133" name="Google Shape;133;p9"/>
          <p:cNvSpPr/>
          <p:nvPr/>
        </p:nvSpPr>
        <p:spPr>
          <a:xfrm>
            <a:off x="8788400" y="4982170"/>
            <a:ext cx="2511552" cy="22350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ক্রিস্টফ হেনার, জানুয়ারি ২০২৬</a:t>
            </a:r>
            <a:endParaRPr b="0" i="0" sz="1200" u="none" cap="none" strike="noStrike">
              <a:solidFill>
                <a:schemeClr val="dk1"/>
              </a:solidFill>
              <a:latin typeface="Tiro Bangla"/>
              <a:ea typeface="Tiro Bangla"/>
              <a:cs typeface="Tiro Bangla"/>
              <a:sym typeface="Tiro Bangla"/>
            </a:endParaRPr>
          </a:p>
        </p:txBody>
      </p:sp>
      <p:sp>
        <p:nvSpPr>
          <p:cNvPr id="134" name="Google Shape;134;p9"/>
          <p:cNvSpPr/>
          <p:nvPr/>
        </p:nvSpPr>
        <p:spPr>
          <a:xfrm>
            <a:off x="812800" y="6236959"/>
            <a:ext cx="710184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সূচক: ২০১৬ = ১০০ · জানুয়ারি–সেপ্টেম্বর মাসিক গড় · উৎস: উইকিমিডিয়া পেজভিউ API, বিশ্বব্যাংক</a:t>
            </a:r>
            <a:endParaRPr b="0" i="0" sz="1200" u="none" cap="none" strike="noStrike">
              <a:solidFill>
                <a:schemeClr val="dk1"/>
              </a:solidFill>
              <a:latin typeface="Tiro Bangla"/>
              <a:ea typeface="Tiro Bangla"/>
              <a:cs typeface="Tiro Bangla"/>
              <a:sym typeface="Tiro Bangla"/>
            </a:endParaRPr>
          </a:p>
        </p:txBody>
      </p:sp>
      <p:sp>
        <p:nvSpPr>
          <p:cNvPr id="135" name="Google Shape;135;p9"/>
          <p:cNvSpPr/>
          <p:nvPr/>
        </p:nvSpPr>
        <p:spPr>
          <a:xfrm>
            <a:off x="10972536" y="6236959"/>
            <a:ext cx="457465"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৪ / ১৯</a:t>
            </a:r>
            <a:endParaRPr b="0" i="0" sz="1200" u="none" cap="none" strike="noStrike">
              <a:solidFill>
                <a:schemeClr val="dk1"/>
              </a:solidFill>
              <a:latin typeface="Tiro Bangla"/>
              <a:ea typeface="Tiro Bangla"/>
              <a:cs typeface="Tiro Bangla"/>
              <a:sym typeface="Tiro Bangla"/>
            </a:endParaRPr>
          </a:p>
        </p:txBody>
      </p:sp>
      <p:pic>
        <p:nvPicPr>
          <p:cNvPr descr="বাংলা উইকিসম্মেলন ২০২৬ লোগো" id="136" name="Google Shape;136;p9"/>
          <p:cNvPicPr preferRelativeResize="0"/>
          <p:nvPr/>
        </p:nvPicPr>
        <p:blipFill rotWithShape="1">
          <a:blip r:embed="rId5">
            <a:alphaModFix/>
          </a:blip>
          <a:srcRect b="0" l="0" r="0" t="0"/>
          <a:stretch/>
        </p:blipFill>
        <p:spPr>
          <a:xfrm>
            <a:off x="10314432" y="365760"/>
            <a:ext cx="1115568" cy="66686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8DA"/>
        </a:solidFill>
      </p:bgPr>
    </p:bg>
    <p:spTree>
      <p:nvGrpSpPr>
        <p:cNvPr id="141" name="Shape 141"/>
        <p:cNvGrpSpPr/>
        <p:nvPr/>
      </p:nvGrpSpPr>
      <p:grpSpPr>
        <a:xfrm>
          <a:off x="0" y="0"/>
          <a:ext cx="0" cy="0"/>
          <a:chOff x="0" y="0"/>
          <a:chExt cx="0" cy="0"/>
        </a:xfrm>
      </p:grpSpPr>
      <p:sp>
        <p:nvSpPr>
          <p:cNvPr id="142" name="Google Shape;142;p10"/>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8501A"/>
              </a:buClr>
              <a:buSzPts val="1200"/>
              <a:buFont typeface="Tiro Bangla"/>
              <a:buNone/>
            </a:pPr>
            <a:r>
              <a:rPr b="1" i="0" lang="en-US" sz="1200" u="none" cap="none" strike="noStrike">
                <a:solidFill>
                  <a:srgbClr val="C8501A"/>
                </a:solidFill>
                <a:latin typeface="Tiro Bangla"/>
                <a:ea typeface="Tiro Bangla"/>
                <a:cs typeface="Tiro Bangla"/>
                <a:sym typeface="Tiro Bangla"/>
              </a:rPr>
              <a:t>পাঠক · ২</a:t>
            </a:r>
            <a:endParaRPr b="0" i="0" sz="1200" u="none" cap="none" strike="noStrike">
              <a:solidFill>
                <a:schemeClr val="dk1"/>
              </a:solidFill>
              <a:latin typeface="Tiro Bangla"/>
              <a:ea typeface="Tiro Bangla"/>
              <a:cs typeface="Tiro Bangla"/>
              <a:sym typeface="Tiro Bangla"/>
            </a:endParaRPr>
          </a:p>
        </p:txBody>
      </p:sp>
      <p:sp>
        <p:nvSpPr>
          <p:cNvPr id="143" name="Google Shape;143;p10"/>
          <p:cNvSpPr/>
          <p:nvPr/>
        </p:nvSpPr>
        <p:spPr>
          <a:xfrm>
            <a:off x="812800" y="1127720"/>
            <a:ext cx="9810750" cy="960041"/>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84D86"/>
              </a:buClr>
              <a:buSzPts val="3200"/>
              <a:buFont typeface="Tiro Bangla"/>
              <a:buNone/>
            </a:pPr>
            <a:r>
              <a:rPr b="0" i="0" lang="en-US" sz="3200" u="none" cap="none" strike="noStrike">
                <a:solidFill>
                  <a:srgbClr val="384D86"/>
                </a:solidFill>
                <a:latin typeface="Tiro Bangla"/>
                <a:ea typeface="Tiro Bangla"/>
                <a:cs typeface="Tiro Bangla"/>
                <a:sym typeface="Tiro Bangla"/>
              </a:rPr>
              <a:t>২০২৬-এর বেশিরভাগ মাসে মানুষের চেয়ে ছদ্মবেশী বটই উইকিপিডিয়ায় বেশি এসেছে</a:t>
            </a:r>
            <a:endParaRPr b="0" i="0" sz="3200" u="none" cap="none" strike="noStrike">
              <a:solidFill>
                <a:schemeClr val="dk1"/>
              </a:solidFill>
              <a:latin typeface="Tiro Bangla"/>
              <a:ea typeface="Tiro Bangla"/>
              <a:cs typeface="Tiro Bangla"/>
              <a:sym typeface="Tiro Bangla"/>
            </a:endParaRPr>
          </a:p>
        </p:txBody>
      </p:sp>
      <p:pic>
        <p:nvPicPr>
          <p:cNvPr descr="বাংলা উইকিপিডিয়ার মাসিক মানুষের পেজভিউ, ২০২২–২০২৬" id="144" name="Google Shape;144;p10"/>
          <p:cNvPicPr preferRelativeResize="0"/>
          <p:nvPr/>
        </p:nvPicPr>
        <p:blipFill rotWithShape="1">
          <a:blip r:embed="rId3">
            <a:alphaModFix/>
          </a:blip>
          <a:srcRect b="0" l="0" r="0" t="0"/>
          <a:stretch/>
        </p:blipFill>
        <p:spPr>
          <a:xfrm>
            <a:off x="1498600" y="2540000"/>
            <a:ext cx="6477000" cy="2984500"/>
          </a:xfrm>
          <a:prstGeom prst="rect">
            <a:avLst/>
          </a:prstGeom>
          <a:noFill/>
          <a:ln>
            <a:noFill/>
          </a:ln>
        </p:spPr>
      </p:pic>
      <p:sp>
        <p:nvSpPr>
          <p:cNvPr id="145" name="Google Shape;145;p10"/>
          <p:cNvSpPr/>
          <p:nvPr/>
        </p:nvSpPr>
        <p:spPr>
          <a:xfrm>
            <a:off x="711200" y="5410200"/>
            <a:ext cx="723900" cy="223507"/>
          </a:xfrm>
          <a:prstGeom prst="rect">
            <a:avLst/>
          </a:prstGeom>
          <a:noFill/>
          <a:ln>
            <a:noFill/>
          </a:ln>
        </p:spPr>
        <p:txBody>
          <a:bodyPr anchorCtr="0" anchor="t" bIns="0" lIns="0" spcFirstLastPara="1" rIns="0" wrap="square" tIns="0">
            <a:noAutofit/>
          </a:bodyPr>
          <a:lstStyle/>
          <a:p>
            <a:pPr indent="0" lvl="0" marL="0" marR="0" rtl="0" algn="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০</a:t>
            </a:r>
            <a:endParaRPr b="0" i="0" sz="1200" u="none" cap="none" strike="noStrike">
              <a:solidFill>
                <a:schemeClr val="dk1"/>
              </a:solidFill>
              <a:latin typeface="Tiro Bangla"/>
              <a:ea typeface="Tiro Bangla"/>
              <a:cs typeface="Tiro Bangla"/>
              <a:sym typeface="Tiro Bangla"/>
            </a:endParaRPr>
          </a:p>
        </p:txBody>
      </p:sp>
      <p:sp>
        <p:nvSpPr>
          <p:cNvPr id="146" name="Google Shape;146;p10"/>
          <p:cNvSpPr/>
          <p:nvPr/>
        </p:nvSpPr>
        <p:spPr>
          <a:xfrm>
            <a:off x="711200" y="4559300"/>
            <a:ext cx="723900" cy="223507"/>
          </a:xfrm>
          <a:prstGeom prst="rect">
            <a:avLst/>
          </a:prstGeom>
          <a:noFill/>
          <a:ln>
            <a:noFill/>
          </a:ln>
        </p:spPr>
        <p:txBody>
          <a:bodyPr anchorCtr="0" anchor="t" bIns="0" lIns="0" spcFirstLastPara="1" rIns="0" wrap="square" tIns="0">
            <a:noAutofit/>
          </a:bodyPr>
          <a:lstStyle/>
          <a:p>
            <a:pPr indent="0" lvl="0" marL="0" marR="0" rtl="0" algn="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১ কোটি</a:t>
            </a:r>
            <a:endParaRPr b="0" i="0" sz="1200" u="none" cap="none" strike="noStrike">
              <a:solidFill>
                <a:schemeClr val="dk1"/>
              </a:solidFill>
              <a:latin typeface="Tiro Bangla"/>
              <a:ea typeface="Tiro Bangla"/>
              <a:cs typeface="Tiro Bangla"/>
              <a:sym typeface="Tiro Bangla"/>
            </a:endParaRPr>
          </a:p>
        </p:txBody>
      </p:sp>
      <p:sp>
        <p:nvSpPr>
          <p:cNvPr id="147" name="Google Shape;147;p10"/>
          <p:cNvSpPr/>
          <p:nvPr/>
        </p:nvSpPr>
        <p:spPr>
          <a:xfrm>
            <a:off x="711200" y="3702050"/>
            <a:ext cx="723900" cy="223507"/>
          </a:xfrm>
          <a:prstGeom prst="rect">
            <a:avLst/>
          </a:prstGeom>
          <a:noFill/>
          <a:ln>
            <a:noFill/>
          </a:ln>
        </p:spPr>
        <p:txBody>
          <a:bodyPr anchorCtr="0" anchor="t" bIns="0" lIns="0" spcFirstLastPara="1" rIns="0" wrap="square" tIns="0">
            <a:noAutofit/>
          </a:bodyPr>
          <a:lstStyle/>
          <a:p>
            <a:pPr indent="0" lvl="0" marL="0" marR="0" rtl="0" algn="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 কোটি</a:t>
            </a:r>
            <a:endParaRPr b="0" i="0" sz="1200" u="none" cap="none" strike="noStrike">
              <a:solidFill>
                <a:schemeClr val="dk1"/>
              </a:solidFill>
              <a:latin typeface="Tiro Bangla"/>
              <a:ea typeface="Tiro Bangla"/>
              <a:cs typeface="Tiro Bangla"/>
              <a:sym typeface="Tiro Bangla"/>
            </a:endParaRPr>
          </a:p>
        </p:txBody>
      </p:sp>
      <p:sp>
        <p:nvSpPr>
          <p:cNvPr id="148" name="Google Shape;148;p10"/>
          <p:cNvSpPr/>
          <p:nvPr/>
        </p:nvSpPr>
        <p:spPr>
          <a:xfrm>
            <a:off x="711200" y="2851150"/>
            <a:ext cx="723900" cy="223507"/>
          </a:xfrm>
          <a:prstGeom prst="rect">
            <a:avLst/>
          </a:prstGeom>
          <a:noFill/>
          <a:ln>
            <a:noFill/>
          </a:ln>
        </p:spPr>
        <p:txBody>
          <a:bodyPr anchorCtr="0" anchor="t" bIns="0" lIns="0" spcFirstLastPara="1" rIns="0" wrap="square" tIns="0">
            <a:noAutofit/>
          </a:bodyPr>
          <a:lstStyle/>
          <a:p>
            <a:pPr indent="0" lvl="0" marL="0" marR="0" rtl="0" algn="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৩ কোটি</a:t>
            </a:r>
            <a:endParaRPr b="0" i="0" sz="1200" u="none" cap="none" strike="noStrike">
              <a:solidFill>
                <a:schemeClr val="dk1"/>
              </a:solidFill>
              <a:latin typeface="Tiro Bangla"/>
              <a:ea typeface="Tiro Bangla"/>
              <a:cs typeface="Tiro Bangla"/>
              <a:sym typeface="Tiro Bangla"/>
            </a:endParaRPr>
          </a:p>
        </p:txBody>
      </p:sp>
      <p:sp>
        <p:nvSpPr>
          <p:cNvPr id="149" name="Google Shape;149;p10"/>
          <p:cNvSpPr/>
          <p:nvPr/>
        </p:nvSpPr>
        <p:spPr>
          <a:xfrm>
            <a:off x="1155700" y="56007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২০২২</a:t>
            </a:r>
            <a:endParaRPr b="0" i="0" sz="1200" u="none" cap="none" strike="noStrike">
              <a:solidFill>
                <a:schemeClr val="dk1"/>
              </a:solidFill>
              <a:latin typeface="Tiro Bangla"/>
              <a:ea typeface="Tiro Bangla"/>
              <a:cs typeface="Tiro Bangla"/>
              <a:sym typeface="Tiro Bangla"/>
            </a:endParaRPr>
          </a:p>
        </p:txBody>
      </p:sp>
      <p:sp>
        <p:nvSpPr>
          <p:cNvPr id="150" name="Google Shape;150;p10"/>
          <p:cNvSpPr/>
          <p:nvPr/>
        </p:nvSpPr>
        <p:spPr>
          <a:xfrm>
            <a:off x="2546350" y="56007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২০২৩</a:t>
            </a:r>
            <a:endParaRPr b="0" i="0" sz="1200" u="none" cap="none" strike="noStrike">
              <a:solidFill>
                <a:schemeClr val="dk1"/>
              </a:solidFill>
              <a:latin typeface="Tiro Bangla"/>
              <a:ea typeface="Tiro Bangla"/>
              <a:cs typeface="Tiro Bangla"/>
              <a:sym typeface="Tiro Bangla"/>
            </a:endParaRPr>
          </a:p>
        </p:txBody>
      </p:sp>
      <p:sp>
        <p:nvSpPr>
          <p:cNvPr id="151" name="Google Shape;151;p10"/>
          <p:cNvSpPr/>
          <p:nvPr/>
        </p:nvSpPr>
        <p:spPr>
          <a:xfrm>
            <a:off x="3930650" y="56007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২০২৪</a:t>
            </a:r>
            <a:endParaRPr b="0" i="0" sz="1200" u="none" cap="none" strike="noStrike">
              <a:solidFill>
                <a:schemeClr val="dk1"/>
              </a:solidFill>
              <a:latin typeface="Tiro Bangla"/>
              <a:ea typeface="Tiro Bangla"/>
              <a:cs typeface="Tiro Bangla"/>
              <a:sym typeface="Tiro Bangla"/>
            </a:endParaRPr>
          </a:p>
        </p:txBody>
      </p:sp>
      <p:sp>
        <p:nvSpPr>
          <p:cNvPr id="152" name="Google Shape;152;p10"/>
          <p:cNvSpPr/>
          <p:nvPr/>
        </p:nvSpPr>
        <p:spPr>
          <a:xfrm>
            <a:off x="5321300" y="56007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২০২৫</a:t>
            </a:r>
            <a:endParaRPr b="0" i="0" sz="1200" u="none" cap="none" strike="noStrike">
              <a:solidFill>
                <a:schemeClr val="dk1"/>
              </a:solidFill>
              <a:latin typeface="Tiro Bangla"/>
              <a:ea typeface="Tiro Bangla"/>
              <a:cs typeface="Tiro Bangla"/>
              <a:sym typeface="Tiro Bangla"/>
            </a:endParaRPr>
          </a:p>
        </p:txBody>
      </p:sp>
      <p:sp>
        <p:nvSpPr>
          <p:cNvPr id="153" name="Google Shape;153;p10"/>
          <p:cNvSpPr/>
          <p:nvPr/>
        </p:nvSpPr>
        <p:spPr>
          <a:xfrm>
            <a:off x="6705600" y="56007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২০২৬</a:t>
            </a:r>
            <a:endParaRPr b="0" i="0" sz="1200" u="none" cap="none" strike="noStrike">
              <a:solidFill>
                <a:schemeClr val="dk1"/>
              </a:solidFill>
              <a:latin typeface="Tiro Bangla"/>
              <a:ea typeface="Tiro Bangla"/>
              <a:cs typeface="Tiro Bangla"/>
              <a:sym typeface="Tiro Bangla"/>
            </a:endParaRPr>
          </a:p>
        </p:txBody>
      </p:sp>
      <p:sp>
        <p:nvSpPr>
          <p:cNvPr id="154" name="Google Shape;154;p10"/>
          <p:cNvSpPr/>
          <p:nvPr/>
        </p:nvSpPr>
        <p:spPr>
          <a:xfrm>
            <a:off x="2717800" y="2514600"/>
            <a:ext cx="1320800" cy="22350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F6A8A"/>
              </a:buClr>
              <a:buSzPts val="1200"/>
              <a:buFont typeface="Tiro Bangla"/>
              <a:buNone/>
            </a:pPr>
            <a:r>
              <a:rPr b="1" i="0" lang="en-US" sz="1200" u="none" cap="none" strike="noStrike">
                <a:solidFill>
                  <a:srgbClr val="5F6A8A"/>
                </a:solidFill>
                <a:latin typeface="Tiro Bangla"/>
                <a:ea typeface="Tiro Bangla"/>
                <a:cs typeface="Tiro Bangla"/>
                <a:sym typeface="Tiro Bangla"/>
              </a:rPr>
              <a:t>ChatGPT</a:t>
            </a:r>
            <a:endParaRPr b="0" i="0" sz="1200" u="none" cap="none" strike="noStrike">
              <a:solidFill>
                <a:schemeClr val="dk1"/>
              </a:solidFill>
              <a:latin typeface="Tiro Bangla"/>
              <a:ea typeface="Tiro Bangla"/>
              <a:cs typeface="Tiro Bangla"/>
              <a:sym typeface="Tiro Bangla"/>
            </a:endParaRPr>
          </a:p>
        </p:txBody>
      </p:sp>
      <p:sp>
        <p:nvSpPr>
          <p:cNvPr id="155" name="Google Shape;155;p10"/>
          <p:cNvSpPr/>
          <p:nvPr/>
        </p:nvSpPr>
        <p:spPr>
          <a:xfrm>
            <a:off x="4232910" y="2514600"/>
            <a:ext cx="1831340" cy="223507"/>
          </a:xfrm>
          <a:prstGeom prst="rect">
            <a:avLst/>
          </a:prstGeom>
          <a:noFill/>
          <a:ln>
            <a:noFill/>
          </a:ln>
        </p:spPr>
        <p:txBody>
          <a:bodyPr anchorCtr="0" anchor="t" bIns="0" lIns="0" spcFirstLastPara="1" rIns="0" wrap="square" tIns="0">
            <a:noAutofit/>
          </a:bodyPr>
          <a:lstStyle/>
          <a:p>
            <a:pPr indent="0" lvl="0" marL="0" marR="0" rtl="0" algn="r">
              <a:lnSpc>
                <a:spcPct val="130000"/>
              </a:lnSpc>
              <a:spcBef>
                <a:spcPts val="0"/>
              </a:spcBef>
              <a:spcAft>
                <a:spcPts val="0"/>
              </a:spcAft>
              <a:buClr>
                <a:srgbClr val="5F6A8A"/>
              </a:buClr>
              <a:buSzPts val="1200"/>
              <a:buFont typeface="Tiro Bangla"/>
              <a:buNone/>
            </a:pPr>
            <a:r>
              <a:rPr b="1" i="0" lang="en-US" sz="1200" u="none" cap="none" strike="noStrike">
                <a:solidFill>
                  <a:srgbClr val="5F6A8A"/>
                </a:solidFill>
                <a:latin typeface="Tiro Bangla"/>
                <a:ea typeface="Tiro Bangla"/>
                <a:cs typeface="Tiro Bangla"/>
                <a:sym typeface="Tiro Bangla"/>
              </a:rPr>
              <a:t>অস্বাভাবিক ট্রাফিক</a:t>
            </a:r>
            <a:endParaRPr b="0" i="0" sz="1200" u="none" cap="none" strike="noStrike">
              <a:solidFill>
                <a:schemeClr val="dk1"/>
              </a:solidFill>
              <a:latin typeface="Tiro Bangla"/>
              <a:ea typeface="Tiro Bangla"/>
              <a:cs typeface="Tiro Bangla"/>
              <a:sym typeface="Tiro Bangla"/>
            </a:endParaRPr>
          </a:p>
        </p:txBody>
      </p:sp>
      <p:sp>
        <p:nvSpPr>
          <p:cNvPr id="156" name="Google Shape;156;p10"/>
          <p:cNvSpPr/>
          <p:nvPr/>
        </p:nvSpPr>
        <p:spPr>
          <a:xfrm>
            <a:off x="8382000" y="2540000"/>
            <a:ext cx="3087116" cy="22350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F6A8A"/>
              </a:buClr>
              <a:buSzPts val="1200"/>
              <a:buFont typeface="Tiro Bangla"/>
              <a:buNone/>
            </a:pPr>
            <a:r>
              <a:rPr b="1" i="0" lang="en-US" sz="1200" u="none" cap="none" strike="noStrike">
                <a:solidFill>
                  <a:srgbClr val="5F6A8A"/>
                </a:solidFill>
                <a:latin typeface="Tiro Bangla"/>
                <a:ea typeface="Tiro Bangla"/>
                <a:cs typeface="Tiro Bangla"/>
                <a:sym typeface="Tiro Bangla"/>
              </a:rPr>
              <a:t>২০২৪ → ২০২৬ · মাসিক গড়</a:t>
            </a:r>
            <a:endParaRPr b="0" i="0" sz="1200" u="none" cap="none" strike="noStrike">
              <a:solidFill>
                <a:schemeClr val="dk1"/>
              </a:solidFill>
              <a:latin typeface="Tiro Bangla"/>
              <a:ea typeface="Tiro Bangla"/>
              <a:cs typeface="Tiro Bangla"/>
              <a:sym typeface="Tiro Bangla"/>
            </a:endParaRPr>
          </a:p>
        </p:txBody>
      </p:sp>
      <p:sp>
        <p:nvSpPr>
          <p:cNvPr id="157" name="Google Shape;157;p10"/>
          <p:cNvSpPr/>
          <p:nvPr/>
        </p:nvSpPr>
        <p:spPr>
          <a:xfrm>
            <a:off x="8382000" y="2971800"/>
            <a:ext cx="304800" cy="44450"/>
          </a:xfrm>
          <a:prstGeom prst="rect">
            <a:avLst/>
          </a:prstGeom>
          <a:solidFill>
            <a:srgbClr val="C8501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10"/>
          <p:cNvSpPr/>
          <p:nvPr/>
        </p:nvSpPr>
        <p:spPr>
          <a:xfrm>
            <a:off x="8788400" y="2870200"/>
            <a:ext cx="1169353" cy="27305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384D86"/>
              </a:buClr>
              <a:buSzPts val="1500"/>
              <a:buFont typeface="Tiro Bangla"/>
              <a:buNone/>
            </a:pPr>
            <a:r>
              <a:rPr b="1" i="0" lang="en-US" sz="1500" u="none" cap="none" strike="noStrike">
                <a:solidFill>
                  <a:srgbClr val="384D86"/>
                </a:solidFill>
                <a:latin typeface="Tiro Bangla"/>
                <a:ea typeface="Tiro Bangla"/>
                <a:cs typeface="Tiro Bangla"/>
                <a:sym typeface="Tiro Bangla"/>
              </a:rPr>
              <a:t>মানুষ </a:t>
            </a:r>
            <a:r>
              <a:rPr b="1" i="0" lang="en-US" sz="1500" u="none" cap="none" strike="noStrike">
                <a:solidFill>
                  <a:srgbClr val="C8501A"/>
                </a:solidFill>
                <a:latin typeface="Tiro Bangla"/>
                <a:ea typeface="Tiro Bangla"/>
                <a:cs typeface="Tiro Bangla"/>
                <a:sym typeface="Tiro Bangla"/>
              </a:rPr>
              <a:t>−৬৪%</a:t>
            </a:r>
            <a:endParaRPr b="0" i="0" sz="1500" u="none" cap="none" strike="noStrike">
              <a:solidFill>
                <a:schemeClr val="dk1"/>
              </a:solidFill>
              <a:latin typeface="Tiro Bangla"/>
              <a:ea typeface="Tiro Bangla"/>
              <a:cs typeface="Tiro Bangla"/>
              <a:sym typeface="Tiro Bangla"/>
            </a:endParaRPr>
          </a:p>
        </p:txBody>
      </p:sp>
      <p:sp>
        <p:nvSpPr>
          <p:cNvPr id="159" name="Google Shape;159;p10"/>
          <p:cNvSpPr/>
          <p:nvPr/>
        </p:nvSpPr>
        <p:spPr>
          <a:xfrm>
            <a:off x="8382000" y="3155950"/>
            <a:ext cx="3087116" cy="22350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২.৪৯ কোটি → ৯০ লাখ</a:t>
            </a:r>
            <a:endParaRPr b="0" i="0" sz="1200" u="none" cap="none" strike="noStrike">
              <a:solidFill>
                <a:schemeClr val="dk1"/>
              </a:solidFill>
              <a:latin typeface="Tiro Bangla"/>
              <a:ea typeface="Tiro Bangla"/>
              <a:cs typeface="Tiro Bangla"/>
              <a:sym typeface="Tiro Bangla"/>
            </a:endParaRPr>
          </a:p>
        </p:txBody>
      </p:sp>
      <p:sp>
        <p:nvSpPr>
          <p:cNvPr id="160" name="Google Shape;160;p10"/>
          <p:cNvSpPr/>
          <p:nvPr/>
        </p:nvSpPr>
        <p:spPr>
          <a:xfrm>
            <a:off x="812800" y="6236959"/>
            <a:ext cx="99822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F6A8A"/>
              </a:buClr>
              <a:buSzPts val="1200"/>
              <a:buFont typeface="Tiro Bangla"/>
              <a:buNone/>
            </a:pPr>
            <a:r>
              <a:rPr b="0" i="0" lang="en-US" sz="1100" u="none" cap="none" strike="noStrike">
                <a:solidFill>
                  <a:srgbClr val="5F6A8A"/>
                </a:solidFill>
                <a:latin typeface="Tiro Bangla"/>
                <a:ea typeface="Tiro Bangla"/>
                <a:cs typeface="Tiro Bangla"/>
                <a:sym typeface="Tiro Bangla"/>
              </a:rPr>
              <a:t>জানুয়ারি ২০২২ – সেপ্টেম্বর ২০২৬ · মার্চ ২০২৫ থেকে বট চেনার নতুন নিয়ম, তার আগে পুরোনো · উৎস: উইকিমিডিয়া পেজভিউ API · Diff, ১৭ অক্টোবর ২০২৫</a:t>
            </a:r>
            <a:endParaRPr b="0" i="0" sz="1100" u="none" cap="none" strike="noStrike">
              <a:solidFill>
                <a:schemeClr val="dk1"/>
              </a:solidFill>
              <a:latin typeface="Tiro Bangla"/>
              <a:ea typeface="Tiro Bangla"/>
              <a:cs typeface="Tiro Bangla"/>
              <a:sym typeface="Tiro Bangla"/>
            </a:endParaRPr>
          </a:p>
        </p:txBody>
      </p:sp>
      <p:sp>
        <p:nvSpPr>
          <p:cNvPr id="161" name="Google Shape;161;p10"/>
          <p:cNvSpPr/>
          <p:nvPr/>
        </p:nvSpPr>
        <p:spPr>
          <a:xfrm>
            <a:off x="10972536" y="6236959"/>
            <a:ext cx="457465"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৫ / ১৯</a:t>
            </a:r>
            <a:endParaRPr b="0" i="0" sz="1200" u="none" cap="none" strike="noStrike">
              <a:solidFill>
                <a:schemeClr val="dk1"/>
              </a:solidFill>
              <a:latin typeface="Tiro Bangla"/>
              <a:ea typeface="Tiro Bangla"/>
              <a:cs typeface="Tiro Bangla"/>
              <a:sym typeface="Tiro Bangla"/>
            </a:endParaRPr>
          </a:p>
        </p:txBody>
      </p:sp>
      <p:pic>
        <p:nvPicPr>
          <p:cNvPr descr="বাংলা উইকিসম্মেলন ২০২৬ লোগো" id="162" name="Google Shape;162;p10"/>
          <p:cNvPicPr preferRelativeResize="0"/>
          <p:nvPr/>
        </p:nvPicPr>
        <p:blipFill rotWithShape="1">
          <a:blip r:embed="rId4">
            <a:alphaModFix/>
          </a:blip>
          <a:srcRect b="0" l="0" r="0" t="0"/>
          <a:stretch/>
        </p:blipFill>
        <p:spPr>
          <a:xfrm>
            <a:off x="10314432" y="365760"/>
            <a:ext cx="1115568" cy="66686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8DA"/>
        </a:solidFill>
      </p:bgPr>
    </p:bg>
    <p:spTree>
      <p:nvGrpSpPr>
        <p:cNvPr id="167" name="Shape 167"/>
        <p:cNvGrpSpPr/>
        <p:nvPr/>
      </p:nvGrpSpPr>
      <p:grpSpPr>
        <a:xfrm>
          <a:off x="0" y="0"/>
          <a:ext cx="0" cy="0"/>
          <a:chOff x="0" y="0"/>
          <a:chExt cx="0" cy="0"/>
        </a:xfrm>
      </p:grpSpPr>
      <p:sp>
        <p:nvSpPr>
          <p:cNvPr id="168" name="Google Shape;168;p11"/>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8501A"/>
              </a:buClr>
              <a:buSzPts val="1200"/>
              <a:buFont typeface="Tiro Bangla"/>
              <a:buNone/>
            </a:pPr>
            <a:r>
              <a:rPr b="1" i="0" lang="en-US" sz="1200" u="none" cap="none" strike="noStrike">
                <a:solidFill>
                  <a:srgbClr val="C8501A"/>
                </a:solidFill>
                <a:latin typeface="Tiro Bangla"/>
                <a:ea typeface="Tiro Bangla"/>
                <a:cs typeface="Tiro Bangla"/>
                <a:sym typeface="Tiro Bangla"/>
              </a:rPr>
              <a:t>পাঠক · ২</a:t>
            </a:r>
            <a:endParaRPr b="0" i="0" sz="1200" u="none" cap="none" strike="noStrike">
              <a:solidFill>
                <a:schemeClr val="dk1"/>
              </a:solidFill>
              <a:latin typeface="Tiro Bangla"/>
              <a:ea typeface="Tiro Bangla"/>
              <a:cs typeface="Tiro Bangla"/>
              <a:sym typeface="Tiro Bangla"/>
            </a:endParaRPr>
          </a:p>
        </p:txBody>
      </p:sp>
      <p:sp>
        <p:nvSpPr>
          <p:cNvPr id="169" name="Google Shape;169;p11"/>
          <p:cNvSpPr/>
          <p:nvPr/>
        </p:nvSpPr>
        <p:spPr>
          <a:xfrm>
            <a:off x="812800" y="1127720"/>
            <a:ext cx="9810750" cy="960041"/>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84D86"/>
              </a:buClr>
              <a:buSzPts val="3200"/>
              <a:buFont typeface="Tiro Bangla"/>
              <a:buNone/>
            </a:pPr>
            <a:r>
              <a:rPr b="0" i="0" lang="en-US" sz="3200" u="none" cap="none" strike="noStrike">
                <a:solidFill>
                  <a:srgbClr val="384D86"/>
                </a:solidFill>
                <a:latin typeface="Tiro Bangla"/>
                <a:ea typeface="Tiro Bangla"/>
                <a:cs typeface="Tiro Bangla"/>
                <a:sym typeface="Tiro Bangla"/>
              </a:rPr>
              <a:t>২০২৬-এর বেশিরভাগ মাসে মানুষের চেয়ে ছদ্মবেশী বটই উইকিপিডিয়ায় বেশি এসেছে</a:t>
            </a:r>
            <a:endParaRPr b="0" i="0" sz="3200" u="none" cap="none" strike="noStrike">
              <a:solidFill>
                <a:schemeClr val="dk1"/>
              </a:solidFill>
              <a:latin typeface="Tiro Bangla"/>
              <a:ea typeface="Tiro Bangla"/>
              <a:cs typeface="Tiro Bangla"/>
              <a:sym typeface="Tiro Bangla"/>
            </a:endParaRPr>
          </a:p>
          <a:p>
            <a:pPr indent="0" lvl="0" marL="0" marR="0" rtl="0" algn="l">
              <a:lnSpc>
                <a:spcPct val="115000"/>
              </a:lnSpc>
              <a:spcBef>
                <a:spcPts val="0"/>
              </a:spcBef>
              <a:spcAft>
                <a:spcPts val="0"/>
              </a:spcAft>
              <a:buClr>
                <a:srgbClr val="384D86"/>
              </a:buClr>
              <a:buSzPts val="3200"/>
              <a:buFont typeface="Tiro Bangla"/>
              <a:buNone/>
            </a:pPr>
            <a:r>
              <a:t/>
            </a:r>
            <a:endParaRPr b="0" i="0" sz="3200" u="none" cap="none" strike="noStrike">
              <a:solidFill>
                <a:srgbClr val="384D86"/>
              </a:solidFill>
              <a:latin typeface="Tiro Bangla"/>
              <a:ea typeface="Tiro Bangla"/>
              <a:cs typeface="Tiro Bangla"/>
              <a:sym typeface="Tiro Bangla"/>
            </a:endParaRPr>
          </a:p>
        </p:txBody>
      </p:sp>
      <p:pic>
        <p:nvPicPr>
          <p:cNvPr descr="বাংলা উইকিপিডিয়ার মাসিক মানুষের পেজভিউ, ২০২২–২০২৬" id="170" name="Google Shape;170;p11"/>
          <p:cNvPicPr preferRelativeResize="0"/>
          <p:nvPr/>
        </p:nvPicPr>
        <p:blipFill rotWithShape="1">
          <a:blip r:embed="rId3">
            <a:alphaModFix/>
          </a:blip>
          <a:srcRect b="0" l="0" r="0" t="0"/>
          <a:stretch/>
        </p:blipFill>
        <p:spPr>
          <a:xfrm>
            <a:off x="1498600" y="2540000"/>
            <a:ext cx="6477000" cy="2984500"/>
          </a:xfrm>
          <a:prstGeom prst="rect">
            <a:avLst/>
          </a:prstGeom>
          <a:noFill/>
          <a:ln>
            <a:noFill/>
          </a:ln>
        </p:spPr>
      </p:pic>
      <p:pic>
        <p:nvPicPr>
          <p:cNvPr descr="স্বয়ংক্রিয় (ছদ্মবেশী) বটের মাসিক পেজভিউ" id="171" name="Google Shape;171;p11"/>
          <p:cNvPicPr preferRelativeResize="0"/>
          <p:nvPr/>
        </p:nvPicPr>
        <p:blipFill rotWithShape="1">
          <a:blip r:embed="rId4">
            <a:alphaModFix/>
          </a:blip>
          <a:srcRect b="0" l="0" r="0" t="0"/>
          <a:stretch/>
        </p:blipFill>
        <p:spPr>
          <a:xfrm>
            <a:off x="1498600" y="2540000"/>
            <a:ext cx="6477000" cy="2984500"/>
          </a:xfrm>
          <a:prstGeom prst="rect">
            <a:avLst/>
          </a:prstGeom>
          <a:noFill/>
          <a:ln>
            <a:noFill/>
          </a:ln>
        </p:spPr>
      </p:pic>
      <p:sp>
        <p:nvSpPr>
          <p:cNvPr id="172" name="Google Shape;172;p11"/>
          <p:cNvSpPr/>
          <p:nvPr/>
        </p:nvSpPr>
        <p:spPr>
          <a:xfrm>
            <a:off x="711200" y="5410200"/>
            <a:ext cx="723900" cy="223507"/>
          </a:xfrm>
          <a:prstGeom prst="rect">
            <a:avLst/>
          </a:prstGeom>
          <a:noFill/>
          <a:ln>
            <a:noFill/>
          </a:ln>
        </p:spPr>
        <p:txBody>
          <a:bodyPr anchorCtr="0" anchor="t" bIns="0" lIns="0" spcFirstLastPara="1" rIns="0" wrap="square" tIns="0">
            <a:noAutofit/>
          </a:bodyPr>
          <a:lstStyle/>
          <a:p>
            <a:pPr indent="0" lvl="0" marL="0" marR="0" rtl="0" algn="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০</a:t>
            </a:r>
            <a:endParaRPr b="0" i="0" sz="1200" u="none" cap="none" strike="noStrike">
              <a:solidFill>
                <a:schemeClr val="dk1"/>
              </a:solidFill>
              <a:latin typeface="Tiro Bangla"/>
              <a:ea typeface="Tiro Bangla"/>
              <a:cs typeface="Tiro Bangla"/>
              <a:sym typeface="Tiro Bangla"/>
            </a:endParaRPr>
          </a:p>
        </p:txBody>
      </p:sp>
      <p:sp>
        <p:nvSpPr>
          <p:cNvPr id="173" name="Google Shape;173;p11"/>
          <p:cNvSpPr/>
          <p:nvPr/>
        </p:nvSpPr>
        <p:spPr>
          <a:xfrm>
            <a:off x="711200" y="4559300"/>
            <a:ext cx="723900" cy="223507"/>
          </a:xfrm>
          <a:prstGeom prst="rect">
            <a:avLst/>
          </a:prstGeom>
          <a:noFill/>
          <a:ln>
            <a:noFill/>
          </a:ln>
        </p:spPr>
        <p:txBody>
          <a:bodyPr anchorCtr="0" anchor="t" bIns="0" lIns="0" spcFirstLastPara="1" rIns="0" wrap="square" tIns="0">
            <a:noAutofit/>
          </a:bodyPr>
          <a:lstStyle/>
          <a:p>
            <a:pPr indent="0" lvl="0" marL="0" marR="0" rtl="0" algn="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১ কোটি</a:t>
            </a:r>
            <a:endParaRPr b="0" i="0" sz="1200" u="none" cap="none" strike="noStrike">
              <a:solidFill>
                <a:schemeClr val="dk1"/>
              </a:solidFill>
              <a:latin typeface="Tiro Bangla"/>
              <a:ea typeface="Tiro Bangla"/>
              <a:cs typeface="Tiro Bangla"/>
              <a:sym typeface="Tiro Bangla"/>
            </a:endParaRPr>
          </a:p>
        </p:txBody>
      </p:sp>
      <p:sp>
        <p:nvSpPr>
          <p:cNvPr id="174" name="Google Shape;174;p11"/>
          <p:cNvSpPr/>
          <p:nvPr/>
        </p:nvSpPr>
        <p:spPr>
          <a:xfrm>
            <a:off x="711200" y="3702050"/>
            <a:ext cx="723900" cy="223507"/>
          </a:xfrm>
          <a:prstGeom prst="rect">
            <a:avLst/>
          </a:prstGeom>
          <a:noFill/>
          <a:ln>
            <a:noFill/>
          </a:ln>
        </p:spPr>
        <p:txBody>
          <a:bodyPr anchorCtr="0" anchor="t" bIns="0" lIns="0" spcFirstLastPara="1" rIns="0" wrap="square" tIns="0">
            <a:noAutofit/>
          </a:bodyPr>
          <a:lstStyle/>
          <a:p>
            <a:pPr indent="0" lvl="0" marL="0" marR="0" rtl="0" algn="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 কোটি</a:t>
            </a:r>
            <a:endParaRPr b="0" i="0" sz="1200" u="none" cap="none" strike="noStrike">
              <a:solidFill>
                <a:schemeClr val="dk1"/>
              </a:solidFill>
              <a:latin typeface="Tiro Bangla"/>
              <a:ea typeface="Tiro Bangla"/>
              <a:cs typeface="Tiro Bangla"/>
              <a:sym typeface="Tiro Bangla"/>
            </a:endParaRPr>
          </a:p>
        </p:txBody>
      </p:sp>
      <p:sp>
        <p:nvSpPr>
          <p:cNvPr id="175" name="Google Shape;175;p11"/>
          <p:cNvSpPr/>
          <p:nvPr/>
        </p:nvSpPr>
        <p:spPr>
          <a:xfrm>
            <a:off x="711200" y="2851150"/>
            <a:ext cx="723900" cy="223507"/>
          </a:xfrm>
          <a:prstGeom prst="rect">
            <a:avLst/>
          </a:prstGeom>
          <a:noFill/>
          <a:ln>
            <a:noFill/>
          </a:ln>
        </p:spPr>
        <p:txBody>
          <a:bodyPr anchorCtr="0" anchor="t" bIns="0" lIns="0" spcFirstLastPara="1" rIns="0" wrap="square" tIns="0">
            <a:noAutofit/>
          </a:bodyPr>
          <a:lstStyle/>
          <a:p>
            <a:pPr indent="0" lvl="0" marL="0" marR="0" rtl="0" algn="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৩ কোটি</a:t>
            </a:r>
            <a:endParaRPr b="0" i="0" sz="1200" u="none" cap="none" strike="noStrike">
              <a:solidFill>
                <a:schemeClr val="dk1"/>
              </a:solidFill>
              <a:latin typeface="Tiro Bangla"/>
              <a:ea typeface="Tiro Bangla"/>
              <a:cs typeface="Tiro Bangla"/>
              <a:sym typeface="Tiro Bangla"/>
            </a:endParaRPr>
          </a:p>
        </p:txBody>
      </p:sp>
      <p:sp>
        <p:nvSpPr>
          <p:cNvPr id="176" name="Google Shape;176;p11"/>
          <p:cNvSpPr/>
          <p:nvPr/>
        </p:nvSpPr>
        <p:spPr>
          <a:xfrm>
            <a:off x="1155700" y="56007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২০২২</a:t>
            </a:r>
            <a:endParaRPr b="0" i="0" sz="1200" u="none" cap="none" strike="noStrike">
              <a:solidFill>
                <a:schemeClr val="dk1"/>
              </a:solidFill>
              <a:latin typeface="Tiro Bangla"/>
              <a:ea typeface="Tiro Bangla"/>
              <a:cs typeface="Tiro Bangla"/>
              <a:sym typeface="Tiro Bangla"/>
            </a:endParaRPr>
          </a:p>
        </p:txBody>
      </p:sp>
      <p:sp>
        <p:nvSpPr>
          <p:cNvPr id="177" name="Google Shape;177;p11"/>
          <p:cNvSpPr/>
          <p:nvPr/>
        </p:nvSpPr>
        <p:spPr>
          <a:xfrm>
            <a:off x="2546350" y="56007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২০২৩</a:t>
            </a:r>
            <a:endParaRPr b="0" i="0" sz="1200" u="none" cap="none" strike="noStrike">
              <a:solidFill>
                <a:schemeClr val="dk1"/>
              </a:solidFill>
              <a:latin typeface="Tiro Bangla"/>
              <a:ea typeface="Tiro Bangla"/>
              <a:cs typeface="Tiro Bangla"/>
              <a:sym typeface="Tiro Bangla"/>
            </a:endParaRPr>
          </a:p>
        </p:txBody>
      </p:sp>
      <p:sp>
        <p:nvSpPr>
          <p:cNvPr id="178" name="Google Shape;178;p11"/>
          <p:cNvSpPr/>
          <p:nvPr/>
        </p:nvSpPr>
        <p:spPr>
          <a:xfrm>
            <a:off x="3930650" y="56007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২০২৪</a:t>
            </a:r>
            <a:endParaRPr b="0" i="0" sz="1200" u="none" cap="none" strike="noStrike">
              <a:solidFill>
                <a:schemeClr val="dk1"/>
              </a:solidFill>
              <a:latin typeface="Tiro Bangla"/>
              <a:ea typeface="Tiro Bangla"/>
              <a:cs typeface="Tiro Bangla"/>
              <a:sym typeface="Tiro Bangla"/>
            </a:endParaRPr>
          </a:p>
        </p:txBody>
      </p:sp>
      <p:sp>
        <p:nvSpPr>
          <p:cNvPr id="179" name="Google Shape;179;p11"/>
          <p:cNvSpPr/>
          <p:nvPr/>
        </p:nvSpPr>
        <p:spPr>
          <a:xfrm>
            <a:off x="5321300" y="56007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২০২৫</a:t>
            </a:r>
            <a:endParaRPr b="0" i="0" sz="1200" u="none" cap="none" strike="noStrike">
              <a:solidFill>
                <a:schemeClr val="dk1"/>
              </a:solidFill>
              <a:latin typeface="Tiro Bangla"/>
              <a:ea typeface="Tiro Bangla"/>
              <a:cs typeface="Tiro Bangla"/>
              <a:sym typeface="Tiro Bangla"/>
            </a:endParaRPr>
          </a:p>
        </p:txBody>
      </p:sp>
      <p:sp>
        <p:nvSpPr>
          <p:cNvPr id="180" name="Google Shape;180;p11"/>
          <p:cNvSpPr/>
          <p:nvPr/>
        </p:nvSpPr>
        <p:spPr>
          <a:xfrm>
            <a:off x="6705600" y="56007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২০২৬</a:t>
            </a:r>
            <a:endParaRPr b="0" i="0" sz="1200" u="none" cap="none" strike="noStrike">
              <a:solidFill>
                <a:schemeClr val="dk1"/>
              </a:solidFill>
              <a:latin typeface="Tiro Bangla"/>
              <a:ea typeface="Tiro Bangla"/>
              <a:cs typeface="Tiro Bangla"/>
              <a:sym typeface="Tiro Bangla"/>
            </a:endParaRPr>
          </a:p>
        </p:txBody>
      </p:sp>
      <p:sp>
        <p:nvSpPr>
          <p:cNvPr id="181" name="Google Shape;181;p11"/>
          <p:cNvSpPr/>
          <p:nvPr/>
        </p:nvSpPr>
        <p:spPr>
          <a:xfrm>
            <a:off x="2717800" y="2514600"/>
            <a:ext cx="1320800" cy="22350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F6A8A"/>
              </a:buClr>
              <a:buSzPts val="1200"/>
              <a:buFont typeface="Tiro Bangla"/>
              <a:buNone/>
            </a:pPr>
            <a:r>
              <a:rPr b="1" i="0" lang="en-US" sz="1200" u="none" cap="none" strike="noStrike">
                <a:solidFill>
                  <a:srgbClr val="5F6A8A"/>
                </a:solidFill>
                <a:latin typeface="Tiro Bangla"/>
                <a:ea typeface="Tiro Bangla"/>
                <a:cs typeface="Tiro Bangla"/>
                <a:sym typeface="Tiro Bangla"/>
              </a:rPr>
              <a:t>ChatGPT</a:t>
            </a:r>
            <a:endParaRPr b="0" i="0" sz="1200" u="none" cap="none" strike="noStrike">
              <a:solidFill>
                <a:schemeClr val="dk1"/>
              </a:solidFill>
              <a:latin typeface="Tiro Bangla"/>
              <a:ea typeface="Tiro Bangla"/>
              <a:cs typeface="Tiro Bangla"/>
              <a:sym typeface="Tiro Bangla"/>
            </a:endParaRPr>
          </a:p>
        </p:txBody>
      </p:sp>
      <p:sp>
        <p:nvSpPr>
          <p:cNvPr id="182" name="Google Shape;182;p11"/>
          <p:cNvSpPr/>
          <p:nvPr/>
        </p:nvSpPr>
        <p:spPr>
          <a:xfrm>
            <a:off x="4232910" y="2514600"/>
            <a:ext cx="1831340" cy="223507"/>
          </a:xfrm>
          <a:prstGeom prst="rect">
            <a:avLst/>
          </a:prstGeom>
          <a:noFill/>
          <a:ln>
            <a:noFill/>
          </a:ln>
        </p:spPr>
        <p:txBody>
          <a:bodyPr anchorCtr="0" anchor="t" bIns="0" lIns="0" spcFirstLastPara="1" rIns="0" wrap="square" tIns="0">
            <a:noAutofit/>
          </a:bodyPr>
          <a:lstStyle/>
          <a:p>
            <a:pPr indent="0" lvl="0" marL="0" marR="0" rtl="0" algn="r">
              <a:lnSpc>
                <a:spcPct val="130000"/>
              </a:lnSpc>
              <a:spcBef>
                <a:spcPts val="0"/>
              </a:spcBef>
              <a:spcAft>
                <a:spcPts val="0"/>
              </a:spcAft>
              <a:buClr>
                <a:srgbClr val="5F6A8A"/>
              </a:buClr>
              <a:buSzPts val="1200"/>
              <a:buFont typeface="Tiro Bangla"/>
              <a:buNone/>
            </a:pPr>
            <a:r>
              <a:rPr b="1" i="0" lang="en-US" sz="1200" u="none" cap="none" strike="noStrike">
                <a:solidFill>
                  <a:srgbClr val="5F6A8A"/>
                </a:solidFill>
                <a:latin typeface="Tiro Bangla"/>
                <a:ea typeface="Tiro Bangla"/>
                <a:cs typeface="Tiro Bangla"/>
                <a:sym typeface="Tiro Bangla"/>
              </a:rPr>
              <a:t>অস্বাভাবিক ট্রাফিক</a:t>
            </a:r>
            <a:endParaRPr b="0" i="0" sz="1200" u="none" cap="none" strike="noStrike">
              <a:solidFill>
                <a:schemeClr val="dk1"/>
              </a:solidFill>
              <a:latin typeface="Tiro Bangla"/>
              <a:ea typeface="Tiro Bangla"/>
              <a:cs typeface="Tiro Bangla"/>
              <a:sym typeface="Tiro Bangla"/>
            </a:endParaRPr>
          </a:p>
        </p:txBody>
      </p:sp>
      <p:sp>
        <p:nvSpPr>
          <p:cNvPr id="183" name="Google Shape;183;p11"/>
          <p:cNvSpPr/>
          <p:nvPr/>
        </p:nvSpPr>
        <p:spPr>
          <a:xfrm>
            <a:off x="8382000" y="2540000"/>
            <a:ext cx="3087116" cy="22350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F6A8A"/>
              </a:buClr>
              <a:buSzPts val="1200"/>
              <a:buFont typeface="Tiro Bangla"/>
              <a:buNone/>
            </a:pPr>
            <a:r>
              <a:rPr b="1" i="0" lang="en-US" sz="1200" u="none" cap="none" strike="noStrike">
                <a:solidFill>
                  <a:srgbClr val="5F6A8A"/>
                </a:solidFill>
                <a:latin typeface="Tiro Bangla"/>
                <a:ea typeface="Tiro Bangla"/>
                <a:cs typeface="Tiro Bangla"/>
                <a:sym typeface="Tiro Bangla"/>
              </a:rPr>
              <a:t>২০২৪ → ২০২৬ · মাসিক গড়</a:t>
            </a:r>
            <a:endParaRPr b="0" i="0" sz="1200" u="none" cap="none" strike="noStrike">
              <a:solidFill>
                <a:schemeClr val="dk1"/>
              </a:solidFill>
              <a:latin typeface="Tiro Bangla"/>
              <a:ea typeface="Tiro Bangla"/>
              <a:cs typeface="Tiro Bangla"/>
              <a:sym typeface="Tiro Bangla"/>
            </a:endParaRPr>
          </a:p>
        </p:txBody>
      </p:sp>
      <p:sp>
        <p:nvSpPr>
          <p:cNvPr id="184" name="Google Shape;184;p11"/>
          <p:cNvSpPr/>
          <p:nvPr/>
        </p:nvSpPr>
        <p:spPr>
          <a:xfrm>
            <a:off x="8382000" y="2971800"/>
            <a:ext cx="304800" cy="44450"/>
          </a:xfrm>
          <a:prstGeom prst="rect">
            <a:avLst/>
          </a:prstGeom>
          <a:solidFill>
            <a:srgbClr val="C8501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p11"/>
          <p:cNvSpPr/>
          <p:nvPr/>
        </p:nvSpPr>
        <p:spPr>
          <a:xfrm>
            <a:off x="8788400" y="2870200"/>
            <a:ext cx="1169353" cy="27305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384D86"/>
              </a:buClr>
              <a:buSzPts val="1500"/>
              <a:buFont typeface="Tiro Bangla"/>
              <a:buNone/>
            </a:pPr>
            <a:r>
              <a:rPr b="1" i="0" lang="en-US" sz="1500" u="none" cap="none" strike="noStrike">
                <a:solidFill>
                  <a:srgbClr val="384D86"/>
                </a:solidFill>
                <a:latin typeface="Tiro Bangla"/>
                <a:ea typeface="Tiro Bangla"/>
                <a:cs typeface="Tiro Bangla"/>
                <a:sym typeface="Tiro Bangla"/>
              </a:rPr>
              <a:t>মানুষ </a:t>
            </a:r>
            <a:r>
              <a:rPr b="1" i="0" lang="en-US" sz="1500" u="none" cap="none" strike="noStrike">
                <a:solidFill>
                  <a:srgbClr val="C8501A"/>
                </a:solidFill>
                <a:latin typeface="Tiro Bangla"/>
                <a:ea typeface="Tiro Bangla"/>
                <a:cs typeface="Tiro Bangla"/>
                <a:sym typeface="Tiro Bangla"/>
              </a:rPr>
              <a:t>−৬৪%</a:t>
            </a:r>
            <a:endParaRPr b="0" i="0" sz="1500" u="none" cap="none" strike="noStrike">
              <a:solidFill>
                <a:schemeClr val="dk1"/>
              </a:solidFill>
              <a:latin typeface="Tiro Bangla"/>
              <a:ea typeface="Tiro Bangla"/>
              <a:cs typeface="Tiro Bangla"/>
              <a:sym typeface="Tiro Bangla"/>
            </a:endParaRPr>
          </a:p>
        </p:txBody>
      </p:sp>
      <p:sp>
        <p:nvSpPr>
          <p:cNvPr id="186" name="Google Shape;186;p11"/>
          <p:cNvSpPr/>
          <p:nvPr/>
        </p:nvSpPr>
        <p:spPr>
          <a:xfrm>
            <a:off x="8382000" y="3155950"/>
            <a:ext cx="3087116" cy="22350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২.৪৯ কোটি → ৯০ লাখ</a:t>
            </a:r>
            <a:endParaRPr b="0" i="0" sz="1200" u="none" cap="none" strike="noStrike">
              <a:solidFill>
                <a:schemeClr val="dk1"/>
              </a:solidFill>
              <a:latin typeface="Tiro Bangla"/>
              <a:ea typeface="Tiro Bangla"/>
              <a:cs typeface="Tiro Bangla"/>
              <a:sym typeface="Tiro Bangla"/>
            </a:endParaRPr>
          </a:p>
        </p:txBody>
      </p:sp>
      <p:cxnSp>
        <p:nvCxnSpPr>
          <p:cNvPr id="187" name="Google Shape;187;p11"/>
          <p:cNvCxnSpPr/>
          <p:nvPr/>
        </p:nvCxnSpPr>
        <p:spPr>
          <a:xfrm>
            <a:off x="8382000" y="3552825"/>
            <a:ext cx="304800" cy="0"/>
          </a:xfrm>
          <a:prstGeom prst="straightConnector1">
            <a:avLst/>
          </a:prstGeom>
          <a:noFill/>
          <a:ln cap="flat" cmpd="sng" w="38100">
            <a:solidFill>
              <a:srgbClr val="0E65C0"/>
            </a:solidFill>
            <a:prstDash val="dash"/>
            <a:round/>
            <a:headEnd len="sm" w="sm" type="none"/>
            <a:tailEnd len="sm" w="sm" type="none"/>
          </a:ln>
        </p:spPr>
      </p:cxnSp>
      <p:sp>
        <p:nvSpPr>
          <p:cNvPr id="188" name="Google Shape;188;p11"/>
          <p:cNvSpPr/>
          <p:nvPr/>
        </p:nvSpPr>
        <p:spPr>
          <a:xfrm>
            <a:off x="8788400" y="3429000"/>
            <a:ext cx="1917779" cy="27305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384D86"/>
              </a:buClr>
              <a:buSzPts val="1500"/>
              <a:buFont typeface="Tiro Bangla"/>
              <a:buNone/>
            </a:pPr>
            <a:r>
              <a:rPr b="1" i="0" lang="en-US" sz="1500" u="none" cap="none" strike="noStrike">
                <a:solidFill>
                  <a:srgbClr val="384D86"/>
                </a:solidFill>
                <a:latin typeface="Tiro Bangla"/>
                <a:ea typeface="Tiro Bangla"/>
                <a:cs typeface="Tiro Bangla"/>
                <a:sym typeface="Tiro Bangla"/>
              </a:rPr>
              <a:t>ছদ্মবেশী বট </a:t>
            </a:r>
            <a:r>
              <a:rPr b="1" i="0" lang="en-US" sz="1500" u="none" cap="none" strike="noStrike">
                <a:solidFill>
                  <a:srgbClr val="0E65C0"/>
                </a:solidFill>
                <a:latin typeface="Tiro Bangla"/>
                <a:ea typeface="Tiro Bangla"/>
                <a:cs typeface="Tiro Bangla"/>
                <a:sym typeface="Tiro Bangla"/>
              </a:rPr>
              <a:t>৩.২ গুণ</a:t>
            </a:r>
            <a:endParaRPr b="0" i="0" sz="1500" u="none" cap="none" strike="noStrike">
              <a:solidFill>
                <a:schemeClr val="dk1"/>
              </a:solidFill>
              <a:latin typeface="Tiro Bangla"/>
              <a:ea typeface="Tiro Bangla"/>
              <a:cs typeface="Tiro Bangla"/>
              <a:sym typeface="Tiro Bangla"/>
            </a:endParaRPr>
          </a:p>
        </p:txBody>
      </p:sp>
      <p:sp>
        <p:nvSpPr>
          <p:cNvPr id="189" name="Google Shape;189;p11"/>
          <p:cNvSpPr/>
          <p:nvPr/>
        </p:nvSpPr>
        <p:spPr>
          <a:xfrm>
            <a:off x="8382000" y="3714750"/>
            <a:ext cx="3087116" cy="22350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৩৬ লাখ → ১.১৫ কোটি</a:t>
            </a:r>
            <a:endParaRPr b="0" i="0" sz="1200" u="none" cap="none" strike="noStrike">
              <a:solidFill>
                <a:schemeClr val="dk1"/>
              </a:solidFill>
              <a:latin typeface="Tiro Bangla"/>
              <a:ea typeface="Tiro Bangla"/>
              <a:cs typeface="Tiro Bangla"/>
              <a:sym typeface="Tiro Bangla"/>
            </a:endParaRPr>
          </a:p>
        </p:txBody>
      </p:sp>
      <p:sp>
        <p:nvSpPr>
          <p:cNvPr id="190" name="Google Shape;190;p11"/>
          <p:cNvSpPr/>
          <p:nvPr/>
        </p:nvSpPr>
        <p:spPr>
          <a:xfrm>
            <a:off x="8382000" y="5156200"/>
            <a:ext cx="3087116" cy="436827"/>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0E65C0"/>
              </a:buClr>
              <a:buSzPts val="1200"/>
              <a:buFont typeface="Tiro Bangla"/>
              <a:buNone/>
            </a:pPr>
            <a:r>
              <a:rPr b="1" i="0" lang="en-US" sz="1200" u="none" cap="none" strike="noStrike">
                <a:solidFill>
                  <a:srgbClr val="0E65C0"/>
                </a:solidFill>
                <a:latin typeface="Tiro Bangla"/>
                <a:ea typeface="Tiro Bangla"/>
                <a:cs typeface="Tiro Bangla"/>
                <a:sym typeface="Tiro Bangla"/>
              </a:rPr>
              <a:t>২০২৬-এর ৯ মাসের ৭টিতেই ছদ্মবেশী বটের পেজভিউ মানুষের চেয়ে বেশি</a:t>
            </a:r>
            <a:endParaRPr b="0" i="0" sz="1200" u="none" cap="none" strike="noStrike">
              <a:solidFill>
                <a:schemeClr val="dk1"/>
              </a:solidFill>
              <a:latin typeface="Tiro Bangla"/>
              <a:ea typeface="Tiro Bangla"/>
              <a:cs typeface="Tiro Bangla"/>
              <a:sym typeface="Tiro Bangla"/>
            </a:endParaRPr>
          </a:p>
        </p:txBody>
      </p:sp>
      <p:sp>
        <p:nvSpPr>
          <p:cNvPr id="191" name="Google Shape;191;p11"/>
          <p:cNvSpPr/>
          <p:nvPr/>
        </p:nvSpPr>
        <p:spPr>
          <a:xfrm>
            <a:off x="812800" y="6236959"/>
            <a:ext cx="99822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F6A8A"/>
              </a:buClr>
              <a:buSzPts val="1200"/>
              <a:buFont typeface="Tiro Bangla"/>
              <a:buNone/>
            </a:pPr>
            <a:r>
              <a:rPr b="0" i="0" lang="en-US" sz="1100" u="none" cap="none" strike="noStrike">
                <a:solidFill>
                  <a:srgbClr val="5F6A8A"/>
                </a:solidFill>
                <a:latin typeface="Tiro Bangla"/>
                <a:ea typeface="Tiro Bangla"/>
                <a:cs typeface="Tiro Bangla"/>
                <a:sym typeface="Tiro Bangla"/>
              </a:rPr>
              <a:t>জানুয়ারি ২০২২ – সেপ্টেম্বর ২০২৬ · মার্চ ২০২৫ থেকে বট চেনার নতুন নিয়ম, তার আগে পুরোনো · উৎস: উইকিমিডিয়া পেজভিউ API · Diff, ১৭ অক্টোবর ২০২৫</a:t>
            </a:r>
            <a:endParaRPr b="0" i="0" sz="1100" u="none" cap="none" strike="noStrike">
              <a:solidFill>
                <a:schemeClr val="dk1"/>
              </a:solidFill>
              <a:latin typeface="Tiro Bangla"/>
              <a:ea typeface="Tiro Bangla"/>
              <a:cs typeface="Tiro Bangla"/>
              <a:sym typeface="Tiro Bangla"/>
            </a:endParaRPr>
          </a:p>
        </p:txBody>
      </p:sp>
      <p:sp>
        <p:nvSpPr>
          <p:cNvPr id="192" name="Google Shape;192;p11"/>
          <p:cNvSpPr/>
          <p:nvPr/>
        </p:nvSpPr>
        <p:spPr>
          <a:xfrm>
            <a:off x="10972536" y="6236959"/>
            <a:ext cx="457465"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৫ / ১৯</a:t>
            </a:r>
            <a:endParaRPr b="0" i="0" sz="1200" u="none" cap="none" strike="noStrike">
              <a:solidFill>
                <a:schemeClr val="dk1"/>
              </a:solidFill>
              <a:latin typeface="Tiro Bangla"/>
              <a:ea typeface="Tiro Bangla"/>
              <a:cs typeface="Tiro Bangla"/>
              <a:sym typeface="Tiro Bangla"/>
            </a:endParaRPr>
          </a:p>
        </p:txBody>
      </p:sp>
      <p:pic>
        <p:nvPicPr>
          <p:cNvPr descr="বাংলা উইকিসম্মেলন ২০২৬ লোগো" id="193" name="Google Shape;193;p11"/>
          <p:cNvPicPr preferRelativeResize="0"/>
          <p:nvPr/>
        </p:nvPicPr>
        <p:blipFill rotWithShape="1">
          <a:blip r:embed="rId5">
            <a:alphaModFix/>
          </a:blip>
          <a:srcRect b="0" l="0" r="0" t="0"/>
          <a:stretch/>
        </p:blipFill>
        <p:spPr>
          <a:xfrm>
            <a:off x="10314432" y="365760"/>
            <a:ext cx="1115568" cy="66686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8DA"/>
        </a:solidFill>
      </p:bgPr>
    </p:bg>
    <p:spTree>
      <p:nvGrpSpPr>
        <p:cNvPr id="198" name="Shape 198"/>
        <p:cNvGrpSpPr/>
        <p:nvPr/>
      </p:nvGrpSpPr>
      <p:grpSpPr>
        <a:xfrm>
          <a:off x="0" y="0"/>
          <a:ext cx="0" cy="0"/>
          <a:chOff x="0" y="0"/>
          <a:chExt cx="0" cy="0"/>
        </a:xfrm>
      </p:grpSpPr>
      <p:sp>
        <p:nvSpPr>
          <p:cNvPr id="199" name="Google Shape;199;p12"/>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8501A"/>
              </a:buClr>
              <a:buSzPts val="1200"/>
              <a:buFont typeface="Tiro Bangla"/>
              <a:buNone/>
            </a:pPr>
            <a:r>
              <a:rPr b="1" i="0" lang="en-US" sz="1200" u="none" cap="none" strike="noStrike">
                <a:solidFill>
                  <a:srgbClr val="C8501A"/>
                </a:solidFill>
                <a:latin typeface="Tiro Bangla"/>
                <a:ea typeface="Tiro Bangla"/>
                <a:cs typeface="Tiro Bangla"/>
                <a:sym typeface="Tiro Bangla"/>
              </a:rPr>
              <a:t>পাঠক · ২</a:t>
            </a:r>
            <a:endParaRPr b="0" i="0" sz="1200" u="none" cap="none" strike="noStrike">
              <a:solidFill>
                <a:schemeClr val="dk1"/>
              </a:solidFill>
              <a:latin typeface="Tiro Bangla"/>
              <a:ea typeface="Tiro Bangla"/>
              <a:cs typeface="Tiro Bangla"/>
              <a:sym typeface="Tiro Bangla"/>
            </a:endParaRPr>
          </a:p>
        </p:txBody>
      </p:sp>
      <p:sp>
        <p:nvSpPr>
          <p:cNvPr id="200" name="Google Shape;200;p12"/>
          <p:cNvSpPr/>
          <p:nvPr/>
        </p:nvSpPr>
        <p:spPr>
          <a:xfrm>
            <a:off x="812800" y="1127720"/>
            <a:ext cx="9810750" cy="960041"/>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84D86"/>
              </a:buClr>
              <a:buSzPts val="3200"/>
              <a:buFont typeface="Tiro Bangla"/>
              <a:buNone/>
            </a:pPr>
            <a:r>
              <a:rPr b="0" i="0" lang="en-US" sz="3200" u="none" cap="none" strike="noStrike">
                <a:solidFill>
                  <a:srgbClr val="384D86"/>
                </a:solidFill>
                <a:latin typeface="Tiro Bangla"/>
                <a:ea typeface="Tiro Bangla"/>
                <a:cs typeface="Tiro Bangla"/>
                <a:sym typeface="Tiro Bangla"/>
              </a:rPr>
              <a:t>২০২৬-এর বেশিরভাগ মাসে মানুষের চেয়ে ছদ্মবেশী বটই উইকিপিডিয়ায় বেশি এসেছে</a:t>
            </a:r>
            <a:endParaRPr b="0" i="0" sz="3200" u="none" cap="none" strike="noStrike">
              <a:solidFill>
                <a:schemeClr val="dk1"/>
              </a:solidFill>
              <a:latin typeface="Tiro Bangla"/>
              <a:ea typeface="Tiro Bangla"/>
              <a:cs typeface="Tiro Bangla"/>
              <a:sym typeface="Tiro Bangla"/>
            </a:endParaRPr>
          </a:p>
          <a:p>
            <a:pPr indent="0" lvl="0" marL="0" marR="0" rtl="0" algn="l">
              <a:lnSpc>
                <a:spcPct val="115000"/>
              </a:lnSpc>
              <a:spcBef>
                <a:spcPts val="0"/>
              </a:spcBef>
              <a:spcAft>
                <a:spcPts val="0"/>
              </a:spcAft>
              <a:buClr>
                <a:srgbClr val="384D86"/>
              </a:buClr>
              <a:buSzPts val="3200"/>
              <a:buFont typeface="Tiro Bangla"/>
              <a:buNone/>
            </a:pPr>
            <a:r>
              <a:t/>
            </a:r>
            <a:endParaRPr b="0" i="0" sz="3200" u="none" cap="none" strike="noStrike">
              <a:solidFill>
                <a:srgbClr val="384D86"/>
              </a:solidFill>
              <a:latin typeface="Tiro Bangla"/>
              <a:ea typeface="Tiro Bangla"/>
              <a:cs typeface="Tiro Bangla"/>
              <a:sym typeface="Tiro Bangla"/>
            </a:endParaRPr>
          </a:p>
        </p:txBody>
      </p:sp>
      <p:pic>
        <p:nvPicPr>
          <p:cNvPr descr="বাংলা উইকিপিডিয়ার মাসিক মানুষের পেজভিউ, ২০২২–২০২৬" id="201" name="Google Shape;201;p12"/>
          <p:cNvPicPr preferRelativeResize="0"/>
          <p:nvPr/>
        </p:nvPicPr>
        <p:blipFill rotWithShape="1">
          <a:blip r:embed="rId3">
            <a:alphaModFix/>
          </a:blip>
          <a:srcRect b="0" l="0" r="0" t="0"/>
          <a:stretch/>
        </p:blipFill>
        <p:spPr>
          <a:xfrm>
            <a:off x="1498600" y="2540000"/>
            <a:ext cx="6477000" cy="2984500"/>
          </a:xfrm>
          <a:prstGeom prst="rect">
            <a:avLst/>
          </a:prstGeom>
          <a:noFill/>
          <a:ln>
            <a:noFill/>
          </a:ln>
        </p:spPr>
      </p:pic>
      <p:pic>
        <p:nvPicPr>
          <p:cNvPr descr="স্বয়ংক্রিয় (ছদ্মবেশী) বটের মাসিক পেজভিউ" id="202" name="Google Shape;202;p12"/>
          <p:cNvPicPr preferRelativeResize="0"/>
          <p:nvPr/>
        </p:nvPicPr>
        <p:blipFill rotWithShape="1">
          <a:blip r:embed="rId4">
            <a:alphaModFix/>
          </a:blip>
          <a:srcRect b="0" l="0" r="0" t="0"/>
          <a:stretch/>
        </p:blipFill>
        <p:spPr>
          <a:xfrm>
            <a:off x="1498600" y="2540000"/>
            <a:ext cx="6477000" cy="2984500"/>
          </a:xfrm>
          <a:prstGeom prst="rect">
            <a:avLst/>
          </a:prstGeom>
          <a:noFill/>
          <a:ln>
            <a:noFill/>
          </a:ln>
        </p:spPr>
      </p:pic>
      <p:pic>
        <p:nvPicPr>
          <p:cNvPr descr="সার্চ ইঞ্জিনের ক্রলারের মাসিক পেজভিউ" id="203" name="Google Shape;203;p12"/>
          <p:cNvPicPr preferRelativeResize="0"/>
          <p:nvPr/>
        </p:nvPicPr>
        <p:blipFill rotWithShape="1">
          <a:blip r:embed="rId5">
            <a:alphaModFix/>
          </a:blip>
          <a:srcRect b="0" l="0" r="0" t="0"/>
          <a:stretch/>
        </p:blipFill>
        <p:spPr>
          <a:xfrm>
            <a:off x="1498600" y="2540000"/>
            <a:ext cx="6477000" cy="2984500"/>
          </a:xfrm>
          <a:prstGeom prst="rect">
            <a:avLst/>
          </a:prstGeom>
          <a:noFill/>
          <a:ln>
            <a:noFill/>
          </a:ln>
        </p:spPr>
      </p:pic>
      <p:sp>
        <p:nvSpPr>
          <p:cNvPr id="204" name="Google Shape;204;p12"/>
          <p:cNvSpPr/>
          <p:nvPr/>
        </p:nvSpPr>
        <p:spPr>
          <a:xfrm>
            <a:off x="711200" y="5410200"/>
            <a:ext cx="723900" cy="223507"/>
          </a:xfrm>
          <a:prstGeom prst="rect">
            <a:avLst/>
          </a:prstGeom>
          <a:noFill/>
          <a:ln>
            <a:noFill/>
          </a:ln>
        </p:spPr>
        <p:txBody>
          <a:bodyPr anchorCtr="0" anchor="t" bIns="0" lIns="0" spcFirstLastPara="1" rIns="0" wrap="square" tIns="0">
            <a:noAutofit/>
          </a:bodyPr>
          <a:lstStyle/>
          <a:p>
            <a:pPr indent="0" lvl="0" marL="0" marR="0" rtl="0" algn="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০</a:t>
            </a:r>
            <a:endParaRPr b="0" i="0" sz="1200" u="none" cap="none" strike="noStrike">
              <a:solidFill>
                <a:schemeClr val="dk1"/>
              </a:solidFill>
              <a:latin typeface="Tiro Bangla"/>
              <a:ea typeface="Tiro Bangla"/>
              <a:cs typeface="Tiro Bangla"/>
              <a:sym typeface="Tiro Bangla"/>
            </a:endParaRPr>
          </a:p>
        </p:txBody>
      </p:sp>
      <p:sp>
        <p:nvSpPr>
          <p:cNvPr id="205" name="Google Shape;205;p12"/>
          <p:cNvSpPr/>
          <p:nvPr/>
        </p:nvSpPr>
        <p:spPr>
          <a:xfrm>
            <a:off x="711200" y="4559300"/>
            <a:ext cx="723900" cy="223507"/>
          </a:xfrm>
          <a:prstGeom prst="rect">
            <a:avLst/>
          </a:prstGeom>
          <a:noFill/>
          <a:ln>
            <a:noFill/>
          </a:ln>
        </p:spPr>
        <p:txBody>
          <a:bodyPr anchorCtr="0" anchor="t" bIns="0" lIns="0" spcFirstLastPara="1" rIns="0" wrap="square" tIns="0">
            <a:noAutofit/>
          </a:bodyPr>
          <a:lstStyle/>
          <a:p>
            <a:pPr indent="0" lvl="0" marL="0" marR="0" rtl="0" algn="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১ কোটি</a:t>
            </a:r>
            <a:endParaRPr b="0" i="0" sz="1200" u="none" cap="none" strike="noStrike">
              <a:solidFill>
                <a:schemeClr val="dk1"/>
              </a:solidFill>
              <a:latin typeface="Tiro Bangla"/>
              <a:ea typeface="Tiro Bangla"/>
              <a:cs typeface="Tiro Bangla"/>
              <a:sym typeface="Tiro Bangla"/>
            </a:endParaRPr>
          </a:p>
        </p:txBody>
      </p:sp>
      <p:sp>
        <p:nvSpPr>
          <p:cNvPr id="206" name="Google Shape;206;p12"/>
          <p:cNvSpPr/>
          <p:nvPr/>
        </p:nvSpPr>
        <p:spPr>
          <a:xfrm>
            <a:off x="711200" y="3702050"/>
            <a:ext cx="723900" cy="223507"/>
          </a:xfrm>
          <a:prstGeom prst="rect">
            <a:avLst/>
          </a:prstGeom>
          <a:noFill/>
          <a:ln>
            <a:noFill/>
          </a:ln>
        </p:spPr>
        <p:txBody>
          <a:bodyPr anchorCtr="0" anchor="t" bIns="0" lIns="0" spcFirstLastPara="1" rIns="0" wrap="square" tIns="0">
            <a:noAutofit/>
          </a:bodyPr>
          <a:lstStyle/>
          <a:p>
            <a:pPr indent="0" lvl="0" marL="0" marR="0" rtl="0" algn="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 কোটি</a:t>
            </a:r>
            <a:endParaRPr b="0" i="0" sz="1200" u="none" cap="none" strike="noStrike">
              <a:solidFill>
                <a:schemeClr val="dk1"/>
              </a:solidFill>
              <a:latin typeface="Tiro Bangla"/>
              <a:ea typeface="Tiro Bangla"/>
              <a:cs typeface="Tiro Bangla"/>
              <a:sym typeface="Tiro Bangla"/>
            </a:endParaRPr>
          </a:p>
        </p:txBody>
      </p:sp>
      <p:sp>
        <p:nvSpPr>
          <p:cNvPr id="207" name="Google Shape;207;p12"/>
          <p:cNvSpPr/>
          <p:nvPr/>
        </p:nvSpPr>
        <p:spPr>
          <a:xfrm>
            <a:off x="711200" y="2851150"/>
            <a:ext cx="723900" cy="223507"/>
          </a:xfrm>
          <a:prstGeom prst="rect">
            <a:avLst/>
          </a:prstGeom>
          <a:noFill/>
          <a:ln>
            <a:noFill/>
          </a:ln>
        </p:spPr>
        <p:txBody>
          <a:bodyPr anchorCtr="0" anchor="t" bIns="0" lIns="0" spcFirstLastPara="1" rIns="0" wrap="square" tIns="0">
            <a:noAutofit/>
          </a:bodyPr>
          <a:lstStyle/>
          <a:p>
            <a:pPr indent="0" lvl="0" marL="0" marR="0" rtl="0" algn="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৩ কোটি</a:t>
            </a:r>
            <a:endParaRPr b="0" i="0" sz="1200" u="none" cap="none" strike="noStrike">
              <a:solidFill>
                <a:schemeClr val="dk1"/>
              </a:solidFill>
              <a:latin typeface="Tiro Bangla"/>
              <a:ea typeface="Tiro Bangla"/>
              <a:cs typeface="Tiro Bangla"/>
              <a:sym typeface="Tiro Bangla"/>
            </a:endParaRPr>
          </a:p>
        </p:txBody>
      </p:sp>
      <p:sp>
        <p:nvSpPr>
          <p:cNvPr id="208" name="Google Shape;208;p12"/>
          <p:cNvSpPr/>
          <p:nvPr/>
        </p:nvSpPr>
        <p:spPr>
          <a:xfrm>
            <a:off x="1155700" y="56007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২০২২</a:t>
            </a:r>
            <a:endParaRPr b="0" i="0" sz="1200" u="none" cap="none" strike="noStrike">
              <a:solidFill>
                <a:schemeClr val="dk1"/>
              </a:solidFill>
              <a:latin typeface="Tiro Bangla"/>
              <a:ea typeface="Tiro Bangla"/>
              <a:cs typeface="Tiro Bangla"/>
              <a:sym typeface="Tiro Bangla"/>
            </a:endParaRPr>
          </a:p>
        </p:txBody>
      </p:sp>
      <p:sp>
        <p:nvSpPr>
          <p:cNvPr id="209" name="Google Shape;209;p12"/>
          <p:cNvSpPr/>
          <p:nvPr/>
        </p:nvSpPr>
        <p:spPr>
          <a:xfrm>
            <a:off x="2546350" y="56007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২০২৩</a:t>
            </a:r>
            <a:endParaRPr b="0" i="0" sz="1200" u="none" cap="none" strike="noStrike">
              <a:solidFill>
                <a:schemeClr val="dk1"/>
              </a:solidFill>
              <a:latin typeface="Tiro Bangla"/>
              <a:ea typeface="Tiro Bangla"/>
              <a:cs typeface="Tiro Bangla"/>
              <a:sym typeface="Tiro Bangla"/>
            </a:endParaRPr>
          </a:p>
        </p:txBody>
      </p:sp>
      <p:sp>
        <p:nvSpPr>
          <p:cNvPr id="210" name="Google Shape;210;p12"/>
          <p:cNvSpPr/>
          <p:nvPr/>
        </p:nvSpPr>
        <p:spPr>
          <a:xfrm>
            <a:off x="3930650" y="56007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২০২৪</a:t>
            </a:r>
            <a:endParaRPr b="0" i="0" sz="1200" u="none" cap="none" strike="noStrike">
              <a:solidFill>
                <a:schemeClr val="dk1"/>
              </a:solidFill>
              <a:latin typeface="Tiro Bangla"/>
              <a:ea typeface="Tiro Bangla"/>
              <a:cs typeface="Tiro Bangla"/>
              <a:sym typeface="Tiro Bangla"/>
            </a:endParaRPr>
          </a:p>
        </p:txBody>
      </p:sp>
      <p:sp>
        <p:nvSpPr>
          <p:cNvPr id="211" name="Google Shape;211;p12"/>
          <p:cNvSpPr/>
          <p:nvPr/>
        </p:nvSpPr>
        <p:spPr>
          <a:xfrm>
            <a:off x="5321300" y="56007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২০২৫</a:t>
            </a:r>
            <a:endParaRPr b="0" i="0" sz="1200" u="none" cap="none" strike="noStrike">
              <a:solidFill>
                <a:schemeClr val="dk1"/>
              </a:solidFill>
              <a:latin typeface="Tiro Bangla"/>
              <a:ea typeface="Tiro Bangla"/>
              <a:cs typeface="Tiro Bangla"/>
              <a:sym typeface="Tiro Bangla"/>
            </a:endParaRPr>
          </a:p>
        </p:txBody>
      </p:sp>
      <p:sp>
        <p:nvSpPr>
          <p:cNvPr id="212" name="Google Shape;212;p12"/>
          <p:cNvSpPr/>
          <p:nvPr/>
        </p:nvSpPr>
        <p:spPr>
          <a:xfrm>
            <a:off x="6705600" y="56007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২০২৬</a:t>
            </a:r>
            <a:endParaRPr b="0" i="0" sz="1200" u="none" cap="none" strike="noStrike">
              <a:solidFill>
                <a:schemeClr val="dk1"/>
              </a:solidFill>
              <a:latin typeface="Tiro Bangla"/>
              <a:ea typeface="Tiro Bangla"/>
              <a:cs typeface="Tiro Bangla"/>
              <a:sym typeface="Tiro Bangla"/>
            </a:endParaRPr>
          </a:p>
        </p:txBody>
      </p:sp>
      <p:sp>
        <p:nvSpPr>
          <p:cNvPr id="213" name="Google Shape;213;p12"/>
          <p:cNvSpPr/>
          <p:nvPr/>
        </p:nvSpPr>
        <p:spPr>
          <a:xfrm>
            <a:off x="2717800" y="2514600"/>
            <a:ext cx="1320800" cy="22350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F6A8A"/>
              </a:buClr>
              <a:buSzPts val="1200"/>
              <a:buFont typeface="Tiro Bangla"/>
              <a:buNone/>
            </a:pPr>
            <a:r>
              <a:rPr b="1" i="0" lang="en-US" sz="1200" u="none" cap="none" strike="noStrike">
                <a:solidFill>
                  <a:srgbClr val="5F6A8A"/>
                </a:solidFill>
                <a:latin typeface="Tiro Bangla"/>
                <a:ea typeface="Tiro Bangla"/>
                <a:cs typeface="Tiro Bangla"/>
                <a:sym typeface="Tiro Bangla"/>
              </a:rPr>
              <a:t>ChatGPT</a:t>
            </a:r>
            <a:endParaRPr b="0" i="0" sz="1200" u="none" cap="none" strike="noStrike">
              <a:solidFill>
                <a:schemeClr val="dk1"/>
              </a:solidFill>
              <a:latin typeface="Tiro Bangla"/>
              <a:ea typeface="Tiro Bangla"/>
              <a:cs typeface="Tiro Bangla"/>
              <a:sym typeface="Tiro Bangla"/>
            </a:endParaRPr>
          </a:p>
        </p:txBody>
      </p:sp>
      <p:sp>
        <p:nvSpPr>
          <p:cNvPr id="214" name="Google Shape;214;p12"/>
          <p:cNvSpPr/>
          <p:nvPr/>
        </p:nvSpPr>
        <p:spPr>
          <a:xfrm>
            <a:off x="4232910" y="2514600"/>
            <a:ext cx="1831340" cy="223507"/>
          </a:xfrm>
          <a:prstGeom prst="rect">
            <a:avLst/>
          </a:prstGeom>
          <a:noFill/>
          <a:ln>
            <a:noFill/>
          </a:ln>
        </p:spPr>
        <p:txBody>
          <a:bodyPr anchorCtr="0" anchor="t" bIns="0" lIns="0" spcFirstLastPara="1" rIns="0" wrap="square" tIns="0">
            <a:noAutofit/>
          </a:bodyPr>
          <a:lstStyle/>
          <a:p>
            <a:pPr indent="0" lvl="0" marL="0" marR="0" rtl="0" algn="r">
              <a:lnSpc>
                <a:spcPct val="130000"/>
              </a:lnSpc>
              <a:spcBef>
                <a:spcPts val="0"/>
              </a:spcBef>
              <a:spcAft>
                <a:spcPts val="0"/>
              </a:spcAft>
              <a:buClr>
                <a:srgbClr val="5F6A8A"/>
              </a:buClr>
              <a:buSzPts val="1200"/>
              <a:buFont typeface="Tiro Bangla"/>
              <a:buNone/>
            </a:pPr>
            <a:r>
              <a:rPr b="1" i="0" lang="en-US" sz="1200" u="none" cap="none" strike="noStrike">
                <a:solidFill>
                  <a:srgbClr val="5F6A8A"/>
                </a:solidFill>
                <a:latin typeface="Tiro Bangla"/>
                <a:ea typeface="Tiro Bangla"/>
                <a:cs typeface="Tiro Bangla"/>
                <a:sym typeface="Tiro Bangla"/>
              </a:rPr>
              <a:t>অস্বাভাবিক ট্রাফিক</a:t>
            </a:r>
            <a:endParaRPr b="0" i="0" sz="1200" u="none" cap="none" strike="noStrike">
              <a:solidFill>
                <a:schemeClr val="dk1"/>
              </a:solidFill>
              <a:latin typeface="Tiro Bangla"/>
              <a:ea typeface="Tiro Bangla"/>
              <a:cs typeface="Tiro Bangla"/>
              <a:sym typeface="Tiro Bangla"/>
            </a:endParaRPr>
          </a:p>
        </p:txBody>
      </p:sp>
      <p:sp>
        <p:nvSpPr>
          <p:cNvPr id="215" name="Google Shape;215;p12"/>
          <p:cNvSpPr/>
          <p:nvPr/>
        </p:nvSpPr>
        <p:spPr>
          <a:xfrm>
            <a:off x="8382000" y="2540000"/>
            <a:ext cx="3087116" cy="22350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F6A8A"/>
              </a:buClr>
              <a:buSzPts val="1200"/>
              <a:buFont typeface="Tiro Bangla"/>
              <a:buNone/>
            </a:pPr>
            <a:r>
              <a:rPr b="1" i="0" lang="en-US" sz="1200" u="none" cap="none" strike="noStrike">
                <a:solidFill>
                  <a:srgbClr val="5F6A8A"/>
                </a:solidFill>
                <a:latin typeface="Tiro Bangla"/>
                <a:ea typeface="Tiro Bangla"/>
                <a:cs typeface="Tiro Bangla"/>
                <a:sym typeface="Tiro Bangla"/>
              </a:rPr>
              <a:t>২০২৪ → ২০২৬ · মাসিক গড়</a:t>
            </a:r>
            <a:endParaRPr b="0" i="0" sz="1200" u="none" cap="none" strike="noStrike">
              <a:solidFill>
                <a:schemeClr val="dk1"/>
              </a:solidFill>
              <a:latin typeface="Tiro Bangla"/>
              <a:ea typeface="Tiro Bangla"/>
              <a:cs typeface="Tiro Bangla"/>
              <a:sym typeface="Tiro Bangla"/>
            </a:endParaRPr>
          </a:p>
        </p:txBody>
      </p:sp>
      <p:sp>
        <p:nvSpPr>
          <p:cNvPr id="216" name="Google Shape;216;p12"/>
          <p:cNvSpPr/>
          <p:nvPr/>
        </p:nvSpPr>
        <p:spPr>
          <a:xfrm>
            <a:off x="8382000" y="2971800"/>
            <a:ext cx="304800" cy="44450"/>
          </a:xfrm>
          <a:prstGeom prst="rect">
            <a:avLst/>
          </a:prstGeom>
          <a:solidFill>
            <a:srgbClr val="C8501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p12"/>
          <p:cNvSpPr/>
          <p:nvPr/>
        </p:nvSpPr>
        <p:spPr>
          <a:xfrm>
            <a:off x="8788400" y="2870200"/>
            <a:ext cx="1169353" cy="27305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384D86"/>
              </a:buClr>
              <a:buSzPts val="1500"/>
              <a:buFont typeface="Tiro Bangla"/>
              <a:buNone/>
            </a:pPr>
            <a:r>
              <a:rPr b="1" i="0" lang="en-US" sz="1500" u="none" cap="none" strike="noStrike">
                <a:solidFill>
                  <a:srgbClr val="384D86"/>
                </a:solidFill>
                <a:latin typeface="Tiro Bangla"/>
                <a:ea typeface="Tiro Bangla"/>
                <a:cs typeface="Tiro Bangla"/>
                <a:sym typeface="Tiro Bangla"/>
              </a:rPr>
              <a:t>মানুষ </a:t>
            </a:r>
            <a:r>
              <a:rPr b="1" i="0" lang="en-US" sz="1500" u="none" cap="none" strike="noStrike">
                <a:solidFill>
                  <a:srgbClr val="C8501A"/>
                </a:solidFill>
                <a:latin typeface="Tiro Bangla"/>
                <a:ea typeface="Tiro Bangla"/>
                <a:cs typeface="Tiro Bangla"/>
                <a:sym typeface="Tiro Bangla"/>
              </a:rPr>
              <a:t>−৬৪%</a:t>
            </a:r>
            <a:endParaRPr b="0" i="0" sz="1500" u="none" cap="none" strike="noStrike">
              <a:solidFill>
                <a:schemeClr val="dk1"/>
              </a:solidFill>
              <a:latin typeface="Tiro Bangla"/>
              <a:ea typeface="Tiro Bangla"/>
              <a:cs typeface="Tiro Bangla"/>
              <a:sym typeface="Tiro Bangla"/>
            </a:endParaRPr>
          </a:p>
        </p:txBody>
      </p:sp>
      <p:sp>
        <p:nvSpPr>
          <p:cNvPr id="218" name="Google Shape;218;p12"/>
          <p:cNvSpPr/>
          <p:nvPr/>
        </p:nvSpPr>
        <p:spPr>
          <a:xfrm>
            <a:off x="8382000" y="3155950"/>
            <a:ext cx="3087116" cy="22350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২.৪৯ কোটি → ৯০ লাখ</a:t>
            </a:r>
            <a:endParaRPr b="0" i="0" sz="1200" u="none" cap="none" strike="noStrike">
              <a:solidFill>
                <a:schemeClr val="dk1"/>
              </a:solidFill>
              <a:latin typeface="Tiro Bangla"/>
              <a:ea typeface="Tiro Bangla"/>
              <a:cs typeface="Tiro Bangla"/>
              <a:sym typeface="Tiro Bangla"/>
            </a:endParaRPr>
          </a:p>
        </p:txBody>
      </p:sp>
      <p:cxnSp>
        <p:nvCxnSpPr>
          <p:cNvPr id="219" name="Google Shape;219;p12"/>
          <p:cNvCxnSpPr/>
          <p:nvPr/>
        </p:nvCxnSpPr>
        <p:spPr>
          <a:xfrm>
            <a:off x="8382000" y="3552825"/>
            <a:ext cx="304800" cy="0"/>
          </a:xfrm>
          <a:prstGeom prst="straightConnector1">
            <a:avLst/>
          </a:prstGeom>
          <a:noFill/>
          <a:ln cap="flat" cmpd="sng" w="38100">
            <a:solidFill>
              <a:srgbClr val="0E65C0"/>
            </a:solidFill>
            <a:prstDash val="dash"/>
            <a:round/>
            <a:headEnd len="sm" w="sm" type="none"/>
            <a:tailEnd len="sm" w="sm" type="none"/>
          </a:ln>
        </p:spPr>
      </p:cxnSp>
      <p:sp>
        <p:nvSpPr>
          <p:cNvPr id="220" name="Google Shape;220;p12"/>
          <p:cNvSpPr/>
          <p:nvPr/>
        </p:nvSpPr>
        <p:spPr>
          <a:xfrm>
            <a:off x="8788400" y="3429000"/>
            <a:ext cx="1917779" cy="27305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384D86"/>
              </a:buClr>
              <a:buSzPts val="1500"/>
              <a:buFont typeface="Tiro Bangla"/>
              <a:buNone/>
            </a:pPr>
            <a:r>
              <a:rPr b="1" i="0" lang="en-US" sz="1500" u="none" cap="none" strike="noStrike">
                <a:solidFill>
                  <a:srgbClr val="384D86"/>
                </a:solidFill>
                <a:latin typeface="Tiro Bangla"/>
                <a:ea typeface="Tiro Bangla"/>
                <a:cs typeface="Tiro Bangla"/>
                <a:sym typeface="Tiro Bangla"/>
              </a:rPr>
              <a:t>ছদ্মবেশী বট </a:t>
            </a:r>
            <a:r>
              <a:rPr b="1" i="0" lang="en-US" sz="1500" u="none" cap="none" strike="noStrike">
                <a:solidFill>
                  <a:srgbClr val="0E65C0"/>
                </a:solidFill>
                <a:latin typeface="Tiro Bangla"/>
                <a:ea typeface="Tiro Bangla"/>
                <a:cs typeface="Tiro Bangla"/>
                <a:sym typeface="Tiro Bangla"/>
              </a:rPr>
              <a:t>৩.২ গুণ</a:t>
            </a:r>
            <a:endParaRPr b="0" i="0" sz="1500" u="none" cap="none" strike="noStrike">
              <a:solidFill>
                <a:schemeClr val="dk1"/>
              </a:solidFill>
              <a:latin typeface="Tiro Bangla"/>
              <a:ea typeface="Tiro Bangla"/>
              <a:cs typeface="Tiro Bangla"/>
              <a:sym typeface="Tiro Bangla"/>
            </a:endParaRPr>
          </a:p>
        </p:txBody>
      </p:sp>
      <p:sp>
        <p:nvSpPr>
          <p:cNvPr id="221" name="Google Shape;221;p12"/>
          <p:cNvSpPr/>
          <p:nvPr/>
        </p:nvSpPr>
        <p:spPr>
          <a:xfrm>
            <a:off x="8382000" y="3714750"/>
            <a:ext cx="3087116" cy="22350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৩৬ লাখ → ১.১৫ কোটি</a:t>
            </a:r>
            <a:endParaRPr b="0" i="0" sz="1200" u="none" cap="none" strike="noStrike">
              <a:solidFill>
                <a:schemeClr val="dk1"/>
              </a:solidFill>
              <a:latin typeface="Tiro Bangla"/>
              <a:ea typeface="Tiro Bangla"/>
              <a:cs typeface="Tiro Bangla"/>
              <a:sym typeface="Tiro Bangla"/>
            </a:endParaRPr>
          </a:p>
        </p:txBody>
      </p:sp>
      <p:sp>
        <p:nvSpPr>
          <p:cNvPr id="222" name="Google Shape;222;p12"/>
          <p:cNvSpPr/>
          <p:nvPr/>
        </p:nvSpPr>
        <p:spPr>
          <a:xfrm>
            <a:off x="8382000" y="4095750"/>
            <a:ext cx="304800" cy="31750"/>
          </a:xfrm>
          <a:prstGeom prst="rect">
            <a:avLst/>
          </a:prstGeom>
          <a:solidFill>
            <a:srgbClr val="8A93A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12"/>
          <p:cNvSpPr/>
          <p:nvPr/>
        </p:nvSpPr>
        <p:spPr>
          <a:xfrm>
            <a:off x="8788400" y="3987800"/>
            <a:ext cx="1265317" cy="27305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384D86"/>
              </a:buClr>
              <a:buSzPts val="1500"/>
              <a:buFont typeface="Tiro Bangla"/>
              <a:buNone/>
            </a:pPr>
            <a:r>
              <a:rPr b="1" i="0" lang="en-US" sz="1500" u="none" cap="none" strike="noStrike">
                <a:solidFill>
                  <a:srgbClr val="384D86"/>
                </a:solidFill>
                <a:latin typeface="Tiro Bangla"/>
                <a:ea typeface="Tiro Bangla"/>
                <a:cs typeface="Tiro Bangla"/>
                <a:sym typeface="Tiro Bangla"/>
              </a:rPr>
              <a:t>ক্রলার </a:t>
            </a:r>
            <a:r>
              <a:rPr b="1" i="0" lang="en-US" sz="1500" u="none" cap="none" strike="noStrike">
                <a:solidFill>
                  <a:srgbClr val="5F6A8A"/>
                </a:solidFill>
                <a:latin typeface="Tiro Bangla"/>
                <a:ea typeface="Tiro Bangla"/>
                <a:cs typeface="Tiro Bangla"/>
                <a:sym typeface="Tiro Bangla"/>
              </a:rPr>
              <a:t>−২২%</a:t>
            </a:r>
            <a:endParaRPr b="0" i="0" sz="1500" u="none" cap="none" strike="noStrike">
              <a:solidFill>
                <a:schemeClr val="dk1"/>
              </a:solidFill>
              <a:latin typeface="Tiro Bangla"/>
              <a:ea typeface="Tiro Bangla"/>
              <a:cs typeface="Tiro Bangla"/>
              <a:sym typeface="Tiro Bangla"/>
            </a:endParaRPr>
          </a:p>
        </p:txBody>
      </p:sp>
      <p:sp>
        <p:nvSpPr>
          <p:cNvPr id="224" name="Google Shape;224;p12"/>
          <p:cNvSpPr/>
          <p:nvPr/>
        </p:nvSpPr>
        <p:spPr>
          <a:xfrm>
            <a:off x="8382000" y="4273550"/>
            <a:ext cx="3087116" cy="22350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১.৩২ কোটি → ১.০৩ কোটি</a:t>
            </a:r>
            <a:endParaRPr b="0" i="0" sz="1200" u="none" cap="none" strike="noStrike">
              <a:solidFill>
                <a:schemeClr val="dk1"/>
              </a:solidFill>
              <a:latin typeface="Tiro Bangla"/>
              <a:ea typeface="Tiro Bangla"/>
              <a:cs typeface="Tiro Bangla"/>
              <a:sym typeface="Tiro Bangla"/>
            </a:endParaRPr>
          </a:p>
        </p:txBody>
      </p:sp>
      <p:sp>
        <p:nvSpPr>
          <p:cNvPr id="225" name="Google Shape;225;p12"/>
          <p:cNvSpPr/>
          <p:nvPr/>
        </p:nvSpPr>
        <p:spPr>
          <a:xfrm>
            <a:off x="8382000" y="4546600"/>
            <a:ext cx="3087116" cy="27305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384D86"/>
              </a:buClr>
              <a:buSzPts val="1500"/>
              <a:buFont typeface="Tiro Bangla"/>
              <a:buNone/>
            </a:pPr>
            <a:r>
              <a:rPr b="1" i="0" lang="en-US" sz="1500" u="none" cap="none" strike="noStrike">
                <a:solidFill>
                  <a:srgbClr val="384D86"/>
                </a:solidFill>
                <a:latin typeface="Tiro Bangla"/>
                <a:ea typeface="Tiro Bangla"/>
                <a:cs typeface="Tiro Bangla"/>
                <a:sym typeface="Tiro Bangla"/>
              </a:rPr>
              <a:t>সব মিলিয়ে </a:t>
            </a:r>
            <a:r>
              <a:rPr b="1" i="0" lang="en-US" sz="1500" u="none" cap="none" strike="noStrike">
                <a:solidFill>
                  <a:srgbClr val="5F6A8A"/>
                </a:solidFill>
                <a:latin typeface="Tiro Bangla"/>
                <a:ea typeface="Tiro Bangla"/>
                <a:cs typeface="Tiro Bangla"/>
                <a:sym typeface="Tiro Bangla"/>
              </a:rPr>
              <a:t>−২৬%</a:t>
            </a:r>
            <a:endParaRPr b="0" i="0" sz="1500" u="none" cap="none" strike="noStrike">
              <a:solidFill>
                <a:schemeClr val="dk1"/>
              </a:solidFill>
              <a:latin typeface="Tiro Bangla"/>
              <a:ea typeface="Tiro Bangla"/>
              <a:cs typeface="Tiro Bangla"/>
              <a:sym typeface="Tiro Bangla"/>
            </a:endParaRPr>
          </a:p>
        </p:txBody>
      </p:sp>
      <p:sp>
        <p:nvSpPr>
          <p:cNvPr id="226" name="Google Shape;226;p12"/>
          <p:cNvSpPr/>
          <p:nvPr/>
        </p:nvSpPr>
        <p:spPr>
          <a:xfrm>
            <a:off x="8382000" y="4832350"/>
            <a:ext cx="3087116" cy="22350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৪.১৭ কোটি → ৩.০৮ কোটি</a:t>
            </a:r>
            <a:endParaRPr b="0" i="0" sz="1200" u="none" cap="none" strike="noStrike">
              <a:solidFill>
                <a:schemeClr val="dk1"/>
              </a:solidFill>
              <a:latin typeface="Tiro Bangla"/>
              <a:ea typeface="Tiro Bangla"/>
              <a:cs typeface="Tiro Bangla"/>
              <a:sym typeface="Tiro Bangla"/>
            </a:endParaRPr>
          </a:p>
        </p:txBody>
      </p:sp>
      <p:sp>
        <p:nvSpPr>
          <p:cNvPr id="227" name="Google Shape;227;p12"/>
          <p:cNvSpPr/>
          <p:nvPr/>
        </p:nvSpPr>
        <p:spPr>
          <a:xfrm>
            <a:off x="8382000" y="5156200"/>
            <a:ext cx="3087116" cy="436827"/>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0E65C0"/>
              </a:buClr>
              <a:buSzPts val="1200"/>
              <a:buFont typeface="Tiro Bangla"/>
              <a:buNone/>
            </a:pPr>
            <a:r>
              <a:rPr b="1" i="0" lang="en-US" sz="1200" u="none" cap="none" strike="noStrike">
                <a:solidFill>
                  <a:srgbClr val="0E65C0"/>
                </a:solidFill>
                <a:latin typeface="Tiro Bangla"/>
                <a:ea typeface="Tiro Bangla"/>
                <a:cs typeface="Tiro Bangla"/>
                <a:sym typeface="Tiro Bangla"/>
              </a:rPr>
              <a:t>২০২৬-এর ৯ মাসের ৭টিতেই ছদ্মবেশী বটের পেজভিউ মানুষের চেয়ে বেশি</a:t>
            </a:r>
            <a:endParaRPr b="0" i="0" sz="1200" u="none" cap="none" strike="noStrike">
              <a:solidFill>
                <a:schemeClr val="dk1"/>
              </a:solidFill>
              <a:latin typeface="Tiro Bangla"/>
              <a:ea typeface="Tiro Bangla"/>
              <a:cs typeface="Tiro Bangla"/>
              <a:sym typeface="Tiro Bangla"/>
            </a:endParaRPr>
          </a:p>
        </p:txBody>
      </p:sp>
      <p:sp>
        <p:nvSpPr>
          <p:cNvPr id="228" name="Google Shape;228;p12"/>
          <p:cNvSpPr/>
          <p:nvPr/>
        </p:nvSpPr>
        <p:spPr>
          <a:xfrm>
            <a:off x="812800" y="6236959"/>
            <a:ext cx="99822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F6A8A"/>
              </a:buClr>
              <a:buSzPts val="1200"/>
              <a:buFont typeface="Tiro Bangla"/>
              <a:buNone/>
            </a:pPr>
            <a:r>
              <a:rPr b="0" i="0" lang="en-US" sz="1100" u="none" cap="none" strike="noStrike">
                <a:solidFill>
                  <a:srgbClr val="5F6A8A"/>
                </a:solidFill>
                <a:latin typeface="Tiro Bangla"/>
                <a:ea typeface="Tiro Bangla"/>
                <a:cs typeface="Tiro Bangla"/>
                <a:sym typeface="Tiro Bangla"/>
              </a:rPr>
              <a:t>জানুয়ারি ২০২২ – সেপ্টেম্বর ২০২৬ · মার্চ ২০২৫ থেকে বট চেনার নতুন নিয়ম, তার আগে পুরোনো · উৎস: উইকিমিডিয়া পেজভিউ API · Diff, ১৭ অক্টোবর ২০২৫</a:t>
            </a:r>
            <a:endParaRPr b="0" i="0" sz="1100" u="none" cap="none" strike="noStrike">
              <a:solidFill>
                <a:schemeClr val="dk1"/>
              </a:solidFill>
              <a:latin typeface="Tiro Bangla"/>
              <a:ea typeface="Tiro Bangla"/>
              <a:cs typeface="Tiro Bangla"/>
              <a:sym typeface="Tiro Bangla"/>
            </a:endParaRPr>
          </a:p>
        </p:txBody>
      </p:sp>
      <p:sp>
        <p:nvSpPr>
          <p:cNvPr id="229" name="Google Shape;229;p12"/>
          <p:cNvSpPr/>
          <p:nvPr/>
        </p:nvSpPr>
        <p:spPr>
          <a:xfrm>
            <a:off x="10972536" y="6236959"/>
            <a:ext cx="457465"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৫ / ১৯</a:t>
            </a:r>
            <a:endParaRPr b="0" i="0" sz="1200" u="none" cap="none" strike="noStrike">
              <a:solidFill>
                <a:schemeClr val="dk1"/>
              </a:solidFill>
              <a:latin typeface="Tiro Bangla"/>
              <a:ea typeface="Tiro Bangla"/>
              <a:cs typeface="Tiro Bangla"/>
              <a:sym typeface="Tiro Bangla"/>
            </a:endParaRPr>
          </a:p>
        </p:txBody>
      </p:sp>
      <p:pic>
        <p:nvPicPr>
          <p:cNvPr descr="বাংলা উইকিসম্মেলন ২০২৬ লোগো" id="230" name="Google Shape;230;p12"/>
          <p:cNvPicPr preferRelativeResize="0"/>
          <p:nvPr/>
        </p:nvPicPr>
        <p:blipFill rotWithShape="1">
          <a:blip r:embed="rId6">
            <a:alphaModFix/>
          </a:blip>
          <a:srcRect b="0" l="0" r="0" t="0"/>
          <a:stretch/>
        </p:blipFill>
        <p:spPr>
          <a:xfrm>
            <a:off x="10314432" y="365760"/>
            <a:ext cx="1115568" cy="66686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8DA"/>
        </a:solidFill>
      </p:bgPr>
    </p:bg>
    <p:spTree>
      <p:nvGrpSpPr>
        <p:cNvPr id="235" name="Shape 235"/>
        <p:cNvGrpSpPr/>
        <p:nvPr/>
      </p:nvGrpSpPr>
      <p:grpSpPr>
        <a:xfrm>
          <a:off x="0" y="0"/>
          <a:ext cx="0" cy="0"/>
          <a:chOff x="0" y="0"/>
          <a:chExt cx="0" cy="0"/>
        </a:xfrm>
      </p:grpSpPr>
      <p:sp>
        <p:nvSpPr>
          <p:cNvPr id="236" name="Google Shape;236;p13"/>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8501A"/>
              </a:buClr>
              <a:buSzPts val="1200"/>
              <a:buFont typeface="Tiro Bangla"/>
              <a:buNone/>
            </a:pPr>
            <a:r>
              <a:rPr b="1" i="0" lang="en-US" sz="1200" u="none" cap="none" strike="noStrike">
                <a:solidFill>
                  <a:srgbClr val="C8501A"/>
                </a:solidFill>
                <a:latin typeface="Tiro Bangla"/>
                <a:ea typeface="Tiro Bangla"/>
                <a:cs typeface="Tiro Bangla"/>
                <a:sym typeface="Tiro Bangla"/>
              </a:rPr>
              <a:t>পাঠক · ৩</a:t>
            </a:r>
            <a:endParaRPr b="0" i="0" sz="1200" u="none" cap="none" strike="noStrike">
              <a:solidFill>
                <a:schemeClr val="dk1"/>
              </a:solidFill>
              <a:latin typeface="Tiro Bangla"/>
              <a:ea typeface="Tiro Bangla"/>
              <a:cs typeface="Tiro Bangla"/>
              <a:sym typeface="Tiro Bangla"/>
            </a:endParaRPr>
          </a:p>
        </p:txBody>
      </p:sp>
      <p:sp>
        <p:nvSpPr>
          <p:cNvPr id="237" name="Google Shape;237;p13"/>
          <p:cNvSpPr/>
          <p:nvPr/>
        </p:nvSpPr>
        <p:spPr>
          <a:xfrm>
            <a:off x="812800" y="1127720"/>
            <a:ext cx="9810750" cy="49272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84D86"/>
              </a:buClr>
              <a:buSzPts val="3200"/>
              <a:buFont typeface="Tiro Bangla"/>
              <a:buNone/>
            </a:pPr>
            <a:r>
              <a:rPr b="0" i="0" lang="en-US" sz="3200" u="none" cap="none" strike="noStrike">
                <a:solidFill>
                  <a:srgbClr val="384D86"/>
                </a:solidFill>
                <a:latin typeface="Tiro Bangla"/>
                <a:ea typeface="Tiro Bangla"/>
                <a:cs typeface="Tiro Bangla"/>
                <a:sym typeface="Tiro Bangla"/>
              </a:rPr>
              <a:t>মানুষ ঘুমায়, যন্ত্র ঘুমায় না</a:t>
            </a:r>
            <a:endParaRPr b="0" i="0" sz="3200" u="none" cap="none" strike="noStrike">
              <a:solidFill>
                <a:schemeClr val="dk1"/>
              </a:solidFill>
              <a:latin typeface="Tiro Bangla"/>
              <a:ea typeface="Tiro Bangla"/>
              <a:cs typeface="Tiro Bangla"/>
              <a:sym typeface="Tiro Bangla"/>
            </a:endParaRPr>
          </a:p>
        </p:txBody>
      </p:sp>
      <p:pic>
        <p:nvPicPr>
          <p:cNvPr descr="দিনের প্রতি ঘণ্টায় মানুষের গড় পেজভিউ, ২০২৪" id="238" name="Google Shape;238;p13"/>
          <p:cNvPicPr preferRelativeResize="0"/>
          <p:nvPr/>
        </p:nvPicPr>
        <p:blipFill rotWithShape="1">
          <a:blip r:embed="rId3">
            <a:alphaModFix/>
          </a:blip>
          <a:srcRect b="0" l="0" r="0" t="0"/>
          <a:stretch/>
        </p:blipFill>
        <p:spPr>
          <a:xfrm>
            <a:off x="1521346" y="2540000"/>
            <a:ext cx="6477000" cy="2984500"/>
          </a:xfrm>
          <a:prstGeom prst="rect">
            <a:avLst/>
          </a:prstGeom>
          <a:noFill/>
          <a:ln>
            <a:noFill/>
          </a:ln>
        </p:spPr>
      </p:pic>
      <p:sp>
        <p:nvSpPr>
          <p:cNvPr id="239" name="Google Shape;239;p13"/>
          <p:cNvSpPr/>
          <p:nvPr/>
        </p:nvSpPr>
        <p:spPr>
          <a:xfrm>
            <a:off x="711200" y="5410200"/>
            <a:ext cx="723900" cy="223507"/>
          </a:xfrm>
          <a:prstGeom prst="rect">
            <a:avLst/>
          </a:prstGeom>
          <a:noFill/>
          <a:ln>
            <a:noFill/>
          </a:ln>
        </p:spPr>
        <p:txBody>
          <a:bodyPr anchorCtr="0" anchor="t" bIns="0" lIns="0" spcFirstLastPara="1" rIns="0" wrap="square" tIns="0">
            <a:noAutofit/>
          </a:bodyPr>
          <a:lstStyle/>
          <a:p>
            <a:pPr indent="0" lvl="0" marL="0" marR="0" rtl="0" algn="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০</a:t>
            </a:r>
            <a:endParaRPr b="0" i="0" sz="1200" u="none" cap="none" strike="noStrike">
              <a:solidFill>
                <a:schemeClr val="dk1"/>
              </a:solidFill>
              <a:latin typeface="Tiro Bangla"/>
              <a:ea typeface="Tiro Bangla"/>
              <a:cs typeface="Tiro Bangla"/>
              <a:sym typeface="Tiro Bangla"/>
            </a:endParaRPr>
          </a:p>
        </p:txBody>
      </p:sp>
      <p:sp>
        <p:nvSpPr>
          <p:cNvPr id="240" name="Google Shape;240;p13"/>
          <p:cNvSpPr/>
          <p:nvPr/>
        </p:nvSpPr>
        <p:spPr>
          <a:xfrm>
            <a:off x="711200" y="4476750"/>
            <a:ext cx="723900" cy="223507"/>
          </a:xfrm>
          <a:prstGeom prst="rect">
            <a:avLst/>
          </a:prstGeom>
          <a:noFill/>
          <a:ln>
            <a:noFill/>
          </a:ln>
        </p:spPr>
        <p:txBody>
          <a:bodyPr anchorCtr="0" anchor="t" bIns="0" lIns="0" spcFirstLastPara="1" rIns="0" wrap="square" tIns="0">
            <a:noAutofit/>
          </a:bodyPr>
          <a:lstStyle/>
          <a:p>
            <a:pPr indent="0" lvl="0" marL="0" marR="0" rtl="0" algn="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 হাজার</a:t>
            </a:r>
            <a:endParaRPr b="0" i="0" sz="1200" u="none" cap="none" strike="noStrike">
              <a:solidFill>
                <a:schemeClr val="dk1"/>
              </a:solidFill>
              <a:latin typeface="Tiro Bangla"/>
              <a:ea typeface="Tiro Bangla"/>
              <a:cs typeface="Tiro Bangla"/>
              <a:sym typeface="Tiro Bangla"/>
            </a:endParaRPr>
          </a:p>
        </p:txBody>
      </p:sp>
      <p:sp>
        <p:nvSpPr>
          <p:cNvPr id="241" name="Google Shape;241;p13"/>
          <p:cNvSpPr/>
          <p:nvPr/>
        </p:nvSpPr>
        <p:spPr>
          <a:xfrm>
            <a:off x="711200" y="3543300"/>
            <a:ext cx="723900" cy="223507"/>
          </a:xfrm>
          <a:prstGeom prst="rect">
            <a:avLst/>
          </a:prstGeom>
          <a:noFill/>
          <a:ln>
            <a:noFill/>
          </a:ln>
        </p:spPr>
        <p:txBody>
          <a:bodyPr anchorCtr="0" anchor="t" bIns="0" lIns="0" spcFirstLastPara="1" rIns="0" wrap="square" tIns="0">
            <a:noAutofit/>
          </a:bodyPr>
          <a:lstStyle/>
          <a:p>
            <a:pPr indent="0" lvl="0" marL="0" marR="0" rtl="0" algn="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৪০ হাজার</a:t>
            </a:r>
            <a:endParaRPr b="0" i="0" sz="1200" u="none" cap="none" strike="noStrike">
              <a:solidFill>
                <a:schemeClr val="dk1"/>
              </a:solidFill>
              <a:latin typeface="Tiro Bangla"/>
              <a:ea typeface="Tiro Bangla"/>
              <a:cs typeface="Tiro Bangla"/>
              <a:sym typeface="Tiro Bangla"/>
            </a:endParaRPr>
          </a:p>
        </p:txBody>
      </p:sp>
      <p:sp>
        <p:nvSpPr>
          <p:cNvPr id="242" name="Google Shape;242;p13"/>
          <p:cNvSpPr/>
          <p:nvPr/>
        </p:nvSpPr>
        <p:spPr>
          <a:xfrm>
            <a:off x="711200" y="2609850"/>
            <a:ext cx="723900" cy="223507"/>
          </a:xfrm>
          <a:prstGeom prst="rect">
            <a:avLst/>
          </a:prstGeom>
          <a:noFill/>
          <a:ln>
            <a:noFill/>
          </a:ln>
        </p:spPr>
        <p:txBody>
          <a:bodyPr anchorCtr="0" anchor="t" bIns="0" lIns="0" spcFirstLastPara="1" rIns="0" wrap="square" tIns="0">
            <a:noAutofit/>
          </a:bodyPr>
          <a:lstStyle/>
          <a:p>
            <a:pPr indent="0" lvl="0" marL="0" marR="0" rtl="0" algn="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৬০ হাজার</a:t>
            </a:r>
            <a:endParaRPr b="0" i="0" sz="1200" u="none" cap="none" strike="noStrike">
              <a:solidFill>
                <a:schemeClr val="dk1"/>
              </a:solidFill>
              <a:latin typeface="Tiro Bangla"/>
              <a:ea typeface="Tiro Bangla"/>
              <a:cs typeface="Tiro Bangla"/>
              <a:sym typeface="Tiro Bangla"/>
            </a:endParaRPr>
          </a:p>
        </p:txBody>
      </p:sp>
      <p:sp>
        <p:nvSpPr>
          <p:cNvPr id="243" name="Google Shape;243;p13"/>
          <p:cNvSpPr/>
          <p:nvPr/>
        </p:nvSpPr>
        <p:spPr>
          <a:xfrm>
            <a:off x="1028700" y="5600700"/>
            <a:ext cx="939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রাত ১২টা</a:t>
            </a:r>
            <a:endParaRPr b="0" i="0" sz="1200" u="none" cap="none" strike="noStrike">
              <a:solidFill>
                <a:schemeClr val="dk1"/>
              </a:solidFill>
              <a:latin typeface="Tiro Bangla"/>
              <a:ea typeface="Tiro Bangla"/>
              <a:cs typeface="Tiro Bangla"/>
              <a:sym typeface="Tiro Bangla"/>
            </a:endParaRPr>
          </a:p>
        </p:txBody>
      </p:sp>
      <p:sp>
        <p:nvSpPr>
          <p:cNvPr id="244" name="Google Shape;244;p13"/>
          <p:cNvSpPr/>
          <p:nvPr/>
        </p:nvSpPr>
        <p:spPr>
          <a:xfrm>
            <a:off x="2152650" y="5600700"/>
            <a:ext cx="939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ভোর ৪টা</a:t>
            </a:r>
            <a:endParaRPr b="0" i="0" sz="1200" u="none" cap="none" strike="noStrike">
              <a:solidFill>
                <a:schemeClr val="dk1"/>
              </a:solidFill>
              <a:latin typeface="Tiro Bangla"/>
              <a:ea typeface="Tiro Bangla"/>
              <a:cs typeface="Tiro Bangla"/>
              <a:sym typeface="Tiro Bangla"/>
            </a:endParaRPr>
          </a:p>
        </p:txBody>
      </p:sp>
      <p:sp>
        <p:nvSpPr>
          <p:cNvPr id="245" name="Google Shape;245;p13"/>
          <p:cNvSpPr/>
          <p:nvPr/>
        </p:nvSpPr>
        <p:spPr>
          <a:xfrm>
            <a:off x="3562350" y="5600700"/>
            <a:ext cx="939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সকাল ৯টা</a:t>
            </a:r>
            <a:endParaRPr b="0" i="0" sz="1200" u="none" cap="none" strike="noStrike">
              <a:solidFill>
                <a:schemeClr val="dk1"/>
              </a:solidFill>
              <a:latin typeface="Tiro Bangla"/>
              <a:ea typeface="Tiro Bangla"/>
              <a:cs typeface="Tiro Bangla"/>
              <a:sym typeface="Tiro Bangla"/>
            </a:endParaRPr>
          </a:p>
        </p:txBody>
      </p:sp>
      <p:sp>
        <p:nvSpPr>
          <p:cNvPr id="246" name="Google Shape;246;p13"/>
          <p:cNvSpPr/>
          <p:nvPr/>
        </p:nvSpPr>
        <p:spPr>
          <a:xfrm>
            <a:off x="4972050" y="5600700"/>
            <a:ext cx="939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দুপুর ২টা</a:t>
            </a:r>
            <a:endParaRPr b="0" i="0" sz="1200" u="none" cap="none" strike="noStrike">
              <a:solidFill>
                <a:schemeClr val="dk1"/>
              </a:solidFill>
              <a:latin typeface="Tiro Bangla"/>
              <a:ea typeface="Tiro Bangla"/>
              <a:cs typeface="Tiro Bangla"/>
              <a:sym typeface="Tiro Bangla"/>
            </a:endParaRPr>
          </a:p>
        </p:txBody>
      </p:sp>
      <p:sp>
        <p:nvSpPr>
          <p:cNvPr id="247" name="Google Shape;247;p13"/>
          <p:cNvSpPr/>
          <p:nvPr/>
        </p:nvSpPr>
        <p:spPr>
          <a:xfrm>
            <a:off x="6096000" y="5600700"/>
            <a:ext cx="939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সন্ধ্যা ৬টা</a:t>
            </a:r>
            <a:endParaRPr b="0" i="0" sz="1200" u="none" cap="none" strike="noStrike">
              <a:solidFill>
                <a:schemeClr val="dk1"/>
              </a:solidFill>
              <a:latin typeface="Tiro Bangla"/>
              <a:ea typeface="Tiro Bangla"/>
              <a:cs typeface="Tiro Bangla"/>
              <a:sym typeface="Tiro Bangla"/>
            </a:endParaRPr>
          </a:p>
        </p:txBody>
      </p:sp>
      <p:sp>
        <p:nvSpPr>
          <p:cNvPr id="248" name="Google Shape;248;p13"/>
          <p:cNvSpPr/>
          <p:nvPr/>
        </p:nvSpPr>
        <p:spPr>
          <a:xfrm>
            <a:off x="6940550" y="5600700"/>
            <a:ext cx="939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রাত ৯টা</a:t>
            </a:r>
            <a:endParaRPr b="0" i="0" sz="1200" u="none" cap="none" strike="noStrike">
              <a:solidFill>
                <a:schemeClr val="dk1"/>
              </a:solidFill>
              <a:latin typeface="Tiro Bangla"/>
              <a:ea typeface="Tiro Bangla"/>
              <a:cs typeface="Tiro Bangla"/>
              <a:sym typeface="Tiro Bangla"/>
            </a:endParaRPr>
          </a:p>
        </p:txBody>
      </p:sp>
      <p:sp>
        <p:nvSpPr>
          <p:cNvPr id="249" name="Google Shape;249;p13"/>
          <p:cNvSpPr/>
          <p:nvPr/>
        </p:nvSpPr>
        <p:spPr>
          <a:xfrm>
            <a:off x="5791200" y="2514600"/>
            <a:ext cx="1193800" cy="273050"/>
          </a:xfrm>
          <a:prstGeom prst="rect">
            <a:avLst/>
          </a:prstGeom>
          <a:noFill/>
          <a:ln>
            <a:noFill/>
          </a:ln>
        </p:spPr>
        <p:txBody>
          <a:bodyPr anchorCtr="0" anchor="t" bIns="0" lIns="0" spcFirstLastPara="1" rIns="0" wrap="square" tIns="0">
            <a:noAutofit/>
          </a:bodyPr>
          <a:lstStyle/>
          <a:p>
            <a:pPr indent="0" lvl="0" marL="0" marR="0" rtl="0" algn="r">
              <a:lnSpc>
                <a:spcPct val="130000"/>
              </a:lnSpc>
              <a:spcBef>
                <a:spcPts val="0"/>
              </a:spcBef>
              <a:spcAft>
                <a:spcPts val="0"/>
              </a:spcAft>
              <a:buClr>
                <a:srgbClr val="C8501A"/>
              </a:buClr>
              <a:buSzPts val="1500"/>
              <a:buFont typeface="Tiro Bangla"/>
              <a:buNone/>
            </a:pPr>
            <a:r>
              <a:rPr b="1" i="0" lang="en-US" sz="1500" u="none" cap="none" strike="noStrike">
                <a:solidFill>
                  <a:srgbClr val="C8501A"/>
                </a:solidFill>
                <a:latin typeface="Tiro Bangla"/>
                <a:ea typeface="Tiro Bangla"/>
                <a:cs typeface="Tiro Bangla"/>
                <a:sym typeface="Tiro Bangla"/>
              </a:rPr>
              <a:t>৫৮ হাজার</a:t>
            </a:r>
            <a:endParaRPr b="0" i="0" sz="1500" u="none" cap="none" strike="noStrike">
              <a:solidFill>
                <a:schemeClr val="dk1"/>
              </a:solidFill>
              <a:latin typeface="Tiro Bangla"/>
              <a:ea typeface="Tiro Bangla"/>
              <a:cs typeface="Tiro Bangla"/>
              <a:sym typeface="Tiro Bangla"/>
            </a:endParaRPr>
          </a:p>
        </p:txBody>
      </p:sp>
      <p:cxnSp>
        <p:nvCxnSpPr>
          <p:cNvPr id="250" name="Google Shape;250;p13"/>
          <p:cNvCxnSpPr/>
          <p:nvPr/>
        </p:nvCxnSpPr>
        <p:spPr>
          <a:xfrm>
            <a:off x="8382000" y="2640081"/>
            <a:ext cx="304800" cy="0"/>
          </a:xfrm>
          <a:prstGeom prst="straightConnector1">
            <a:avLst/>
          </a:prstGeom>
          <a:noFill/>
          <a:ln cap="flat" cmpd="sng" w="31750">
            <a:solidFill>
              <a:srgbClr val="C8501A"/>
            </a:solidFill>
            <a:prstDash val="dot"/>
            <a:round/>
            <a:headEnd len="sm" w="sm" type="none"/>
            <a:tailEnd len="sm" w="sm" type="none"/>
          </a:ln>
        </p:spPr>
      </p:cxnSp>
      <p:sp>
        <p:nvSpPr>
          <p:cNvPr id="251" name="Google Shape;251;p13"/>
          <p:cNvSpPr/>
          <p:nvPr/>
        </p:nvSpPr>
        <p:spPr>
          <a:xfrm>
            <a:off x="8788400" y="2540000"/>
            <a:ext cx="939165" cy="22350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384D86"/>
              </a:buClr>
              <a:buSzPts val="1200"/>
              <a:buFont typeface="Tiro Bangla"/>
              <a:buNone/>
            </a:pPr>
            <a:r>
              <a:rPr b="1" i="0" lang="en-US" sz="1200" u="none" cap="none" strike="noStrike">
                <a:solidFill>
                  <a:srgbClr val="384D86"/>
                </a:solidFill>
                <a:latin typeface="Tiro Bangla"/>
                <a:ea typeface="Tiro Bangla"/>
                <a:cs typeface="Tiro Bangla"/>
                <a:sym typeface="Tiro Bangla"/>
              </a:rPr>
              <a:t>মানুষ, ২০২৪</a:t>
            </a:r>
            <a:endParaRPr b="0" i="0" sz="1200" u="none" cap="none" strike="noStrike">
              <a:solidFill>
                <a:schemeClr val="dk1"/>
              </a:solidFill>
              <a:latin typeface="Tiro Bangla"/>
              <a:ea typeface="Tiro Bangla"/>
              <a:cs typeface="Tiro Bangla"/>
              <a:sym typeface="Tiro Bangla"/>
            </a:endParaRPr>
          </a:p>
        </p:txBody>
      </p:sp>
      <p:sp>
        <p:nvSpPr>
          <p:cNvPr id="252" name="Google Shape;252;p13"/>
          <p:cNvSpPr/>
          <p:nvPr/>
        </p:nvSpPr>
        <p:spPr>
          <a:xfrm>
            <a:off x="812800" y="6236959"/>
            <a:ext cx="7050088"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প্রতি ঘণ্টার গড় পেজভিউ, বাংলাদেশ সময় · জানুয়ারি–সেপ্টেম্বর · উৎস: উইকিমিডিয়া পেজভিউ API</a:t>
            </a:r>
            <a:endParaRPr b="0" i="0" sz="1200" u="none" cap="none" strike="noStrike">
              <a:solidFill>
                <a:schemeClr val="dk1"/>
              </a:solidFill>
              <a:latin typeface="Tiro Bangla"/>
              <a:ea typeface="Tiro Bangla"/>
              <a:cs typeface="Tiro Bangla"/>
              <a:sym typeface="Tiro Bangla"/>
            </a:endParaRPr>
          </a:p>
        </p:txBody>
      </p:sp>
      <p:sp>
        <p:nvSpPr>
          <p:cNvPr id="253" name="Google Shape;253;p13"/>
          <p:cNvSpPr/>
          <p:nvPr/>
        </p:nvSpPr>
        <p:spPr>
          <a:xfrm>
            <a:off x="10972536" y="6236959"/>
            <a:ext cx="457465"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৬ / ১৯</a:t>
            </a:r>
            <a:endParaRPr b="0" i="0" sz="1200" u="none" cap="none" strike="noStrike">
              <a:solidFill>
                <a:schemeClr val="dk1"/>
              </a:solidFill>
              <a:latin typeface="Tiro Bangla"/>
              <a:ea typeface="Tiro Bangla"/>
              <a:cs typeface="Tiro Bangla"/>
              <a:sym typeface="Tiro Bangla"/>
            </a:endParaRPr>
          </a:p>
        </p:txBody>
      </p:sp>
      <p:pic>
        <p:nvPicPr>
          <p:cNvPr descr="বাংলা উইকিসম্মেলন ২০২৬ লোগো" id="254" name="Google Shape;254;p13"/>
          <p:cNvPicPr preferRelativeResize="0"/>
          <p:nvPr/>
        </p:nvPicPr>
        <p:blipFill rotWithShape="1">
          <a:blip r:embed="rId4">
            <a:alphaModFix/>
          </a:blip>
          <a:srcRect b="0" l="0" r="0" t="0"/>
          <a:stretch/>
        </p:blipFill>
        <p:spPr>
          <a:xfrm>
            <a:off x="10314432" y="365760"/>
            <a:ext cx="1115568" cy="66686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8DA"/>
        </a:solidFill>
      </p:bgPr>
    </p:bg>
    <p:spTree>
      <p:nvGrpSpPr>
        <p:cNvPr id="259" name="Shape 259"/>
        <p:cNvGrpSpPr/>
        <p:nvPr/>
      </p:nvGrpSpPr>
      <p:grpSpPr>
        <a:xfrm>
          <a:off x="0" y="0"/>
          <a:ext cx="0" cy="0"/>
          <a:chOff x="0" y="0"/>
          <a:chExt cx="0" cy="0"/>
        </a:xfrm>
      </p:grpSpPr>
      <p:sp>
        <p:nvSpPr>
          <p:cNvPr id="260" name="Google Shape;260;p14"/>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8501A"/>
              </a:buClr>
              <a:buSzPts val="1200"/>
              <a:buFont typeface="Tiro Bangla"/>
              <a:buNone/>
            </a:pPr>
            <a:r>
              <a:rPr b="1" i="0" lang="en-US" sz="1200" u="none" cap="none" strike="noStrike">
                <a:solidFill>
                  <a:srgbClr val="C8501A"/>
                </a:solidFill>
                <a:latin typeface="Tiro Bangla"/>
                <a:ea typeface="Tiro Bangla"/>
                <a:cs typeface="Tiro Bangla"/>
                <a:sym typeface="Tiro Bangla"/>
              </a:rPr>
              <a:t>পাঠক · ৩</a:t>
            </a:r>
            <a:endParaRPr b="0" i="0" sz="1200" u="none" cap="none" strike="noStrike">
              <a:solidFill>
                <a:schemeClr val="dk1"/>
              </a:solidFill>
              <a:latin typeface="Tiro Bangla"/>
              <a:ea typeface="Tiro Bangla"/>
              <a:cs typeface="Tiro Bangla"/>
              <a:sym typeface="Tiro Bangla"/>
            </a:endParaRPr>
          </a:p>
        </p:txBody>
      </p:sp>
      <p:sp>
        <p:nvSpPr>
          <p:cNvPr id="261" name="Google Shape;261;p14"/>
          <p:cNvSpPr/>
          <p:nvPr/>
        </p:nvSpPr>
        <p:spPr>
          <a:xfrm>
            <a:off x="812800" y="1127720"/>
            <a:ext cx="9810750" cy="49272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84D86"/>
              </a:buClr>
              <a:buSzPts val="3200"/>
              <a:buFont typeface="Tiro Bangla"/>
              <a:buNone/>
            </a:pPr>
            <a:r>
              <a:rPr b="0" i="0" lang="en-US" sz="3200" u="none" cap="none" strike="noStrike">
                <a:solidFill>
                  <a:srgbClr val="384D86"/>
                </a:solidFill>
                <a:latin typeface="Tiro Bangla"/>
                <a:ea typeface="Tiro Bangla"/>
                <a:cs typeface="Tiro Bangla"/>
                <a:sym typeface="Tiro Bangla"/>
              </a:rPr>
              <a:t>মানুষ ঘুমায়, যন্ত্র ঘুমায় না</a:t>
            </a:r>
            <a:endParaRPr b="0" i="0" sz="3200" u="none" cap="none" strike="noStrike">
              <a:solidFill>
                <a:schemeClr val="dk1"/>
              </a:solidFill>
              <a:latin typeface="Tiro Bangla"/>
              <a:ea typeface="Tiro Bangla"/>
              <a:cs typeface="Tiro Bangla"/>
              <a:sym typeface="Tiro Bangla"/>
            </a:endParaRPr>
          </a:p>
        </p:txBody>
      </p:sp>
      <p:pic>
        <p:nvPicPr>
          <p:cNvPr descr="দিনের প্রতি ঘণ্টায় মানুষের গড় পেজভিউ, ২০২৪" id="262" name="Google Shape;262;p14"/>
          <p:cNvPicPr preferRelativeResize="0"/>
          <p:nvPr/>
        </p:nvPicPr>
        <p:blipFill rotWithShape="1">
          <a:blip r:embed="rId3">
            <a:alphaModFix/>
          </a:blip>
          <a:srcRect b="0" l="0" r="0" t="0"/>
          <a:stretch/>
        </p:blipFill>
        <p:spPr>
          <a:xfrm>
            <a:off x="1498600" y="2540000"/>
            <a:ext cx="6477000" cy="2984500"/>
          </a:xfrm>
          <a:prstGeom prst="rect">
            <a:avLst/>
          </a:prstGeom>
          <a:noFill/>
          <a:ln>
            <a:noFill/>
          </a:ln>
        </p:spPr>
      </p:pic>
      <p:pic>
        <p:nvPicPr>
          <p:cNvPr descr="দিনের প্রতি ঘণ্টায় মানুষের গড় পেজভিউ, ২০২৬" id="263" name="Google Shape;263;p14"/>
          <p:cNvPicPr preferRelativeResize="0"/>
          <p:nvPr/>
        </p:nvPicPr>
        <p:blipFill rotWithShape="1">
          <a:blip r:embed="rId4">
            <a:alphaModFix/>
          </a:blip>
          <a:srcRect b="0" l="0" r="0" t="0"/>
          <a:stretch/>
        </p:blipFill>
        <p:spPr>
          <a:xfrm>
            <a:off x="1498600" y="2540000"/>
            <a:ext cx="6477000" cy="2984500"/>
          </a:xfrm>
          <a:prstGeom prst="rect">
            <a:avLst/>
          </a:prstGeom>
          <a:noFill/>
          <a:ln>
            <a:noFill/>
          </a:ln>
        </p:spPr>
      </p:pic>
      <p:sp>
        <p:nvSpPr>
          <p:cNvPr id="264" name="Google Shape;264;p14"/>
          <p:cNvSpPr/>
          <p:nvPr/>
        </p:nvSpPr>
        <p:spPr>
          <a:xfrm>
            <a:off x="711200" y="5410200"/>
            <a:ext cx="723900" cy="223507"/>
          </a:xfrm>
          <a:prstGeom prst="rect">
            <a:avLst/>
          </a:prstGeom>
          <a:noFill/>
          <a:ln>
            <a:noFill/>
          </a:ln>
        </p:spPr>
        <p:txBody>
          <a:bodyPr anchorCtr="0" anchor="t" bIns="0" lIns="0" spcFirstLastPara="1" rIns="0" wrap="square" tIns="0">
            <a:noAutofit/>
          </a:bodyPr>
          <a:lstStyle/>
          <a:p>
            <a:pPr indent="0" lvl="0" marL="0" marR="0" rtl="0" algn="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০</a:t>
            </a:r>
            <a:endParaRPr b="0" i="0" sz="1200" u="none" cap="none" strike="noStrike">
              <a:solidFill>
                <a:schemeClr val="dk1"/>
              </a:solidFill>
              <a:latin typeface="Tiro Bangla"/>
              <a:ea typeface="Tiro Bangla"/>
              <a:cs typeface="Tiro Bangla"/>
              <a:sym typeface="Tiro Bangla"/>
            </a:endParaRPr>
          </a:p>
        </p:txBody>
      </p:sp>
      <p:sp>
        <p:nvSpPr>
          <p:cNvPr id="265" name="Google Shape;265;p14"/>
          <p:cNvSpPr/>
          <p:nvPr/>
        </p:nvSpPr>
        <p:spPr>
          <a:xfrm>
            <a:off x="711200" y="4476750"/>
            <a:ext cx="723900" cy="223507"/>
          </a:xfrm>
          <a:prstGeom prst="rect">
            <a:avLst/>
          </a:prstGeom>
          <a:noFill/>
          <a:ln>
            <a:noFill/>
          </a:ln>
        </p:spPr>
        <p:txBody>
          <a:bodyPr anchorCtr="0" anchor="t" bIns="0" lIns="0" spcFirstLastPara="1" rIns="0" wrap="square" tIns="0">
            <a:noAutofit/>
          </a:bodyPr>
          <a:lstStyle/>
          <a:p>
            <a:pPr indent="0" lvl="0" marL="0" marR="0" rtl="0" algn="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 হাজার</a:t>
            </a:r>
            <a:endParaRPr b="0" i="0" sz="1200" u="none" cap="none" strike="noStrike">
              <a:solidFill>
                <a:schemeClr val="dk1"/>
              </a:solidFill>
              <a:latin typeface="Tiro Bangla"/>
              <a:ea typeface="Tiro Bangla"/>
              <a:cs typeface="Tiro Bangla"/>
              <a:sym typeface="Tiro Bangla"/>
            </a:endParaRPr>
          </a:p>
        </p:txBody>
      </p:sp>
      <p:sp>
        <p:nvSpPr>
          <p:cNvPr id="266" name="Google Shape;266;p14"/>
          <p:cNvSpPr/>
          <p:nvPr/>
        </p:nvSpPr>
        <p:spPr>
          <a:xfrm>
            <a:off x="711200" y="3543300"/>
            <a:ext cx="723900" cy="223507"/>
          </a:xfrm>
          <a:prstGeom prst="rect">
            <a:avLst/>
          </a:prstGeom>
          <a:noFill/>
          <a:ln>
            <a:noFill/>
          </a:ln>
        </p:spPr>
        <p:txBody>
          <a:bodyPr anchorCtr="0" anchor="t" bIns="0" lIns="0" spcFirstLastPara="1" rIns="0" wrap="square" tIns="0">
            <a:noAutofit/>
          </a:bodyPr>
          <a:lstStyle/>
          <a:p>
            <a:pPr indent="0" lvl="0" marL="0" marR="0" rtl="0" algn="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৪০ হাজার</a:t>
            </a:r>
            <a:endParaRPr b="0" i="0" sz="1200" u="none" cap="none" strike="noStrike">
              <a:solidFill>
                <a:schemeClr val="dk1"/>
              </a:solidFill>
              <a:latin typeface="Tiro Bangla"/>
              <a:ea typeface="Tiro Bangla"/>
              <a:cs typeface="Tiro Bangla"/>
              <a:sym typeface="Tiro Bangla"/>
            </a:endParaRPr>
          </a:p>
        </p:txBody>
      </p:sp>
      <p:sp>
        <p:nvSpPr>
          <p:cNvPr id="267" name="Google Shape;267;p14"/>
          <p:cNvSpPr/>
          <p:nvPr/>
        </p:nvSpPr>
        <p:spPr>
          <a:xfrm>
            <a:off x="711200" y="2609850"/>
            <a:ext cx="723900" cy="223507"/>
          </a:xfrm>
          <a:prstGeom prst="rect">
            <a:avLst/>
          </a:prstGeom>
          <a:noFill/>
          <a:ln>
            <a:noFill/>
          </a:ln>
        </p:spPr>
        <p:txBody>
          <a:bodyPr anchorCtr="0" anchor="t" bIns="0" lIns="0" spcFirstLastPara="1" rIns="0" wrap="square" tIns="0">
            <a:noAutofit/>
          </a:bodyPr>
          <a:lstStyle/>
          <a:p>
            <a:pPr indent="0" lvl="0" marL="0" marR="0" rtl="0" algn="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৬০ হাজার</a:t>
            </a:r>
            <a:endParaRPr b="0" i="0" sz="1200" u="none" cap="none" strike="noStrike">
              <a:solidFill>
                <a:schemeClr val="dk1"/>
              </a:solidFill>
              <a:latin typeface="Tiro Bangla"/>
              <a:ea typeface="Tiro Bangla"/>
              <a:cs typeface="Tiro Bangla"/>
              <a:sym typeface="Tiro Bangla"/>
            </a:endParaRPr>
          </a:p>
        </p:txBody>
      </p:sp>
      <p:sp>
        <p:nvSpPr>
          <p:cNvPr id="268" name="Google Shape;268;p14"/>
          <p:cNvSpPr/>
          <p:nvPr/>
        </p:nvSpPr>
        <p:spPr>
          <a:xfrm>
            <a:off x="1028700" y="5600700"/>
            <a:ext cx="939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রাত ১২টা</a:t>
            </a:r>
            <a:endParaRPr b="0" i="0" sz="1200" u="none" cap="none" strike="noStrike">
              <a:solidFill>
                <a:schemeClr val="dk1"/>
              </a:solidFill>
              <a:latin typeface="Tiro Bangla"/>
              <a:ea typeface="Tiro Bangla"/>
              <a:cs typeface="Tiro Bangla"/>
              <a:sym typeface="Tiro Bangla"/>
            </a:endParaRPr>
          </a:p>
        </p:txBody>
      </p:sp>
      <p:sp>
        <p:nvSpPr>
          <p:cNvPr id="269" name="Google Shape;269;p14"/>
          <p:cNvSpPr/>
          <p:nvPr/>
        </p:nvSpPr>
        <p:spPr>
          <a:xfrm>
            <a:off x="2152650" y="5600700"/>
            <a:ext cx="939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ভোর ৪টা</a:t>
            </a:r>
            <a:endParaRPr b="0" i="0" sz="1200" u="none" cap="none" strike="noStrike">
              <a:solidFill>
                <a:schemeClr val="dk1"/>
              </a:solidFill>
              <a:latin typeface="Tiro Bangla"/>
              <a:ea typeface="Tiro Bangla"/>
              <a:cs typeface="Tiro Bangla"/>
              <a:sym typeface="Tiro Bangla"/>
            </a:endParaRPr>
          </a:p>
        </p:txBody>
      </p:sp>
      <p:sp>
        <p:nvSpPr>
          <p:cNvPr id="270" name="Google Shape;270;p14"/>
          <p:cNvSpPr/>
          <p:nvPr/>
        </p:nvSpPr>
        <p:spPr>
          <a:xfrm>
            <a:off x="3562350" y="5600700"/>
            <a:ext cx="939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সকাল ৯টা</a:t>
            </a:r>
            <a:endParaRPr b="0" i="0" sz="1200" u="none" cap="none" strike="noStrike">
              <a:solidFill>
                <a:schemeClr val="dk1"/>
              </a:solidFill>
              <a:latin typeface="Tiro Bangla"/>
              <a:ea typeface="Tiro Bangla"/>
              <a:cs typeface="Tiro Bangla"/>
              <a:sym typeface="Tiro Bangla"/>
            </a:endParaRPr>
          </a:p>
        </p:txBody>
      </p:sp>
      <p:sp>
        <p:nvSpPr>
          <p:cNvPr id="271" name="Google Shape;271;p14"/>
          <p:cNvSpPr/>
          <p:nvPr/>
        </p:nvSpPr>
        <p:spPr>
          <a:xfrm>
            <a:off x="4972050" y="5600700"/>
            <a:ext cx="939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দুপুর ২টা</a:t>
            </a:r>
            <a:endParaRPr b="0" i="0" sz="1200" u="none" cap="none" strike="noStrike">
              <a:solidFill>
                <a:schemeClr val="dk1"/>
              </a:solidFill>
              <a:latin typeface="Tiro Bangla"/>
              <a:ea typeface="Tiro Bangla"/>
              <a:cs typeface="Tiro Bangla"/>
              <a:sym typeface="Tiro Bangla"/>
            </a:endParaRPr>
          </a:p>
        </p:txBody>
      </p:sp>
      <p:sp>
        <p:nvSpPr>
          <p:cNvPr id="272" name="Google Shape;272;p14"/>
          <p:cNvSpPr/>
          <p:nvPr/>
        </p:nvSpPr>
        <p:spPr>
          <a:xfrm>
            <a:off x="6096000" y="5600700"/>
            <a:ext cx="939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সন্ধ্যা ৬টা</a:t>
            </a:r>
            <a:endParaRPr b="0" i="0" sz="1200" u="none" cap="none" strike="noStrike">
              <a:solidFill>
                <a:schemeClr val="dk1"/>
              </a:solidFill>
              <a:latin typeface="Tiro Bangla"/>
              <a:ea typeface="Tiro Bangla"/>
              <a:cs typeface="Tiro Bangla"/>
              <a:sym typeface="Tiro Bangla"/>
            </a:endParaRPr>
          </a:p>
        </p:txBody>
      </p:sp>
      <p:sp>
        <p:nvSpPr>
          <p:cNvPr id="273" name="Google Shape;273;p14"/>
          <p:cNvSpPr/>
          <p:nvPr/>
        </p:nvSpPr>
        <p:spPr>
          <a:xfrm>
            <a:off x="6940550" y="5600700"/>
            <a:ext cx="939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রাত ৯টা</a:t>
            </a:r>
            <a:endParaRPr b="0" i="0" sz="1200" u="none" cap="none" strike="noStrike">
              <a:solidFill>
                <a:schemeClr val="dk1"/>
              </a:solidFill>
              <a:latin typeface="Tiro Bangla"/>
              <a:ea typeface="Tiro Bangla"/>
              <a:cs typeface="Tiro Bangla"/>
              <a:sym typeface="Tiro Bangla"/>
            </a:endParaRPr>
          </a:p>
        </p:txBody>
      </p:sp>
      <p:sp>
        <p:nvSpPr>
          <p:cNvPr id="274" name="Google Shape;274;p14"/>
          <p:cNvSpPr/>
          <p:nvPr/>
        </p:nvSpPr>
        <p:spPr>
          <a:xfrm>
            <a:off x="5791200" y="2514600"/>
            <a:ext cx="1193800" cy="273050"/>
          </a:xfrm>
          <a:prstGeom prst="rect">
            <a:avLst/>
          </a:prstGeom>
          <a:noFill/>
          <a:ln>
            <a:noFill/>
          </a:ln>
        </p:spPr>
        <p:txBody>
          <a:bodyPr anchorCtr="0" anchor="t" bIns="0" lIns="0" spcFirstLastPara="1" rIns="0" wrap="square" tIns="0">
            <a:noAutofit/>
          </a:bodyPr>
          <a:lstStyle/>
          <a:p>
            <a:pPr indent="0" lvl="0" marL="0" marR="0" rtl="0" algn="r">
              <a:lnSpc>
                <a:spcPct val="130000"/>
              </a:lnSpc>
              <a:spcBef>
                <a:spcPts val="0"/>
              </a:spcBef>
              <a:spcAft>
                <a:spcPts val="0"/>
              </a:spcAft>
              <a:buClr>
                <a:srgbClr val="C8501A"/>
              </a:buClr>
              <a:buSzPts val="1500"/>
              <a:buFont typeface="Tiro Bangla"/>
              <a:buNone/>
            </a:pPr>
            <a:r>
              <a:rPr b="1" i="0" lang="en-US" sz="1500" u="none" cap="none" strike="noStrike">
                <a:solidFill>
                  <a:srgbClr val="C8501A"/>
                </a:solidFill>
                <a:latin typeface="Tiro Bangla"/>
                <a:ea typeface="Tiro Bangla"/>
                <a:cs typeface="Tiro Bangla"/>
                <a:sym typeface="Tiro Bangla"/>
              </a:rPr>
              <a:t>৫৮ হাজার</a:t>
            </a:r>
            <a:endParaRPr b="0" i="0" sz="1500" u="none" cap="none" strike="noStrike">
              <a:solidFill>
                <a:schemeClr val="dk1"/>
              </a:solidFill>
              <a:latin typeface="Tiro Bangla"/>
              <a:ea typeface="Tiro Bangla"/>
              <a:cs typeface="Tiro Bangla"/>
              <a:sym typeface="Tiro Bangla"/>
            </a:endParaRPr>
          </a:p>
        </p:txBody>
      </p:sp>
      <p:cxnSp>
        <p:nvCxnSpPr>
          <p:cNvPr id="275" name="Google Shape;275;p14"/>
          <p:cNvCxnSpPr/>
          <p:nvPr/>
        </p:nvCxnSpPr>
        <p:spPr>
          <a:xfrm>
            <a:off x="8382000" y="2640081"/>
            <a:ext cx="304800" cy="0"/>
          </a:xfrm>
          <a:prstGeom prst="straightConnector1">
            <a:avLst/>
          </a:prstGeom>
          <a:noFill/>
          <a:ln cap="flat" cmpd="sng" w="31750">
            <a:solidFill>
              <a:srgbClr val="C8501A"/>
            </a:solidFill>
            <a:prstDash val="dot"/>
            <a:round/>
            <a:headEnd len="sm" w="sm" type="none"/>
            <a:tailEnd len="sm" w="sm" type="none"/>
          </a:ln>
        </p:spPr>
      </p:cxnSp>
      <p:sp>
        <p:nvSpPr>
          <p:cNvPr id="276" name="Google Shape;276;p14"/>
          <p:cNvSpPr/>
          <p:nvPr/>
        </p:nvSpPr>
        <p:spPr>
          <a:xfrm>
            <a:off x="8788400" y="2540000"/>
            <a:ext cx="939165" cy="22350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384D86"/>
              </a:buClr>
              <a:buSzPts val="1200"/>
              <a:buFont typeface="Tiro Bangla"/>
              <a:buNone/>
            </a:pPr>
            <a:r>
              <a:rPr b="1" i="0" lang="en-US" sz="1200" u="none" cap="none" strike="noStrike">
                <a:solidFill>
                  <a:srgbClr val="384D86"/>
                </a:solidFill>
                <a:latin typeface="Tiro Bangla"/>
                <a:ea typeface="Tiro Bangla"/>
                <a:cs typeface="Tiro Bangla"/>
                <a:sym typeface="Tiro Bangla"/>
              </a:rPr>
              <a:t>মানুষ, ২০২৪</a:t>
            </a:r>
            <a:endParaRPr b="0" i="0" sz="1200" u="none" cap="none" strike="noStrike">
              <a:solidFill>
                <a:schemeClr val="dk1"/>
              </a:solidFill>
              <a:latin typeface="Tiro Bangla"/>
              <a:ea typeface="Tiro Bangla"/>
              <a:cs typeface="Tiro Bangla"/>
              <a:sym typeface="Tiro Bangla"/>
            </a:endParaRPr>
          </a:p>
        </p:txBody>
      </p:sp>
      <p:sp>
        <p:nvSpPr>
          <p:cNvPr id="277" name="Google Shape;277;p14"/>
          <p:cNvSpPr/>
          <p:nvPr/>
        </p:nvSpPr>
        <p:spPr>
          <a:xfrm>
            <a:off x="8382000" y="2893020"/>
            <a:ext cx="304800" cy="50800"/>
          </a:xfrm>
          <a:prstGeom prst="rect">
            <a:avLst/>
          </a:prstGeom>
          <a:solidFill>
            <a:srgbClr val="C8501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p14"/>
          <p:cNvSpPr/>
          <p:nvPr/>
        </p:nvSpPr>
        <p:spPr>
          <a:xfrm>
            <a:off x="8788400" y="2819400"/>
            <a:ext cx="939165" cy="22350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384D86"/>
              </a:buClr>
              <a:buSzPts val="1200"/>
              <a:buFont typeface="Tiro Bangla"/>
              <a:buNone/>
            </a:pPr>
            <a:r>
              <a:rPr b="1" i="0" lang="en-US" sz="1200" u="none" cap="none" strike="noStrike">
                <a:solidFill>
                  <a:srgbClr val="384D86"/>
                </a:solidFill>
                <a:latin typeface="Tiro Bangla"/>
                <a:ea typeface="Tiro Bangla"/>
                <a:cs typeface="Tiro Bangla"/>
                <a:sym typeface="Tiro Bangla"/>
              </a:rPr>
              <a:t>মানুষ, ২০২৬</a:t>
            </a:r>
            <a:endParaRPr b="0" i="0" sz="1200" u="none" cap="none" strike="noStrike">
              <a:solidFill>
                <a:schemeClr val="dk1"/>
              </a:solidFill>
              <a:latin typeface="Tiro Bangla"/>
              <a:ea typeface="Tiro Bangla"/>
              <a:cs typeface="Tiro Bangla"/>
              <a:sym typeface="Tiro Bangla"/>
            </a:endParaRPr>
          </a:p>
        </p:txBody>
      </p:sp>
      <p:sp>
        <p:nvSpPr>
          <p:cNvPr id="279" name="Google Shape;279;p14"/>
          <p:cNvSpPr/>
          <p:nvPr/>
        </p:nvSpPr>
        <p:spPr>
          <a:xfrm>
            <a:off x="8382000" y="3873500"/>
            <a:ext cx="2997200" cy="1548077"/>
          </a:xfrm>
          <a:prstGeom prst="roundRect">
            <a:avLst>
              <a:gd fmla="val 4922" name="adj"/>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p14"/>
          <p:cNvSpPr/>
          <p:nvPr/>
        </p:nvSpPr>
        <p:spPr>
          <a:xfrm>
            <a:off x="8534400" y="4025900"/>
            <a:ext cx="2773172" cy="22350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রাত ৯টায় প্রতি ঘণ্টায় মানুষের পেজভিউ</a:t>
            </a:r>
            <a:endParaRPr b="0" i="0" sz="1200" u="none" cap="none" strike="noStrike">
              <a:solidFill>
                <a:schemeClr val="dk1"/>
              </a:solidFill>
              <a:latin typeface="Tiro Bangla"/>
              <a:ea typeface="Tiro Bangla"/>
              <a:cs typeface="Tiro Bangla"/>
              <a:sym typeface="Tiro Bangla"/>
            </a:endParaRPr>
          </a:p>
        </p:txBody>
      </p:sp>
      <p:sp>
        <p:nvSpPr>
          <p:cNvPr id="281" name="Google Shape;281;p14"/>
          <p:cNvSpPr/>
          <p:nvPr/>
        </p:nvSpPr>
        <p:spPr>
          <a:xfrm>
            <a:off x="8534400" y="4274809"/>
            <a:ext cx="2773172" cy="27305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384D86"/>
              </a:buClr>
              <a:buSzPts val="1500"/>
              <a:buFont typeface="Tiro Bangla"/>
              <a:buNone/>
            </a:pPr>
            <a:r>
              <a:rPr b="1" i="0" lang="en-US" sz="1500" u="none" cap="none" strike="noStrike">
                <a:solidFill>
                  <a:srgbClr val="384D86"/>
                </a:solidFill>
                <a:latin typeface="Tiro Bangla"/>
                <a:ea typeface="Tiro Bangla"/>
                <a:cs typeface="Tiro Bangla"/>
                <a:sym typeface="Tiro Bangla"/>
              </a:rPr>
              <a:t>৫৮ হাজার → ১৮ হাজার</a:t>
            </a:r>
            <a:endParaRPr b="0" i="0" sz="1500" u="none" cap="none" strike="noStrike">
              <a:solidFill>
                <a:schemeClr val="dk1"/>
              </a:solidFill>
              <a:latin typeface="Tiro Bangla"/>
              <a:ea typeface="Tiro Bangla"/>
              <a:cs typeface="Tiro Bangla"/>
              <a:sym typeface="Tiro Bangla"/>
            </a:endParaRPr>
          </a:p>
        </p:txBody>
      </p:sp>
      <p:sp>
        <p:nvSpPr>
          <p:cNvPr id="282" name="Google Shape;282;p14"/>
          <p:cNvSpPr/>
          <p:nvPr/>
        </p:nvSpPr>
        <p:spPr>
          <a:xfrm>
            <a:off x="8534400" y="4573259"/>
            <a:ext cx="2773172" cy="472414"/>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C8501A"/>
              </a:buClr>
              <a:buSzPts val="3200"/>
              <a:buFont typeface="Tiro Bangla"/>
              <a:buNone/>
            </a:pPr>
            <a:r>
              <a:rPr b="0" i="0" lang="en-US" sz="3200" u="none" cap="none" strike="noStrike">
                <a:solidFill>
                  <a:srgbClr val="C8501A"/>
                </a:solidFill>
                <a:latin typeface="Tiro Bangla"/>
                <a:ea typeface="Tiro Bangla"/>
                <a:cs typeface="Tiro Bangla"/>
                <a:sym typeface="Tiro Bangla"/>
              </a:rPr>
              <a:t>−৭০%</a:t>
            </a:r>
            <a:endParaRPr b="0" i="0" sz="3200" u="none" cap="none" strike="noStrike">
              <a:solidFill>
                <a:schemeClr val="dk1"/>
              </a:solidFill>
              <a:latin typeface="Tiro Bangla"/>
              <a:ea typeface="Tiro Bangla"/>
              <a:cs typeface="Tiro Bangla"/>
              <a:sym typeface="Tiro Bangla"/>
            </a:endParaRPr>
          </a:p>
        </p:txBody>
      </p:sp>
      <p:sp>
        <p:nvSpPr>
          <p:cNvPr id="283" name="Google Shape;283;p14"/>
          <p:cNvSpPr/>
          <p:nvPr/>
        </p:nvSpPr>
        <p:spPr>
          <a:xfrm>
            <a:off x="8534400" y="5071070"/>
            <a:ext cx="2773172" cy="22350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ভোর ৪টায়: ৯ হাজার → ৫ হাজার, −৪১%</a:t>
            </a:r>
            <a:endParaRPr b="0" i="0" sz="1200" u="none" cap="none" strike="noStrike">
              <a:solidFill>
                <a:schemeClr val="dk1"/>
              </a:solidFill>
              <a:latin typeface="Tiro Bangla"/>
              <a:ea typeface="Tiro Bangla"/>
              <a:cs typeface="Tiro Bangla"/>
              <a:sym typeface="Tiro Bangla"/>
            </a:endParaRPr>
          </a:p>
        </p:txBody>
      </p:sp>
      <p:sp>
        <p:nvSpPr>
          <p:cNvPr id="284" name="Google Shape;284;p14"/>
          <p:cNvSpPr/>
          <p:nvPr/>
        </p:nvSpPr>
        <p:spPr>
          <a:xfrm>
            <a:off x="812800" y="6236959"/>
            <a:ext cx="7050088"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প্রতি ঘণ্টার গড় পেজভিউ, বাংলাদেশ সময় · জানুয়ারি–সেপ্টেম্বর · উৎস: উইকিমিডিয়া পেজভিউ API</a:t>
            </a:r>
            <a:endParaRPr b="0" i="0" sz="1200" u="none" cap="none" strike="noStrike">
              <a:solidFill>
                <a:schemeClr val="dk1"/>
              </a:solidFill>
              <a:latin typeface="Tiro Bangla"/>
              <a:ea typeface="Tiro Bangla"/>
              <a:cs typeface="Tiro Bangla"/>
              <a:sym typeface="Tiro Bangla"/>
            </a:endParaRPr>
          </a:p>
        </p:txBody>
      </p:sp>
      <p:sp>
        <p:nvSpPr>
          <p:cNvPr id="285" name="Google Shape;285;p14"/>
          <p:cNvSpPr/>
          <p:nvPr/>
        </p:nvSpPr>
        <p:spPr>
          <a:xfrm>
            <a:off x="10972536" y="6236959"/>
            <a:ext cx="457465"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৬ / ১৯</a:t>
            </a:r>
            <a:endParaRPr b="0" i="0" sz="1200" u="none" cap="none" strike="noStrike">
              <a:solidFill>
                <a:schemeClr val="dk1"/>
              </a:solidFill>
              <a:latin typeface="Tiro Bangla"/>
              <a:ea typeface="Tiro Bangla"/>
              <a:cs typeface="Tiro Bangla"/>
              <a:sym typeface="Tiro Bangla"/>
            </a:endParaRPr>
          </a:p>
        </p:txBody>
      </p:sp>
      <p:pic>
        <p:nvPicPr>
          <p:cNvPr descr="বাংলা উইকিসম্মেলন ২০২৬ লোগো" id="286" name="Google Shape;286;p14"/>
          <p:cNvPicPr preferRelativeResize="0"/>
          <p:nvPr/>
        </p:nvPicPr>
        <p:blipFill rotWithShape="1">
          <a:blip r:embed="rId5">
            <a:alphaModFix/>
          </a:blip>
          <a:srcRect b="0" l="0" r="0" t="0"/>
          <a:stretch/>
        </p:blipFill>
        <p:spPr>
          <a:xfrm>
            <a:off x="10314432" y="365760"/>
            <a:ext cx="1115568" cy="66686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8DA"/>
        </a:solidFill>
      </p:bgPr>
    </p:bg>
    <p:spTree>
      <p:nvGrpSpPr>
        <p:cNvPr id="291" name="Shape 291"/>
        <p:cNvGrpSpPr/>
        <p:nvPr/>
      </p:nvGrpSpPr>
      <p:grpSpPr>
        <a:xfrm>
          <a:off x="0" y="0"/>
          <a:ext cx="0" cy="0"/>
          <a:chOff x="0" y="0"/>
          <a:chExt cx="0" cy="0"/>
        </a:xfrm>
      </p:grpSpPr>
      <p:sp>
        <p:nvSpPr>
          <p:cNvPr id="292" name="Google Shape;292;p15"/>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8501A"/>
              </a:buClr>
              <a:buSzPts val="1200"/>
              <a:buFont typeface="Tiro Bangla"/>
              <a:buNone/>
            </a:pPr>
            <a:r>
              <a:rPr b="1" i="0" lang="en-US" sz="1200" u="none" cap="none" strike="noStrike">
                <a:solidFill>
                  <a:srgbClr val="C8501A"/>
                </a:solidFill>
                <a:latin typeface="Tiro Bangla"/>
                <a:ea typeface="Tiro Bangla"/>
                <a:cs typeface="Tiro Bangla"/>
                <a:sym typeface="Tiro Bangla"/>
              </a:rPr>
              <a:t>পাঠক · ৩</a:t>
            </a:r>
            <a:endParaRPr b="0" i="0" sz="1200" u="none" cap="none" strike="noStrike">
              <a:solidFill>
                <a:schemeClr val="dk1"/>
              </a:solidFill>
              <a:latin typeface="Tiro Bangla"/>
              <a:ea typeface="Tiro Bangla"/>
              <a:cs typeface="Tiro Bangla"/>
              <a:sym typeface="Tiro Bangla"/>
            </a:endParaRPr>
          </a:p>
        </p:txBody>
      </p:sp>
      <p:sp>
        <p:nvSpPr>
          <p:cNvPr id="293" name="Google Shape;293;p15"/>
          <p:cNvSpPr/>
          <p:nvPr/>
        </p:nvSpPr>
        <p:spPr>
          <a:xfrm>
            <a:off x="812800" y="1127720"/>
            <a:ext cx="9810750" cy="49272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84D86"/>
              </a:buClr>
              <a:buSzPts val="3200"/>
              <a:buFont typeface="Tiro Bangla"/>
              <a:buNone/>
            </a:pPr>
            <a:r>
              <a:rPr b="0" i="0" lang="en-US" sz="3200" u="none" cap="none" strike="noStrike">
                <a:solidFill>
                  <a:srgbClr val="384D86"/>
                </a:solidFill>
                <a:latin typeface="Tiro Bangla"/>
                <a:ea typeface="Tiro Bangla"/>
                <a:cs typeface="Tiro Bangla"/>
                <a:sym typeface="Tiro Bangla"/>
              </a:rPr>
              <a:t>মানুষ ঘুমায়, যন্ত্র ঘুমায় না</a:t>
            </a:r>
            <a:endParaRPr b="0" i="0" sz="3200" u="none" cap="none" strike="noStrike">
              <a:solidFill>
                <a:schemeClr val="dk1"/>
              </a:solidFill>
              <a:latin typeface="Tiro Bangla"/>
              <a:ea typeface="Tiro Bangla"/>
              <a:cs typeface="Tiro Bangla"/>
              <a:sym typeface="Tiro Bangla"/>
            </a:endParaRPr>
          </a:p>
        </p:txBody>
      </p:sp>
      <p:pic>
        <p:nvPicPr>
          <p:cNvPr descr="দিনের প্রতি ঘণ্টায় মানুষের গড় পেজভিউ, ২০২৪" id="294" name="Google Shape;294;p15"/>
          <p:cNvPicPr preferRelativeResize="0"/>
          <p:nvPr/>
        </p:nvPicPr>
        <p:blipFill rotWithShape="1">
          <a:blip r:embed="rId3">
            <a:alphaModFix/>
          </a:blip>
          <a:srcRect b="0" l="0" r="0" t="0"/>
          <a:stretch/>
        </p:blipFill>
        <p:spPr>
          <a:xfrm>
            <a:off x="1498600" y="2540000"/>
            <a:ext cx="6477000" cy="2984500"/>
          </a:xfrm>
          <a:prstGeom prst="rect">
            <a:avLst/>
          </a:prstGeom>
          <a:noFill/>
          <a:ln>
            <a:noFill/>
          </a:ln>
        </p:spPr>
      </p:pic>
      <p:pic>
        <p:nvPicPr>
          <p:cNvPr descr="দিনের প্রতি ঘণ্টায় মানুষের গড় পেজভিউ, ২০২৬" id="295" name="Google Shape;295;p15"/>
          <p:cNvPicPr preferRelativeResize="0"/>
          <p:nvPr/>
        </p:nvPicPr>
        <p:blipFill rotWithShape="1">
          <a:blip r:embed="rId4">
            <a:alphaModFix/>
          </a:blip>
          <a:srcRect b="0" l="0" r="0" t="0"/>
          <a:stretch/>
        </p:blipFill>
        <p:spPr>
          <a:xfrm>
            <a:off x="1498600" y="2540000"/>
            <a:ext cx="6477000" cy="2984500"/>
          </a:xfrm>
          <a:prstGeom prst="rect">
            <a:avLst/>
          </a:prstGeom>
          <a:noFill/>
          <a:ln>
            <a:noFill/>
          </a:ln>
        </p:spPr>
      </p:pic>
      <p:pic>
        <p:nvPicPr>
          <p:cNvPr descr="দিনের প্রতি ঘণ্টায় স্বয়ংক্রিয় বট ও ক্রলারের গড় পেজভিউ, ২০২৬" id="296" name="Google Shape;296;p15"/>
          <p:cNvPicPr preferRelativeResize="0"/>
          <p:nvPr/>
        </p:nvPicPr>
        <p:blipFill rotWithShape="1">
          <a:blip r:embed="rId5">
            <a:alphaModFix/>
          </a:blip>
          <a:srcRect b="0" l="0" r="0" t="0"/>
          <a:stretch/>
        </p:blipFill>
        <p:spPr>
          <a:xfrm>
            <a:off x="1498600" y="2540000"/>
            <a:ext cx="6477000" cy="2984500"/>
          </a:xfrm>
          <a:prstGeom prst="rect">
            <a:avLst/>
          </a:prstGeom>
          <a:noFill/>
          <a:ln>
            <a:noFill/>
          </a:ln>
        </p:spPr>
      </p:pic>
      <p:sp>
        <p:nvSpPr>
          <p:cNvPr id="297" name="Google Shape;297;p15"/>
          <p:cNvSpPr/>
          <p:nvPr/>
        </p:nvSpPr>
        <p:spPr>
          <a:xfrm>
            <a:off x="711200" y="5410200"/>
            <a:ext cx="723900" cy="223507"/>
          </a:xfrm>
          <a:prstGeom prst="rect">
            <a:avLst/>
          </a:prstGeom>
          <a:noFill/>
          <a:ln>
            <a:noFill/>
          </a:ln>
        </p:spPr>
        <p:txBody>
          <a:bodyPr anchorCtr="0" anchor="t" bIns="0" lIns="0" spcFirstLastPara="1" rIns="0" wrap="square" tIns="0">
            <a:noAutofit/>
          </a:bodyPr>
          <a:lstStyle/>
          <a:p>
            <a:pPr indent="0" lvl="0" marL="0" marR="0" rtl="0" algn="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০</a:t>
            </a:r>
            <a:endParaRPr b="0" i="0" sz="1200" u="none" cap="none" strike="noStrike">
              <a:solidFill>
                <a:schemeClr val="dk1"/>
              </a:solidFill>
              <a:latin typeface="Tiro Bangla"/>
              <a:ea typeface="Tiro Bangla"/>
              <a:cs typeface="Tiro Bangla"/>
              <a:sym typeface="Tiro Bangla"/>
            </a:endParaRPr>
          </a:p>
        </p:txBody>
      </p:sp>
      <p:sp>
        <p:nvSpPr>
          <p:cNvPr id="298" name="Google Shape;298;p15"/>
          <p:cNvSpPr/>
          <p:nvPr/>
        </p:nvSpPr>
        <p:spPr>
          <a:xfrm>
            <a:off x="711200" y="4476750"/>
            <a:ext cx="723900" cy="223507"/>
          </a:xfrm>
          <a:prstGeom prst="rect">
            <a:avLst/>
          </a:prstGeom>
          <a:noFill/>
          <a:ln>
            <a:noFill/>
          </a:ln>
        </p:spPr>
        <p:txBody>
          <a:bodyPr anchorCtr="0" anchor="t" bIns="0" lIns="0" spcFirstLastPara="1" rIns="0" wrap="square" tIns="0">
            <a:noAutofit/>
          </a:bodyPr>
          <a:lstStyle/>
          <a:p>
            <a:pPr indent="0" lvl="0" marL="0" marR="0" rtl="0" algn="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 হাজার</a:t>
            </a:r>
            <a:endParaRPr b="0" i="0" sz="1200" u="none" cap="none" strike="noStrike">
              <a:solidFill>
                <a:schemeClr val="dk1"/>
              </a:solidFill>
              <a:latin typeface="Tiro Bangla"/>
              <a:ea typeface="Tiro Bangla"/>
              <a:cs typeface="Tiro Bangla"/>
              <a:sym typeface="Tiro Bangla"/>
            </a:endParaRPr>
          </a:p>
        </p:txBody>
      </p:sp>
      <p:sp>
        <p:nvSpPr>
          <p:cNvPr id="299" name="Google Shape;299;p15"/>
          <p:cNvSpPr/>
          <p:nvPr/>
        </p:nvSpPr>
        <p:spPr>
          <a:xfrm>
            <a:off x="711200" y="3543300"/>
            <a:ext cx="723900" cy="223507"/>
          </a:xfrm>
          <a:prstGeom prst="rect">
            <a:avLst/>
          </a:prstGeom>
          <a:noFill/>
          <a:ln>
            <a:noFill/>
          </a:ln>
        </p:spPr>
        <p:txBody>
          <a:bodyPr anchorCtr="0" anchor="t" bIns="0" lIns="0" spcFirstLastPara="1" rIns="0" wrap="square" tIns="0">
            <a:noAutofit/>
          </a:bodyPr>
          <a:lstStyle/>
          <a:p>
            <a:pPr indent="0" lvl="0" marL="0" marR="0" rtl="0" algn="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৪০ হাজার</a:t>
            </a:r>
            <a:endParaRPr b="0" i="0" sz="1200" u="none" cap="none" strike="noStrike">
              <a:solidFill>
                <a:schemeClr val="dk1"/>
              </a:solidFill>
              <a:latin typeface="Tiro Bangla"/>
              <a:ea typeface="Tiro Bangla"/>
              <a:cs typeface="Tiro Bangla"/>
              <a:sym typeface="Tiro Bangla"/>
            </a:endParaRPr>
          </a:p>
        </p:txBody>
      </p:sp>
      <p:sp>
        <p:nvSpPr>
          <p:cNvPr id="300" name="Google Shape;300;p15"/>
          <p:cNvSpPr/>
          <p:nvPr/>
        </p:nvSpPr>
        <p:spPr>
          <a:xfrm>
            <a:off x="711200" y="2609850"/>
            <a:ext cx="723900" cy="223507"/>
          </a:xfrm>
          <a:prstGeom prst="rect">
            <a:avLst/>
          </a:prstGeom>
          <a:noFill/>
          <a:ln>
            <a:noFill/>
          </a:ln>
        </p:spPr>
        <p:txBody>
          <a:bodyPr anchorCtr="0" anchor="t" bIns="0" lIns="0" spcFirstLastPara="1" rIns="0" wrap="square" tIns="0">
            <a:noAutofit/>
          </a:bodyPr>
          <a:lstStyle/>
          <a:p>
            <a:pPr indent="0" lvl="0" marL="0" marR="0" rtl="0" algn="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৬০ হাজার</a:t>
            </a:r>
            <a:endParaRPr b="0" i="0" sz="1200" u="none" cap="none" strike="noStrike">
              <a:solidFill>
                <a:schemeClr val="dk1"/>
              </a:solidFill>
              <a:latin typeface="Tiro Bangla"/>
              <a:ea typeface="Tiro Bangla"/>
              <a:cs typeface="Tiro Bangla"/>
              <a:sym typeface="Tiro Bangla"/>
            </a:endParaRPr>
          </a:p>
        </p:txBody>
      </p:sp>
      <p:sp>
        <p:nvSpPr>
          <p:cNvPr id="301" name="Google Shape;301;p15"/>
          <p:cNvSpPr/>
          <p:nvPr/>
        </p:nvSpPr>
        <p:spPr>
          <a:xfrm>
            <a:off x="1028700" y="5600700"/>
            <a:ext cx="939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রাত ১২টা</a:t>
            </a:r>
            <a:endParaRPr b="0" i="0" sz="1200" u="none" cap="none" strike="noStrike">
              <a:solidFill>
                <a:schemeClr val="dk1"/>
              </a:solidFill>
              <a:latin typeface="Tiro Bangla"/>
              <a:ea typeface="Tiro Bangla"/>
              <a:cs typeface="Tiro Bangla"/>
              <a:sym typeface="Tiro Bangla"/>
            </a:endParaRPr>
          </a:p>
        </p:txBody>
      </p:sp>
      <p:sp>
        <p:nvSpPr>
          <p:cNvPr id="302" name="Google Shape;302;p15"/>
          <p:cNvSpPr/>
          <p:nvPr/>
        </p:nvSpPr>
        <p:spPr>
          <a:xfrm>
            <a:off x="2152650" y="5600700"/>
            <a:ext cx="939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ভোর ৪টা</a:t>
            </a:r>
            <a:endParaRPr b="0" i="0" sz="1200" u="none" cap="none" strike="noStrike">
              <a:solidFill>
                <a:schemeClr val="dk1"/>
              </a:solidFill>
              <a:latin typeface="Tiro Bangla"/>
              <a:ea typeface="Tiro Bangla"/>
              <a:cs typeface="Tiro Bangla"/>
              <a:sym typeface="Tiro Bangla"/>
            </a:endParaRPr>
          </a:p>
        </p:txBody>
      </p:sp>
      <p:sp>
        <p:nvSpPr>
          <p:cNvPr id="303" name="Google Shape;303;p15"/>
          <p:cNvSpPr/>
          <p:nvPr/>
        </p:nvSpPr>
        <p:spPr>
          <a:xfrm>
            <a:off x="3562350" y="5600700"/>
            <a:ext cx="939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সকাল ৯টা</a:t>
            </a:r>
            <a:endParaRPr b="0" i="0" sz="1200" u="none" cap="none" strike="noStrike">
              <a:solidFill>
                <a:schemeClr val="dk1"/>
              </a:solidFill>
              <a:latin typeface="Tiro Bangla"/>
              <a:ea typeface="Tiro Bangla"/>
              <a:cs typeface="Tiro Bangla"/>
              <a:sym typeface="Tiro Bangla"/>
            </a:endParaRPr>
          </a:p>
        </p:txBody>
      </p:sp>
      <p:sp>
        <p:nvSpPr>
          <p:cNvPr id="304" name="Google Shape;304;p15"/>
          <p:cNvSpPr/>
          <p:nvPr/>
        </p:nvSpPr>
        <p:spPr>
          <a:xfrm>
            <a:off x="4972050" y="5600700"/>
            <a:ext cx="939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দুপুর ২টা</a:t>
            </a:r>
            <a:endParaRPr b="0" i="0" sz="1200" u="none" cap="none" strike="noStrike">
              <a:solidFill>
                <a:schemeClr val="dk1"/>
              </a:solidFill>
              <a:latin typeface="Tiro Bangla"/>
              <a:ea typeface="Tiro Bangla"/>
              <a:cs typeface="Tiro Bangla"/>
              <a:sym typeface="Tiro Bangla"/>
            </a:endParaRPr>
          </a:p>
        </p:txBody>
      </p:sp>
      <p:sp>
        <p:nvSpPr>
          <p:cNvPr id="305" name="Google Shape;305;p15"/>
          <p:cNvSpPr/>
          <p:nvPr/>
        </p:nvSpPr>
        <p:spPr>
          <a:xfrm>
            <a:off x="6096000" y="5600700"/>
            <a:ext cx="939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সন্ধ্যা ৬টা</a:t>
            </a:r>
            <a:endParaRPr b="0" i="0" sz="1200" u="none" cap="none" strike="noStrike">
              <a:solidFill>
                <a:schemeClr val="dk1"/>
              </a:solidFill>
              <a:latin typeface="Tiro Bangla"/>
              <a:ea typeface="Tiro Bangla"/>
              <a:cs typeface="Tiro Bangla"/>
              <a:sym typeface="Tiro Bangla"/>
            </a:endParaRPr>
          </a:p>
        </p:txBody>
      </p:sp>
      <p:sp>
        <p:nvSpPr>
          <p:cNvPr id="306" name="Google Shape;306;p15"/>
          <p:cNvSpPr/>
          <p:nvPr/>
        </p:nvSpPr>
        <p:spPr>
          <a:xfrm>
            <a:off x="6940550" y="5600700"/>
            <a:ext cx="939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রাত ৯টা</a:t>
            </a:r>
            <a:endParaRPr b="0" i="0" sz="1200" u="none" cap="none" strike="noStrike">
              <a:solidFill>
                <a:schemeClr val="dk1"/>
              </a:solidFill>
              <a:latin typeface="Tiro Bangla"/>
              <a:ea typeface="Tiro Bangla"/>
              <a:cs typeface="Tiro Bangla"/>
              <a:sym typeface="Tiro Bangla"/>
            </a:endParaRPr>
          </a:p>
        </p:txBody>
      </p:sp>
      <p:sp>
        <p:nvSpPr>
          <p:cNvPr id="307" name="Google Shape;307;p15"/>
          <p:cNvSpPr/>
          <p:nvPr/>
        </p:nvSpPr>
        <p:spPr>
          <a:xfrm>
            <a:off x="5791200" y="2514600"/>
            <a:ext cx="1193800" cy="273050"/>
          </a:xfrm>
          <a:prstGeom prst="rect">
            <a:avLst/>
          </a:prstGeom>
          <a:noFill/>
          <a:ln>
            <a:noFill/>
          </a:ln>
        </p:spPr>
        <p:txBody>
          <a:bodyPr anchorCtr="0" anchor="t" bIns="0" lIns="0" spcFirstLastPara="1" rIns="0" wrap="square" tIns="0">
            <a:noAutofit/>
          </a:bodyPr>
          <a:lstStyle/>
          <a:p>
            <a:pPr indent="0" lvl="0" marL="0" marR="0" rtl="0" algn="r">
              <a:lnSpc>
                <a:spcPct val="130000"/>
              </a:lnSpc>
              <a:spcBef>
                <a:spcPts val="0"/>
              </a:spcBef>
              <a:spcAft>
                <a:spcPts val="0"/>
              </a:spcAft>
              <a:buClr>
                <a:srgbClr val="C8501A"/>
              </a:buClr>
              <a:buSzPts val="1500"/>
              <a:buFont typeface="Tiro Bangla"/>
              <a:buNone/>
            </a:pPr>
            <a:r>
              <a:rPr b="1" i="0" lang="en-US" sz="1500" u="none" cap="none" strike="noStrike">
                <a:solidFill>
                  <a:srgbClr val="C8501A"/>
                </a:solidFill>
                <a:latin typeface="Tiro Bangla"/>
                <a:ea typeface="Tiro Bangla"/>
                <a:cs typeface="Tiro Bangla"/>
                <a:sym typeface="Tiro Bangla"/>
              </a:rPr>
              <a:t>৫৮ হাজার</a:t>
            </a:r>
            <a:endParaRPr b="0" i="0" sz="1500" u="none" cap="none" strike="noStrike">
              <a:solidFill>
                <a:schemeClr val="dk1"/>
              </a:solidFill>
              <a:latin typeface="Tiro Bangla"/>
              <a:ea typeface="Tiro Bangla"/>
              <a:cs typeface="Tiro Bangla"/>
              <a:sym typeface="Tiro Bangla"/>
            </a:endParaRPr>
          </a:p>
        </p:txBody>
      </p:sp>
      <p:cxnSp>
        <p:nvCxnSpPr>
          <p:cNvPr id="308" name="Google Shape;308;p15"/>
          <p:cNvCxnSpPr/>
          <p:nvPr/>
        </p:nvCxnSpPr>
        <p:spPr>
          <a:xfrm>
            <a:off x="8382000" y="2640081"/>
            <a:ext cx="304800" cy="0"/>
          </a:xfrm>
          <a:prstGeom prst="straightConnector1">
            <a:avLst/>
          </a:prstGeom>
          <a:noFill/>
          <a:ln cap="flat" cmpd="sng" w="31750">
            <a:solidFill>
              <a:srgbClr val="C8501A"/>
            </a:solidFill>
            <a:prstDash val="dot"/>
            <a:round/>
            <a:headEnd len="sm" w="sm" type="none"/>
            <a:tailEnd len="sm" w="sm" type="none"/>
          </a:ln>
        </p:spPr>
      </p:cxnSp>
      <p:sp>
        <p:nvSpPr>
          <p:cNvPr id="309" name="Google Shape;309;p15"/>
          <p:cNvSpPr/>
          <p:nvPr/>
        </p:nvSpPr>
        <p:spPr>
          <a:xfrm>
            <a:off x="8788400" y="2540000"/>
            <a:ext cx="939165" cy="22350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384D86"/>
              </a:buClr>
              <a:buSzPts val="1200"/>
              <a:buFont typeface="Tiro Bangla"/>
              <a:buNone/>
            </a:pPr>
            <a:r>
              <a:rPr b="1" i="0" lang="en-US" sz="1200" u="none" cap="none" strike="noStrike">
                <a:solidFill>
                  <a:srgbClr val="384D86"/>
                </a:solidFill>
                <a:latin typeface="Tiro Bangla"/>
                <a:ea typeface="Tiro Bangla"/>
                <a:cs typeface="Tiro Bangla"/>
                <a:sym typeface="Tiro Bangla"/>
              </a:rPr>
              <a:t>মানুষ, ২০২৪</a:t>
            </a:r>
            <a:endParaRPr b="0" i="0" sz="1200" u="none" cap="none" strike="noStrike">
              <a:solidFill>
                <a:schemeClr val="dk1"/>
              </a:solidFill>
              <a:latin typeface="Tiro Bangla"/>
              <a:ea typeface="Tiro Bangla"/>
              <a:cs typeface="Tiro Bangla"/>
              <a:sym typeface="Tiro Bangla"/>
            </a:endParaRPr>
          </a:p>
        </p:txBody>
      </p:sp>
      <p:sp>
        <p:nvSpPr>
          <p:cNvPr id="310" name="Google Shape;310;p15"/>
          <p:cNvSpPr/>
          <p:nvPr/>
        </p:nvSpPr>
        <p:spPr>
          <a:xfrm>
            <a:off x="8382000" y="2893020"/>
            <a:ext cx="304800" cy="50800"/>
          </a:xfrm>
          <a:prstGeom prst="rect">
            <a:avLst/>
          </a:prstGeom>
          <a:solidFill>
            <a:srgbClr val="C8501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 name="Google Shape;311;p15"/>
          <p:cNvSpPr/>
          <p:nvPr/>
        </p:nvSpPr>
        <p:spPr>
          <a:xfrm>
            <a:off x="8788400" y="2819400"/>
            <a:ext cx="939165" cy="22350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384D86"/>
              </a:buClr>
              <a:buSzPts val="1200"/>
              <a:buFont typeface="Tiro Bangla"/>
              <a:buNone/>
            </a:pPr>
            <a:r>
              <a:rPr b="1" i="0" lang="en-US" sz="1200" u="none" cap="none" strike="noStrike">
                <a:solidFill>
                  <a:srgbClr val="384D86"/>
                </a:solidFill>
                <a:latin typeface="Tiro Bangla"/>
                <a:ea typeface="Tiro Bangla"/>
                <a:cs typeface="Tiro Bangla"/>
                <a:sym typeface="Tiro Bangla"/>
              </a:rPr>
              <a:t>মানুষ, ২০২৬</a:t>
            </a:r>
            <a:endParaRPr b="0" i="0" sz="1200" u="none" cap="none" strike="noStrike">
              <a:solidFill>
                <a:schemeClr val="dk1"/>
              </a:solidFill>
              <a:latin typeface="Tiro Bangla"/>
              <a:ea typeface="Tiro Bangla"/>
              <a:cs typeface="Tiro Bangla"/>
              <a:sym typeface="Tiro Bangla"/>
            </a:endParaRPr>
          </a:p>
        </p:txBody>
      </p:sp>
      <p:cxnSp>
        <p:nvCxnSpPr>
          <p:cNvPr id="312" name="Google Shape;312;p15"/>
          <p:cNvCxnSpPr/>
          <p:nvPr/>
        </p:nvCxnSpPr>
        <p:spPr>
          <a:xfrm>
            <a:off x="8382000" y="3197820"/>
            <a:ext cx="304800" cy="0"/>
          </a:xfrm>
          <a:prstGeom prst="straightConnector1">
            <a:avLst/>
          </a:prstGeom>
          <a:noFill/>
          <a:ln cap="flat" cmpd="sng" w="38100">
            <a:solidFill>
              <a:srgbClr val="0E65C0"/>
            </a:solidFill>
            <a:prstDash val="dash"/>
            <a:round/>
            <a:headEnd len="sm" w="sm" type="none"/>
            <a:tailEnd len="sm" w="sm" type="none"/>
          </a:ln>
        </p:spPr>
      </p:cxnSp>
      <p:sp>
        <p:nvSpPr>
          <p:cNvPr id="313" name="Google Shape;313;p15"/>
          <p:cNvSpPr/>
          <p:nvPr/>
        </p:nvSpPr>
        <p:spPr>
          <a:xfrm>
            <a:off x="8788400" y="3098800"/>
            <a:ext cx="1443117" cy="22350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384D86"/>
              </a:buClr>
              <a:buSzPts val="1200"/>
              <a:buFont typeface="Tiro Bangla"/>
              <a:buNone/>
            </a:pPr>
            <a:r>
              <a:rPr b="1" i="0" lang="en-US" sz="1200" u="none" cap="none" strike="noStrike">
                <a:solidFill>
                  <a:srgbClr val="384D86"/>
                </a:solidFill>
                <a:latin typeface="Tiro Bangla"/>
                <a:ea typeface="Tiro Bangla"/>
                <a:cs typeface="Tiro Bangla"/>
                <a:sym typeface="Tiro Bangla"/>
              </a:rPr>
              <a:t>ছদ্মবেশী বট, ২০২৬</a:t>
            </a:r>
            <a:endParaRPr b="0" i="0" sz="1200" u="none" cap="none" strike="noStrike">
              <a:solidFill>
                <a:schemeClr val="dk1"/>
              </a:solidFill>
              <a:latin typeface="Tiro Bangla"/>
              <a:ea typeface="Tiro Bangla"/>
              <a:cs typeface="Tiro Bangla"/>
              <a:sym typeface="Tiro Bangla"/>
            </a:endParaRPr>
          </a:p>
        </p:txBody>
      </p:sp>
      <p:sp>
        <p:nvSpPr>
          <p:cNvPr id="314" name="Google Shape;314;p15"/>
          <p:cNvSpPr/>
          <p:nvPr/>
        </p:nvSpPr>
        <p:spPr>
          <a:xfrm>
            <a:off x="8382000" y="3461345"/>
            <a:ext cx="304800" cy="31750"/>
          </a:xfrm>
          <a:prstGeom prst="rect">
            <a:avLst/>
          </a:prstGeom>
          <a:solidFill>
            <a:srgbClr val="8A93A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p15"/>
          <p:cNvSpPr/>
          <p:nvPr/>
        </p:nvSpPr>
        <p:spPr>
          <a:xfrm>
            <a:off x="8788400" y="3378200"/>
            <a:ext cx="1015921" cy="22350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384D86"/>
              </a:buClr>
              <a:buSzPts val="1200"/>
              <a:buFont typeface="Tiro Bangla"/>
              <a:buNone/>
            </a:pPr>
            <a:r>
              <a:rPr b="1" i="0" lang="en-US" sz="1200" u="none" cap="none" strike="noStrike">
                <a:solidFill>
                  <a:srgbClr val="384D86"/>
                </a:solidFill>
                <a:latin typeface="Tiro Bangla"/>
                <a:ea typeface="Tiro Bangla"/>
                <a:cs typeface="Tiro Bangla"/>
                <a:sym typeface="Tiro Bangla"/>
              </a:rPr>
              <a:t>ক্রলার, ২০২৬</a:t>
            </a:r>
            <a:endParaRPr b="0" i="0" sz="1200" u="none" cap="none" strike="noStrike">
              <a:solidFill>
                <a:schemeClr val="dk1"/>
              </a:solidFill>
              <a:latin typeface="Tiro Bangla"/>
              <a:ea typeface="Tiro Bangla"/>
              <a:cs typeface="Tiro Bangla"/>
              <a:sym typeface="Tiro Bangla"/>
            </a:endParaRPr>
          </a:p>
        </p:txBody>
      </p:sp>
      <p:sp>
        <p:nvSpPr>
          <p:cNvPr id="316" name="Google Shape;316;p15"/>
          <p:cNvSpPr/>
          <p:nvPr/>
        </p:nvSpPr>
        <p:spPr>
          <a:xfrm>
            <a:off x="8382000" y="3873500"/>
            <a:ext cx="2997200" cy="1548077"/>
          </a:xfrm>
          <a:prstGeom prst="roundRect">
            <a:avLst>
              <a:gd fmla="val 4922" name="adj"/>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 name="Google Shape;317;p15"/>
          <p:cNvSpPr/>
          <p:nvPr/>
        </p:nvSpPr>
        <p:spPr>
          <a:xfrm>
            <a:off x="8534400" y="4025900"/>
            <a:ext cx="2773172" cy="22350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রাত ৯টায় প্রতি ঘণ্টায় মানুষের পেজভিউ</a:t>
            </a:r>
            <a:endParaRPr b="0" i="0" sz="1200" u="none" cap="none" strike="noStrike">
              <a:solidFill>
                <a:schemeClr val="dk1"/>
              </a:solidFill>
              <a:latin typeface="Tiro Bangla"/>
              <a:ea typeface="Tiro Bangla"/>
              <a:cs typeface="Tiro Bangla"/>
              <a:sym typeface="Tiro Bangla"/>
            </a:endParaRPr>
          </a:p>
        </p:txBody>
      </p:sp>
      <p:sp>
        <p:nvSpPr>
          <p:cNvPr id="318" name="Google Shape;318;p15"/>
          <p:cNvSpPr/>
          <p:nvPr/>
        </p:nvSpPr>
        <p:spPr>
          <a:xfrm>
            <a:off x="8534400" y="4274809"/>
            <a:ext cx="2773172" cy="27305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384D86"/>
              </a:buClr>
              <a:buSzPts val="1500"/>
              <a:buFont typeface="Tiro Bangla"/>
              <a:buNone/>
            </a:pPr>
            <a:r>
              <a:rPr b="1" i="0" lang="en-US" sz="1500" u="none" cap="none" strike="noStrike">
                <a:solidFill>
                  <a:srgbClr val="384D86"/>
                </a:solidFill>
                <a:latin typeface="Tiro Bangla"/>
                <a:ea typeface="Tiro Bangla"/>
                <a:cs typeface="Tiro Bangla"/>
                <a:sym typeface="Tiro Bangla"/>
              </a:rPr>
              <a:t>৫৮ হাজার → ১৮ হাজার</a:t>
            </a:r>
            <a:endParaRPr b="0" i="0" sz="1500" u="none" cap="none" strike="noStrike">
              <a:solidFill>
                <a:schemeClr val="dk1"/>
              </a:solidFill>
              <a:latin typeface="Tiro Bangla"/>
              <a:ea typeface="Tiro Bangla"/>
              <a:cs typeface="Tiro Bangla"/>
              <a:sym typeface="Tiro Bangla"/>
            </a:endParaRPr>
          </a:p>
        </p:txBody>
      </p:sp>
      <p:sp>
        <p:nvSpPr>
          <p:cNvPr id="319" name="Google Shape;319;p15"/>
          <p:cNvSpPr/>
          <p:nvPr/>
        </p:nvSpPr>
        <p:spPr>
          <a:xfrm>
            <a:off x="8534400" y="4573259"/>
            <a:ext cx="2773172" cy="472414"/>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C8501A"/>
              </a:buClr>
              <a:buSzPts val="3200"/>
              <a:buFont typeface="Tiro Bangla"/>
              <a:buNone/>
            </a:pPr>
            <a:r>
              <a:rPr b="0" i="0" lang="en-US" sz="3200" u="none" cap="none" strike="noStrike">
                <a:solidFill>
                  <a:srgbClr val="C8501A"/>
                </a:solidFill>
                <a:latin typeface="Tiro Bangla"/>
                <a:ea typeface="Tiro Bangla"/>
                <a:cs typeface="Tiro Bangla"/>
                <a:sym typeface="Tiro Bangla"/>
              </a:rPr>
              <a:t>−৭০%</a:t>
            </a:r>
            <a:endParaRPr b="0" i="0" sz="3200" u="none" cap="none" strike="noStrike">
              <a:solidFill>
                <a:schemeClr val="dk1"/>
              </a:solidFill>
              <a:latin typeface="Tiro Bangla"/>
              <a:ea typeface="Tiro Bangla"/>
              <a:cs typeface="Tiro Bangla"/>
              <a:sym typeface="Tiro Bangla"/>
            </a:endParaRPr>
          </a:p>
        </p:txBody>
      </p:sp>
      <p:sp>
        <p:nvSpPr>
          <p:cNvPr id="320" name="Google Shape;320;p15"/>
          <p:cNvSpPr/>
          <p:nvPr/>
        </p:nvSpPr>
        <p:spPr>
          <a:xfrm>
            <a:off x="8534400" y="5071070"/>
            <a:ext cx="2773172" cy="22350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ভোর ৪টায়: ৯ হাজার → ৫ হাজার, −৪১%</a:t>
            </a:r>
            <a:endParaRPr b="0" i="0" sz="1200" u="none" cap="none" strike="noStrike">
              <a:solidFill>
                <a:schemeClr val="dk1"/>
              </a:solidFill>
              <a:latin typeface="Tiro Bangla"/>
              <a:ea typeface="Tiro Bangla"/>
              <a:cs typeface="Tiro Bangla"/>
              <a:sym typeface="Tiro Bangla"/>
            </a:endParaRPr>
          </a:p>
        </p:txBody>
      </p:sp>
      <p:sp>
        <p:nvSpPr>
          <p:cNvPr id="321" name="Google Shape;321;p15"/>
          <p:cNvSpPr/>
          <p:nvPr/>
        </p:nvSpPr>
        <p:spPr>
          <a:xfrm>
            <a:off x="812800" y="6236959"/>
            <a:ext cx="7050088"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প্রতি ঘণ্টার গড় পেজভিউ, বাংলাদেশ সময় · জানুয়ারি–সেপ্টেম্বর · উৎস: উইকিমিডিয়া পেজভিউ API</a:t>
            </a:r>
            <a:endParaRPr b="0" i="0" sz="1200" u="none" cap="none" strike="noStrike">
              <a:solidFill>
                <a:schemeClr val="dk1"/>
              </a:solidFill>
              <a:latin typeface="Tiro Bangla"/>
              <a:ea typeface="Tiro Bangla"/>
              <a:cs typeface="Tiro Bangla"/>
              <a:sym typeface="Tiro Bangla"/>
            </a:endParaRPr>
          </a:p>
        </p:txBody>
      </p:sp>
      <p:sp>
        <p:nvSpPr>
          <p:cNvPr id="322" name="Google Shape;322;p15"/>
          <p:cNvSpPr/>
          <p:nvPr/>
        </p:nvSpPr>
        <p:spPr>
          <a:xfrm>
            <a:off x="10972536" y="6236959"/>
            <a:ext cx="457465"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৬ / ১৯</a:t>
            </a:r>
            <a:endParaRPr b="0" i="0" sz="1200" u="none" cap="none" strike="noStrike">
              <a:solidFill>
                <a:schemeClr val="dk1"/>
              </a:solidFill>
              <a:latin typeface="Tiro Bangla"/>
              <a:ea typeface="Tiro Bangla"/>
              <a:cs typeface="Tiro Bangla"/>
              <a:sym typeface="Tiro Bangla"/>
            </a:endParaRPr>
          </a:p>
        </p:txBody>
      </p:sp>
      <p:pic>
        <p:nvPicPr>
          <p:cNvPr descr="বাংলা উইকিসম্মেলন ২০২৬ লোগো" id="323" name="Google Shape;323;p15"/>
          <p:cNvPicPr preferRelativeResize="0"/>
          <p:nvPr/>
        </p:nvPicPr>
        <p:blipFill rotWithShape="1">
          <a:blip r:embed="rId6">
            <a:alphaModFix/>
          </a:blip>
          <a:srcRect b="0" l="0" r="0" t="0"/>
          <a:stretch/>
        </p:blipFill>
        <p:spPr>
          <a:xfrm>
            <a:off x="10314432" y="365760"/>
            <a:ext cx="1115568" cy="66686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8DA"/>
        </a:solidFill>
      </p:bgPr>
    </p:bg>
    <p:spTree>
      <p:nvGrpSpPr>
        <p:cNvPr id="328" name="Shape 328"/>
        <p:cNvGrpSpPr/>
        <p:nvPr/>
      </p:nvGrpSpPr>
      <p:grpSpPr>
        <a:xfrm>
          <a:off x="0" y="0"/>
          <a:ext cx="0" cy="0"/>
          <a:chOff x="0" y="0"/>
          <a:chExt cx="0" cy="0"/>
        </a:xfrm>
      </p:grpSpPr>
      <p:sp>
        <p:nvSpPr>
          <p:cNvPr id="329" name="Google Shape;329;p16"/>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8501A"/>
              </a:buClr>
              <a:buSzPts val="1200"/>
              <a:buFont typeface="Tiro Bangla"/>
              <a:buNone/>
            </a:pPr>
            <a:r>
              <a:rPr b="1" i="0" lang="en-US" sz="1200" u="none" cap="none" strike="noStrike">
                <a:solidFill>
                  <a:srgbClr val="C8501A"/>
                </a:solidFill>
                <a:latin typeface="Tiro Bangla"/>
                <a:ea typeface="Tiro Bangla"/>
                <a:cs typeface="Tiro Bangla"/>
                <a:sym typeface="Tiro Bangla"/>
              </a:rPr>
              <a:t>পাঠক · ৪</a:t>
            </a:r>
            <a:endParaRPr b="0" i="0" sz="1200" u="none" cap="none" strike="noStrike">
              <a:solidFill>
                <a:schemeClr val="dk1"/>
              </a:solidFill>
              <a:latin typeface="Tiro Bangla"/>
              <a:ea typeface="Tiro Bangla"/>
              <a:cs typeface="Tiro Bangla"/>
              <a:sym typeface="Tiro Bangla"/>
            </a:endParaRPr>
          </a:p>
        </p:txBody>
      </p:sp>
      <p:sp>
        <p:nvSpPr>
          <p:cNvPr id="330" name="Google Shape;330;p16"/>
          <p:cNvSpPr/>
          <p:nvPr/>
        </p:nvSpPr>
        <p:spPr>
          <a:xfrm>
            <a:off x="812800" y="1127720"/>
            <a:ext cx="9810750" cy="49272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84D86"/>
              </a:buClr>
              <a:buSzPts val="3200"/>
              <a:buFont typeface="Tiro Bangla"/>
              <a:buNone/>
            </a:pPr>
            <a:r>
              <a:rPr b="0" i="0" lang="en-US" sz="3200" u="none" cap="none" strike="noStrike">
                <a:solidFill>
                  <a:srgbClr val="384D86"/>
                </a:solidFill>
                <a:latin typeface="Tiro Bangla"/>
                <a:ea typeface="Tiro Bangla"/>
                <a:cs typeface="Tiro Bangla"/>
                <a:sym typeface="Tiro Bangla"/>
              </a:rPr>
              <a:t>মোবাইলের পাঠক হারিয়েছি, ডেস্কটপে বেড়েছে যন্ত্র</a:t>
            </a:r>
            <a:endParaRPr b="0" i="0" sz="3200" u="none" cap="none" strike="noStrike">
              <a:solidFill>
                <a:schemeClr val="dk1"/>
              </a:solidFill>
              <a:latin typeface="Tiro Bangla"/>
              <a:ea typeface="Tiro Bangla"/>
              <a:cs typeface="Tiro Bangla"/>
              <a:sym typeface="Tiro Bangla"/>
            </a:endParaRPr>
          </a:p>
        </p:txBody>
      </p:sp>
      <p:sp>
        <p:nvSpPr>
          <p:cNvPr id="331" name="Google Shape;331;p16"/>
          <p:cNvSpPr/>
          <p:nvPr/>
        </p:nvSpPr>
        <p:spPr>
          <a:xfrm>
            <a:off x="812800" y="2560377"/>
            <a:ext cx="5181600" cy="1539214"/>
          </a:xfrm>
          <a:prstGeom prst="roundRect">
            <a:avLst>
              <a:gd fmla="val 4951" name="adj"/>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 name="Google Shape;332;p16"/>
          <p:cNvSpPr/>
          <p:nvPr/>
        </p:nvSpPr>
        <p:spPr>
          <a:xfrm>
            <a:off x="1016000" y="2738177"/>
            <a:ext cx="4918456" cy="27305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384D86"/>
              </a:buClr>
              <a:buSzPts val="1500"/>
              <a:buFont typeface="Tiro Bangla"/>
              <a:buNone/>
            </a:pPr>
            <a:r>
              <a:rPr b="1" i="0" lang="en-US" sz="1500" u="none" cap="none" strike="noStrike">
                <a:solidFill>
                  <a:srgbClr val="384D86"/>
                </a:solidFill>
                <a:latin typeface="Tiro Bangla"/>
                <a:ea typeface="Tiro Bangla"/>
                <a:cs typeface="Tiro Bangla"/>
                <a:sym typeface="Tiro Bangla"/>
              </a:rPr>
              <a:t>মোবাইল ওয়েব · মানুষ</a:t>
            </a:r>
            <a:endParaRPr b="0" i="0" sz="1500" u="none" cap="none" strike="noStrike">
              <a:solidFill>
                <a:schemeClr val="dk1"/>
              </a:solidFill>
              <a:latin typeface="Tiro Bangla"/>
              <a:ea typeface="Tiro Bangla"/>
              <a:cs typeface="Tiro Bangla"/>
              <a:sym typeface="Tiro Bangla"/>
            </a:endParaRPr>
          </a:p>
        </p:txBody>
      </p:sp>
      <p:sp>
        <p:nvSpPr>
          <p:cNvPr id="333" name="Google Shape;333;p16"/>
          <p:cNvSpPr/>
          <p:nvPr/>
        </p:nvSpPr>
        <p:spPr>
          <a:xfrm>
            <a:off x="1016000" y="3036627"/>
            <a:ext cx="4918456" cy="612114"/>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C8501A"/>
              </a:buClr>
              <a:buSzPts val="4400"/>
              <a:buFont typeface="Tiro Bangla"/>
              <a:buNone/>
            </a:pPr>
            <a:r>
              <a:rPr b="0" i="0" lang="en-US" sz="4400" u="none" cap="none" strike="noStrike">
                <a:solidFill>
                  <a:srgbClr val="C8501A"/>
                </a:solidFill>
                <a:latin typeface="Tiro Bangla"/>
                <a:ea typeface="Tiro Bangla"/>
                <a:cs typeface="Tiro Bangla"/>
                <a:sym typeface="Tiro Bangla"/>
              </a:rPr>
              <a:t>−৭২%</a:t>
            </a:r>
            <a:endParaRPr b="0" i="0" sz="4400" u="none" cap="none" strike="noStrike">
              <a:solidFill>
                <a:schemeClr val="dk1"/>
              </a:solidFill>
              <a:latin typeface="Tiro Bangla"/>
              <a:ea typeface="Tiro Bangla"/>
              <a:cs typeface="Tiro Bangla"/>
              <a:sym typeface="Tiro Bangla"/>
            </a:endParaRPr>
          </a:p>
        </p:txBody>
      </p:sp>
      <p:sp>
        <p:nvSpPr>
          <p:cNvPr id="334" name="Google Shape;334;p16"/>
          <p:cNvSpPr/>
          <p:nvPr/>
        </p:nvSpPr>
        <p:spPr>
          <a:xfrm>
            <a:off x="1016000" y="3674139"/>
            <a:ext cx="4918456" cy="27305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F6A8A"/>
              </a:buClr>
              <a:buSzPts val="1500"/>
              <a:buFont typeface="Tiro Bangla"/>
              <a:buNone/>
            </a:pPr>
            <a:r>
              <a:rPr b="0" i="0" lang="en-US" sz="1500" u="none" cap="none" strike="noStrike">
                <a:solidFill>
                  <a:srgbClr val="5F6A8A"/>
                </a:solidFill>
                <a:latin typeface="Tiro Bangla"/>
                <a:ea typeface="Tiro Bangla"/>
                <a:cs typeface="Tiro Bangla"/>
                <a:sym typeface="Tiro Bangla"/>
              </a:rPr>
              <a:t>মাসে ২.২১ কোটি → ৬৩ লাখ</a:t>
            </a:r>
            <a:endParaRPr b="0" i="0" sz="1500" u="none" cap="none" strike="noStrike">
              <a:solidFill>
                <a:schemeClr val="dk1"/>
              </a:solidFill>
              <a:latin typeface="Tiro Bangla"/>
              <a:ea typeface="Tiro Bangla"/>
              <a:cs typeface="Tiro Bangla"/>
              <a:sym typeface="Tiro Bangla"/>
            </a:endParaRPr>
          </a:p>
        </p:txBody>
      </p:sp>
      <p:sp>
        <p:nvSpPr>
          <p:cNvPr id="335" name="Google Shape;335;p16"/>
          <p:cNvSpPr/>
          <p:nvPr/>
        </p:nvSpPr>
        <p:spPr>
          <a:xfrm>
            <a:off x="6197600" y="2560377"/>
            <a:ext cx="5181600" cy="1539214"/>
          </a:xfrm>
          <a:prstGeom prst="roundRect">
            <a:avLst>
              <a:gd fmla="val 4951" name="adj"/>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 name="Google Shape;336;p16"/>
          <p:cNvSpPr/>
          <p:nvPr/>
        </p:nvSpPr>
        <p:spPr>
          <a:xfrm>
            <a:off x="6400800" y="2738177"/>
            <a:ext cx="4918456" cy="27305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384D86"/>
              </a:buClr>
              <a:buSzPts val="1500"/>
              <a:buFont typeface="Tiro Bangla"/>
              <a:buNone/>
            </a:pPr>
            <a:r>
              <a:rPr b="1" i="0" lang="en-US" sz="1500" u="none" cap="none" strike="noStrike">
                <a:solidFill>
                  <a:srgbClr val="384D86"/>
                </a:solidFill>
                <a:latin typeface="Tiro Bangla"/>
                <a:ea typeface="Tiro Bangla"/>
                <a:cs typeface="Tiro Bangla"/>
                <a:sym typeface="Tiro Bangla"/>
              </a:rPr>
              <a:t>ডেস্কটপ · মানুষ</a:t>
            </a:r>
            <a:endParaRPr b="0" i="0" sz="1500" u="none" cap="none" strike="noStrike">
              <a:solidFill>
                <a:schemeClr val="dk1"/>
              </a:solidFill>
              <a:latin typeface="Tiro Bangla"/>
              <a:ea typeface="Tiro Bangla"/>
              <a:cs typeface="Tiro Bangla"/>
              <a:sym typeface="Tiro Bangla"/>
            </a:endParaRPr>
          </a:p>
        </p:txBody>
      </p:sp>
      <p:sp>
        <p:nvSpPr>
          <p:cNvPr id="337" name="Google Shape;337;p16"/>
          <p:cNvSpPr/>
          <p:nvPr/>
        </p:nvSpPr>
        <p:spPr>
          <a:xfrm>
            <a:off x="6400800" y="3036627"/>
            <a:ext cx="4918456" cy="612114"/>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C8501A"/>
              </a:buClr>
              <a:buSzPts val="4400"/>
              <a:buFont typeface="Tiro Bangla"/>
              <a:buNone/>
            </a:pPr>
            <a:r>
              <a:rPr b="0" i="0" lang="en-US" sz="4400" u="none" cap="none" strike="noStrike">
                <a:solidFill>
                  <a:srgbClr val="C8501A"/>
                </a:solidFill>
                <a:latin typeface="Tiro Bangla"/>
                <a:ea typeface="Tiro Bangla"/>
                <a:cs typeface="Tiro Bangla"/>
                <a:sym typeface="Tiro Bangla"/>
              </a:rPr>
              <a:t>+৬%</a:t>
            </a:r>
            <a:endParaRPr b="0" i="0" sz="4400" u="none" cap="none" strike="noStrike">
              <a:solidFill>
                <a:schemeClr val="dk1"/>
              </a:solidFill>
              <a:latin typeface="Tiro Bangla"/>
              <a:ea typeface="Tiro Bangla"/>
              <a:cs typeface="Tiro Bangla"/>
              <a:sym typeface="Tiro Bangla"/>
            </a:endParaRPr>
          </a:p>
        </p:txBody>
      </p:sp>
      <p:sp>
        <p:nvSpPr>
          <p:cNvPr id="338" name="Google Shape;338;p16"/>
          <p:cNvSpPr/>
          <p:nvPr/>
        </p:nvSpPr>
        <p:spPr>
          <a:xfrm>
            <a:off x="6400800" y="3674139"/>
            <a:ext cx="4918456" cy="27305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F6A8A"/>
              </a:buClr>
              <a:buSzPts val="1500"/>
              <a:buFont typeface="Tiro Bangla"/>
              <a:buNone/>
            </a:pPr>
            <a:r>
              <a:rPr b="0" i="0" lang="en-US" sz="1500" u="none" cap="none" strike="noStrike">
                <a:solidFill>
                  <a:srgbClr val="5F6A8A"/>
                </a:solidFill>
                <a:latin typeface="Tiro Bangla"/>
                <a:ea typeface="Tiro Bangla"/>
                <a:cs typeface="Tiro Bangla"/>
                <a:sym typeface="Tiro Bangla"/>
              </a:rPr>
              <a:t>মাসে ২৬ লাখ → ২৭ লাখ</a:t>
            </a:r>
            <a:endParaRPr b="0" i="0" sz="1500" u="none" cap="none" strike="noStrike">
              <a:solidFill>
                <a:schemeClr val="dk1"/>
              </a:solidFill>
              <a:latin typeface="Tiro Bangla"/>
              <a:ea typeface="Tiro Bangla"/>
              <a:cs typeface="Tiro Bangla"/>
              <a:sym typeface="Tiro Bangla"/>
            </a:endParaRPr>
          </a:p>
        </p:txBody>
      </p:sp>
      <p:sp>
        <p:nvSpPr>
          <p:cNvPr id="339" name="Google Shape;339;p16"/>
          <p:cNvSpPr/>
          <p:nvPr/>
        </p:nvSpPr>
        <p:spPr>
          <a:xfrm>
            <a:off x="812800" y="4302789"/>
            <a:ext cx="5181600" cy="1539214"/>
          </a:xfrm>
          <a:prstGeom prst="roundRect">
            <a:avLst>
              <a:gd fmla="val 4951" name="adj"/>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 name="Google Shape;340;p16"/>
          <p:cNvSpPr/>
          <p:nvPr/>
        </p:nvSpPr>
        <p:spPr>
          <a:xfrm>
            <a:off x="1016000" y="4480589"/>
            <a:ext cx="4918456" cy="27305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384D86"/>
              </a:buClr>
              <a:buSzPts val="1500"/>
              <a:buFont typeface="Tiro Bangla"/>
              <a:buNone/>
            </a:pPr>
            <a:r>
              <a:rPr b="1" i="0" lang="en-US" sz="1500" u="none" cap="none" strike="noStrike">
                <a:solidFill>
                  <a:srgbClr val="384D86"/>
                </a:solidFill>
                <a:latin typeface="Tiro Bangla"/>
                <a:ea typeface="Tiro Bangla"/>
                <a:cs typeface="Tiro Bangla"/>
                <a:sym typeface="Tiro Bangla"/>
              </a:rPr>
              <a:t>মোবাইল ওয়েব · ছদ্মবেশী বট</a:t>
            </a:r>
            <a:endParaRPr b="0" i="0" sz="1500" u="none" cap="none" strike="noStrike">
              <a:solidFill>
                <a:schemeClr val="dk1"/>
              </a:solidFill>
              <a:latin typeface="Tiro Bangla"/>
              <a:ea typeface="Tiro Bangla"/>
              <a:cs typeface="Tiro Bangla"/>
              <a:sym typeface="Tiro Bangla"/>
            </a:endParaRPr>
          </a:p>
        </p:txBody>
      </p:sp>
      <p:sp>
        <p:nvSpPr>
          <p:cNvPr id="341" name="Google Shape;341;p16"/>
          <p:cNvSpPr/>
          <p:nvPr/>
        </p:nvSpPr>
        <p:spPr>
          <a:xfrm>
            <a:off x="1016000" y="4779039"/>
            <a:ext cx="4918456" cy="612114"/>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0E65C0"/>
              </a:buClr>
              <a:buSzPts val="4400"/>
              <a:buFont typeface="Tiro Bangla"/>
              <a:buNone/>
            </a:pPr>
            <a:r>
              <a:rPr b="0" i="0" lang="en-US" sz="4400" u="none" cap="none" strike="noStrike">
                <a:solidFill>
                  <a:srgbClr val="0E65C0"/>
                </a:solidFill>
                <a:latin typeface="Tiro Bangla"/>
                <a:ea typeface="Tiro Bangla"/>
                <a:cs typeface="Tiro Bangla"/>
                <a:sym typeface="Tiro Bangla"/>
              </a:rPr>
              <a:t>২ গুণ</a:t>
            </a:r>
            <a:endParaRPr b="0" i="0" sz="4400" u="none" cap="none" strike="noStrike">
              <a:solidFill>
                <a:schemeClr val="dk1"/>
              </a:solidFill>
              <a:latin typeface="Tiro Bangla"/>
              <a:ea typeface="Tiro Bangla"/>
              <a:cs typeface="Tiro Bangla"/>
              <a:sym typeface="Tiro Bangla"/>
            </a:endParaRPr>
          </a:p>
        </p:txBody>
      </p:sp>
      <p:sp>
        <p:nvSpPr>
          <p:cNvPr id="342" name="Google Shape;342;p16"/>
          <p:cNvSpPr/>
          <p:nvPr/>
        </p:nvSpPr>
        <p:spPr>
          <a:xfrm>
            <a:off x="1016000" y="5416550"/>
            <a:ext cx="4918456" cy="27305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F6A8A"/>
              </a:buClr>
              <a:buSzPts val="1500"/>
              <a:buFont typeface="Tiro Bangla"/>
              <a:buNone/>
            </a:pPr>
            <a:r>
              <a:rPr b="0" i="0" lang="en-US" sz="1500" u="none" cap="none" strike="noStrike">
                <a:solidFill>
                  <a:srgbClr val="5F6A8A"/>
                </a:solidFill>
                <a:latin typeface="Tiro Bangla"/>
                <a:ea typeface="Tiro Bangla"/>
                <a:cs typeface="Tiro Bangla"/>
                <a:sym typeface="Tiro Bangla"/>
              </a:rPr>
              <a:t>মাসে প্রায় ২৬ লাখ → ৫০ লাখ</a:t>
            </a:r>
            <a:endParaRPr b="0" i="0" sz="1500" u="none" cap="none" strike="noStrike">
              <a:solidFill>
                <a:schemeClr val="dk1"/>
              </a:solidFill>
              <a:latin typeface="Tiro Bangla"/>
              <a:ea typeface="Tiro Bangla"/>
              <a:cs typeface="Tiro Bangla"/>
              <a:sym typeface="Tiro Bangla"/>
            </a:endParaRPr>
          </a:p>
        </p:txBody>
      </p:sp>
      <p:sp>
        <p:nvSpPr>
          <p:cNvPr id="343" name="Google Shape;343;p16"/>
          <p:cNvSpPr/>
          <p:nvPr/>
        </p:nvSpPr>
        <p:spPr>
          <a:xfrm>
            <a:off x="6197600" y="4302789"/>
            <a:ext cx="5181600" cy="1539214"/>
          </a:xfrm>
          <a:prstGeom prst="roundRect">
            <a:avLst>
              <a:gd fmla="val 4951" name="adj"/>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 name="Google Shape;344;p16"/>
          <p:cNvSpPr/>
          <p:nvPr/>
        </p:nvSpPr>
        <p:spPr>
          <a:xfrm>
            <a:off x="6400800" y="4480589"/>
            <a:ext cx="4918456" cy="27305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384D86"/>
              </a:buClr>
              <a:buSzPts val="1500"/>
              <a:buFont typeface="Tiro Bangla"/>
              <a:buNone/>
            </a:pPr>
            <a:r>
              <a:rPr b="1" i="0" lang="en-US" sz="1500" u="none" cap="none" strike="noStrike">
                <a:solidFill>
                  <a:srgbClr val="384D86"/>
                </a:solidFill>
                <a:latin typeface="Tiro Bangla"/>
                <a:ea typeface="Tiro Bangla"/>
                <a:cs typeface="Tiro Bangla"/>
                <a:sym typeface="Tiro Bangla"/>
              </a:rPr>
              <a:t>ডেস্কটপ · ছদ্মবেশী বট</a:t>
            </a:r>
            <a:endParaRPr b="0" i="0" sz="1500" u="none" cap="none" strike="noStrike">
              <a:solidFill>
                <a:schemeClr val="dk1"/>
              </a:solidFill>
              <a:latin typeface="Tiro Bangla"/>
              <a:ea typeface="Tiro Bangla"/>
              <a:cs typeface="Tiro Bangla"/>
              <a:sym typeface="Tiro Bangla"/>
            </a:endParaRPr>
          </a:p>
        </p:txBody>
      </p:sp>
      <p:sp>
        <p:nvSpPr>
          <p:cNvPr id="345" name="Google Shape;345;p16"/>
          <p:cNvSpPr/>
          <p:nvPr/>
        </p:nvSpPr>
        <p:spPr>
          <a:xfrm>
            <a:off x="6400800" y="4779039"/>
            <a:ext cx="4918456" cy="612114"/>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0E65C0"/>
              </a:buClr>
              <a:buSzPts val="4400"/>
              <a:buFont typeface="Tiro Bangla"/>
              <a:buNone/>
            </a:pPr>
            <a:r>
              <a:rPr b="0" i="0" lang="en-US" sz="4400" u="none" cap="none" strike="noStrike">
                <a:solidFill>
                  <a:srgbClr val="0E65C0"/>
                </a:solidFill>
                <a:latin typeface="Tiro Bangla"/>
                <a:ea typeface="Tiro Bangla"/>
                <a:cs typeface="Tiro Bangla"/>
                <a:sym typeface="Tiro Bangla"/>
              </a:rPr>
              <a:t>৬ গুণ</a:t>
            </a:r>
            <a:endParaRPr b="0" i="0" sz="4400" u="none" cap="none" strike="noStrike">
              <a:solidFill>
                <a:schemeClr val="dk1"/>
              </a:solidFill>
              <a:latin typeface="Tiro Bangla"/>
              <a:ea typeface="Tiro Bangla"/>
              <a:cs typeface="Tiro Bangla"/>
              <a:sym typeface="Tiro Bangla"/>
            </a:endParaRPr>
          </a:p>
        </p:txBody>
      </p:sp>
      <p:sp>
        <p:nvSpPr>
          <p:cNvPr id="346" name="Google Shape;346;p16"/>
          <p:cNvSpPr/>
          <p:nvPr/>
        </p:nvSpPr>
        <p:spPr>
          <a:xfrm>
            <a:off x="6400800" y="5416550"/>
            <a:ext cx="4918456" cy="27305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F6A8A"/>
              </a:buClr>
              <a:buSzPts val="1500"/>
              <a:buFont typeface="Tiro Bangla"/>
              <a:buNone/>
            </a:pPr>
            <a:r>
              <a:rPr b="0" i="0" lang="en-US" sz="1500" u="none" cap="none" strike="noStrike">
                <a:solidFill>
                  <a:srgbClr val="5F6A8A"/>
                </a:solidFill>
                <a:latin typeface="Tiro Bangla"/>
                <a:ea typeface="Tiro Bangla"/>
                <a:cs typeface="Tiro Bangla"/>
                <a:sym typeface="Tiro Bangla"/>
              </a:rPr>
              <a:t>মাসে প্রায় ১০ লাখ → ৬৪ লাখ</a:t>
            </a:r>
            <a:endParaRPr b="0" i="0" sz="1500" u="none" cap="none" strike="noStrike">
              <a:solidFill>
                <a:schemeClr val="dk1"/>
              </a:solidFill>
              <a:latin typeface="Tiro Bangla"/>
              <a:ea typeface="Tiro Bangla"/>
              <a:cs typeface="Tiro Bangla"/>
              <a:sym typeface="Tiro Bangla"/>
            </a:endParaRPr>
          </a:p>
        </p:txBody>
      </p:sp>
      <p:sp>
        <p:nvSpPr>
          <p:cNvPr id="347" name="Google Shape;347;p16"/>
          <p:cNvSpPr/>
          <p:nvPr/>
        </p:nvSpPr>
        <p:spPr>
          <a:xfrm>
            <a:off x="812800" y="6236959"/>
            <a:ext cx="8661956"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২০২৪ → ২০২৬, জানুয়ারি–সেপ্টেম্বর মাসিক গড় · বটের সংখ্যা ঘণ্টাভিত্তিক ডেটা থেকে · উৎস: উইকিমিডিয়া পেজভিউ API</a:t>
            </a:r>
            <a:endParaRPr b="0" i="0" sz="1200" u="none" cap="none" strike="noStrike">
              <a:solidFill>
                <a:schemeClr val="dk1"/>
              </a:solidFill>
              <a:latin typeface="Tiro Bangla"/>
              <a:ea typeface="Tiro Bangla"/>
              <a:cs typeface="Tiro Bangla"/>
              <a:sym typeface="Tiro Bangla"/>
            </a:endParaRPr>
          </a:p>
        </p:txBody>
      </p:sp>
      <p:sp>
        <p:nvSpPr>
          <p:cNvPr id="348" name="Google Shape;348;p16"/>
          <p:cNvSpPr/>
          <p:nvPr/>
        </p:nvSpPr>
        <p:spPr>
          <a:xfrm>
            <a:off x="10972536" y="6236959"/>
            <a:ext cx="457465"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৭ / ১৯</a:t>
            </a:r>
            <a:endParaRPr b="0" i="0" sz="1200" u="none" cap="none" strike="noStrike">
              <a:solidFill>
                <a:schemeClr val="dk1"/>
              </a:solidFill>
              <a:latin typeface="Tiro Bangla"/>
              <a:ea typeface="Tiro Bangla"/>
              <a:cs typeface="Tiro Bangla"/>
              <a:sym typeface="Tiro Bangla"/>
            </a:endParaRPr>
          </a:p>
        </p:txBody>
      </p:sp>
      <p:pic>
        <p:nvPicPr>
          <p:cNvPr descr="বাংলা উইকিসম্মেলন ২০২৬ লোগো" id="349" name="Google Shape;349;p16"/>
          <p:cNvPicPr preferRelativeResize="0"/>
          <p:nvPr/>
        </p:nvPicPr>
        <p:blipFill rotWithShape="1">
          <a:blip r:embed="rId3">
            <a:alphaModFix/>
          </a:blip>
          <a:srcRect b="0" l="0" r="0" t="0"/>
          <a:stretch/>
        </p:blipFill>
        <p:spPr>
          <a:xfrm>
            <a:off x="10314432" y="365760"/>
            <a:ext cx="1115568" cy="666862"/>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8DA"/>
        </a:solidFill>
      </p:bgPr>
    </p:bg>
    <p:spTree>
      <p:nvGrpSpPr>
        <p:cNvPr id="354" name="Shape 354"/>
        <p:cNvGrpSpPr/>
        <p:nvPr/>
      </p:nvGrpSpPr>
      <p:grpSpPr>
        <a:xfrm>
          <a:off x="0" y="0"/>
          <a:ext cx="0" cy="0"/>
          <a:chOff x="0" y="0"/>
          <a:chExt cx="0" cy="0"/>
        </a:xfrm>
      </p:grpSpPr>
      <p:sp>
        <p:nvSpPr>
          <p:cNvPr id="355" name="Google Shape;355;p17"/>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8501A"/>
              </a:buClr>
              <a:buSzPts val="1200"/>
              <a:buFont typeface="Tiro Bangla"/>
              <a:buNone/>
            </a:pPr>
            <a:r>
              <a:rPr b="1" i="0" lang="en-US" sz="1200" u="none" cap="none" strike="noStrike">
                <a:solidFill>
                  <a:srgbClr val="C8501A"/>
                </a:solidFill>
                <a:latin typeface="Tiro Bangla"/>
                <a:ea typeface="Tiro Bangla"/>
                <a:cs typeface="Tiro Bangla"/>
                <a:sym typeface="Tiro Bangla"/>
              </a:rPr>
              <a:t>পাঠক · ৫</a:t>
            </a:r>
            <a:endParaRPr b="0" i="0" sz="1200" u="none" cap="none" strike="noStrike">
              <a:solidFill>
                <a:schemeClr val="dk1"/>
              </a:solidFill>
              <a:latin typeface="Tiro Bangla"/>
              <a:ea typeface="Tiro Bangla"/>
              <a:cs typeface="Tiro Bangla"/>
              <a:sym typeface="Tiro Bangla"/>
            </a:endParaRPr>
          </a:p>
        </p:txBody>
      </p:sp>
      <p:sp>
        <p:nvSpPr>
          <p:cNvPr id="356" name="Google Shape;356;p17"/>
          <p:cNvSpPr/>
          <p:nvPr/>
        </p:nvSpPr>
        <p:spPr>
          <a:xfrm>
            <a:off x="812800" y="1127720"/>
            <a:ext cx="9810750" cy="49272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84D86"/>
              </a:buClr>
              <a:buSzPts val="3200"/>
              <a:buFont typeface="Tiro Bangla"/>
              <a:buNone/>
            </a:pPr>
            <a:r>
              <a:rPr b="0" i="0" lang="en-US" sz="3200" u="none" cap="none" strike="noStrike">
                <a:solidFill>
                  <a:srgbClr val="384D86"/>
                </a:solidFill>
                <a:latin typeface="Tiro Bangla"/>
                <a:ea typeface="Tiro Bangla"/>
                <a:cs typeface="Tiro Bangla"/>
                <a:sym typeface="Tiro Bangla"/>
              </a:rPr>
              <a:t>পতন কতটা আসল?</a:t>
            </a:r>
            <a:endParaRPr b="0" i="0" sz="3200" u="none" cap="none" strike="noStrike">
              <a:solidFill>
                <a:schemeClr val="dk1"/>
              </a:solidFill>
              <a:latin typeface="Tiro Bangla"/>
              <a:ea typeface="Tiro Bangla"/>
              <a:cs typeface="Tiro Bangla"/>
              <a:sym typeface="Tiro Bangla"/>
            </a:endParaRPr>
          </a:p>
        </p:txBody>
      </p:sp>
      <p:sp>
        <p:nvSpPr>
          <p:cNvPr id="357" name="Google Shape;357;p17"/>
          <p:cNvSpPr/>
          <p:nvPr/>
        </p:nvSpPr>
        <p:spPr>
          <a:xfrm>
            <a:off x="812800" y="2540000"/>
            <a:ext cx="685800" cy="22350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০%</a:t>
            </a:r>
            <a:endParaRPr b="0" i="0" sz="1200" u="none" cap="none" strike="noStrike">
              <a:solidFill>
                <a:schemeClr val="dk1"/>
              </a:solidFill>
              <a:latin typeface="Tiro Bangla"/>
              <a:ea typeface="Tiro Bangla"/>
              <a:cs typeface="Tiro Bangla"/>
              <a:sym typeface="Tiro Bangla"/>
            </a:endParaRPr>
          </a:p>
        </p:txBody>
      </p:sp>
      <p:sp>
        <p:nvSpPr>
          <p:cNvPr id="358" name="Google Shape;358;p17"/>
          <p:cNvSpPr/>
          <p:nvPr/>
        </p:nvSpPr>
        <p:spPr>
          <a:xfrm>
            <a:off x="1981200" y="25400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−১০%</a:t>
            </a:r>
            <a:endParaRPr b="0" i="0" sz="1200" u="none" cap="none" strike="noStrike">
              <a:solidFill>
                <a:schemeClr val="dk1"/>
              </a:solidFill>
              <a:latin typeface="Tiro Bangla"/>
              <a:ea typeface="Tiro Bangla"/>
              <a:cs typeface="Tiro Bangla"/>
              <a:sym typeface="Tiro Bangla"/>
            </a:endParaRPr>
          </a:p>
        </p:txBody>
      </p:sp>
      <p:sp>
        <p:nvSpPr>
          <p:cNvPr id="359" name="Google Shape;359;p17"/>
          <p:cNvSpPr/>
          <p:nvPr/>
        </p:nvSpPr>
        <p:spPr>
          <a:xfrm>
            <a:off x="3486150" y="25400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a:t>
            </a:r>
            <a:endParaRPr b="0" i="0" sz="1200" u="none" cap="none" strike="noStrike">
              <a:solidFill>
                <a:schemeClr val="dk1"/>
              </a:solidFill>
              <a:latin typeface="Tiro Bangla"/>
              <a:ea typeface="Tiro Bangla"/>
              <a:cs typeface="Tiro Bangla"/>
              <a:sym typeface="Tiro Bangla"/>
            </a:endParaRPr>
          </a:p>
        </p:txBody>
      </p:sp>
      <p:sp>
        <p:nvSpPr>
          <p:cNvPr id="360" name="Google Shape;360;p17"/>
          <p:cNvSpPr/>
          <p:nvPr/>
        </p:nvSpPr>
        <p:spPr>
          <a:xfrm>
            <a:off x="4997450" y="25400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−৩০%</a:t>
            </a:r>
            <a:endParaRPr b="0" i="0" sz="1200" u="none" cap="none" strike="noStrike">
              <a:solidFill>
                <a:schemeClr val="dk1"/>
              </a:solidFill>
              <a:latin typeface="Tiro Bangla"/>
              <a:ea typeface="Tiro Bangla"/>
              <a:cs typeface="Tiro Bangla"/>
              <a:sym typeface="Tiro Bangla"/>
            </a:endParaRPr>
          </a:p>
        </p:txBody>
      </p:sp>
      <p:sp>
        <p:nvSpPr>
          <p:cNvPr id="361" name="Google Shape;361;p17"/>
          <p:cNvSpPr/>
          <p:nvPr/>
        </p:nvSpPr>
        <p:spPr>
          <a:xfrm>
            <a:off x="6508750" y="25400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−৪০%</a:t>
            </a:r>
            <a:endParaRPr b="0" i="0" sz="1200" u="none" cap="none" strike="noStrike">
              <a:solidFill>
                <a:schemeClr val="dk1"/>
              </a:solidFill>
              <a:latin typeface="Tiro Bangla"/>
              <a:ea typeface="Tiro Bangla"/>
              <a:cs typeface="Tiro Bangla"/>
              <a:sym typeface="Tiro Bangla"/>
            </a:endParaRPr>
          </a:p>
        </p:txBody>
      </p:sp>
      <p:sp>
        <p:nvSpPr>
          <p:cNvPr id="362" name="Google Shape;362;p17"/>
          <p:cNvSpPr/>
          <p:nvPr/>
        </p:nvSpPr>
        <p:spPr>
          <a:xfrm>
            <a:off x="8020050" y="25400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−৫০%</a:t>
            </a:r>
            <a:endParaRPr b="0" i="0" sz="1200" u="none" cap="none" strike="noStrike">
              <a:solidFill>
                <a:schemeClr val="dk1"/>
              </a:solidFill>
              <a:latin typeface="Tiro Bangla"/>
              <a:ea typeface="Tiro Bangla"/>
              <a:cs typeface="Tiro Bangla"/>
              <a:sym typeface="Tiro Bangla"/>
            </a:endParaRPr>
          </a:p>
        </p:txBody>
      </p:sp>
      <p:sp>
        <p:nvSpPr>
          <p:cNvPr id="363" name="Google Shape;363;p17"/>
          <p:cNvSpPr/>
          <p:nvPr/>
        </p:nvSpPr>
        <p:spPr>
          <a:xfrm>
            <a:off x="9525000" y="25400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−৬০%</a:t>
            </a:r>
            <a:endParaRPr b="0" i="0" sz="1200" u="none" cap="none" strike="noStrike">
              <a:solidFill>
                <a:schemeClr val="dk1"/>
              </a:solidFill>
              <a:latin typeface="Tiro Bangla"/>
              <a:ea typeface="Tiro Bangla"/>
              <a:cs typeface="Tiro Bangla"/>
              <a:sym typeface="Tiro Bangla"/>
            </a:endParaRPr>
          </a:p>
        </p:txBody>
      </p:sp>
      <p:sp>
        <p:nvSpPr>
          <p:cNvPr id="364" name="Google Shape;364;p17"/>
          <p:cNvSpPr/>
          <p:nvPr/>
        </p:nvSpPr>
        <p:spPr>
          <a:xfrm>
            <a:off x="10693400" y="2540000"/>
            <a:ext cx="685800" cy="223507"/>
          </a:xfrm>
          <a:prstGeom prst="rect">
            <a:avLst/>
          </a:prstGeom>
          <a:noFill/>
          <a:ln>
            <a:noFill/>
          </a:ln>
        </p:spPr>
        <p:txBody>
          <a:bodyPr anchorCtr="0" anchor="t" bIns="0" lIns="0" spcFirstLastPara="1" rIns="0" wrap="square" tIns="0">
            <a:noAutofit/>
          </a:bodyPr>
          <a:lstStyle/>
          <a:p>
            <a:pPr indent="0" lvl="0" marL="0" marR="0" rtl="0" algn="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−৭০%</a:t>
            </a:r>
            <a:endParaRPr b="0" i="0" sz="1200" u="none" cap="none" strike="noStrike">
              <a:solidFill>
                <a:schemeClr val="dk1"/>
              </a:solidFill>
              <a:latin typeface="Tiro Bangla"/>
              <a:ea typeface="Tiro Bangla"/>
              <a:cs typeface="Tiro Bangla"/>
              <a:sym typeface="Tiro Bangla"/>
            </a:endParaRPr>
          </a:p>
        </p:txBody>
      </p:sp>
      <p:sp>
        <p:nvSpPr>
          <p:cNvPr id="365" name="Google Shape;365;p17"/>
          <p:cNvSpPr/>
          <p:nvPr/>
        </p:nvSpPr>
        <p:spPr>
          <a:xfrm>
            <a:off x="812800" y="2794000"/>
            <a:ext cx="10566400" cy="12700"/>
          </a:xfrm>
          <a:prstGeom prst="rect">
            <a:avLst/>
          </a:prstGeom>
          <a:solidFill>
            <a:srgbClr val="E8DEC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 name="Google Shape;366;p17"/>
          <p:cNvSpPr/>
          <p:nvPr/>
        </p:nvSpPr>
        <p:spPr>
          <a:xfrm>
            <a:off x="7753350" y="2984500"/>
            <a:ext cx="2717700" cy="254100"/>
          </a:xfrm>
          <a:prstGeom prst="rect">
            <a:avLst/>
          </a:prstGeom>
          <a:solidFill>
            <a:srgbClr val="C8501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 name="Google Shape;367;p17"/>
          <p:cNvSpPr/>
          <p:nvPr/>
        </p:nvSpPr>
        <p:spPr>
          <a:xfrm>
            <a:off x="7753350" y="3302000"/>
            <a:ext cx="3734700" cy="2730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C8501A"/>
              </a:buClr>
              <a:buSzPts val="1500"/>
              <a:buFont typeface="Tiro Bangla"/>
              <a:buNone/>
            </a:pPr>
            <a:r>
              <a:rPr b="1" i="0" lang="en-US" sz="1500" u="none" cap="none" strike="noStrike">
                <a:solidFill>
                  <a:srgbClr val="C8501A"/>
                </a:solidFill>
                <a:latin typeface="Tiro Bangla"/>
                <a:ea typeface="Tiro Bangla"/>
                <a:cs typeface="Tiro Bangla"/>
                <a:sym typeface="Tiro Bangla"/>
              </a:rPr>
              <a:t>আমার অনুমান: −৪৬% থেকে −৬৪%</a:t>
            </a:r>
            <a:endParaRPr b="0" i="0" sz="1500" u="none" cap="none" strike="noStrike">
              <a:solidFill>
                <a:schemeClr val="dk1"/>
              </a:solidFill>
              <a:latin typeface="Tiro Bangla"/>
              <a:ea typeface="Tiro Bangla"/>
              <a:cs typeface="Tiro Bangla"/>
              <a:sym typeface="Tiro Bangla"/>
            </a:endParaRPr>
          </a:p>
        </p:txBody>
      </p:sp>
      <p:sp>
        <p:nvSpPr>
          <p:cNvPr id="368" name="Google Shape;368;p17"/>
          <p:cNvSpPr/>
          <p:nvPr/>
        </p:nvSpPr>
        <p:spPr>
          <a:xfrm>
            <a:off x="812800" y="6236959"/>
            <a:ext cx="6230779"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২০২৪ → ২০২৬, জানুয়ারি–সেপ্টেম্বর মাসিক গড় · উৎস: উইকিমিডিয়া অ্যানালিটিক্স API</a:t>
            </a:r>
            <a:endParaRPr b="0" i="0" sz="1200" u="none" cap="none" strike="noStrike">
              <a:solidFill>
                <a:schemeClr val="dk1"/>
              </a:solidFill>
              <a:latin typeface="Tiro Bangla"/>
              <a:ea typeface="Tiro Bangla"/>
              <a:cs typeface="Tiro Bangla"/>
              <a:sym typeface="Tiro Bangla"/>
            </a:endParaRPr>
          </a:p>
        </p:txBody>
      </p:sp>
      <p:sp>
        <p:nvSpPr>
          <p:cNvPr id="369" name="Google Shape;369;p17"/>
          <p:cNvSpPr/>
          <p:nvPr/>
        </p:nvSpPr>
        <p:spPr>
          <a:xfrm>
            <a:off x="10972536" y="6236959"/>
            <a:ext cx="457465"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৮ / ১৯</a:t>
            </a:r>
            <a:endParaRPr b="0" i="0" sz="1200" u="none" cap="none" strike="noStrike">
              <a:solidFill>
                <a:schemeClr val="dk1"/>
              </a:solidFill>
              <a:latin typeface="Tiro Bangla"/>
              <a:ea typeface="Tiro Bangla"/>
              <a:cs typeface="Tiro Bangla"/>
              <a:sym typeface="Tiro Bangla"/>
            </a:endParaRPr>
          </a:p>
        </p:txBody>
      </p:sp>
      <p:pic>
        <p:nvPicPr>
          <p:cNvPr descr="বাংলা উইকিসম্মেলন ২০২৬ লোগো" id="370" name="Google Shape;370;p17"/>
          <p:cNvPicPr preferRelativeResize="0"/>
          <p:nvPr/>
        </p:nvPicPr>
        <p:blipFill rotWithShape="1">
          <a:blip r:embed="rId3">
            <a:alphaModFix/>
          </a:blip>
          <a:srcRect b="0" l="0" r="0" t="0"/>
          <a:stretch/>
        </p:blipFill>
        <p:spPr>
          <a:xfrm>
            <a:off x="10314432" y="365760"/>
            <a:ext cx="1115568" cy="666862"/>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8DA"/>
        </a:solidFill>
      </p:bgPr>
    </p:bg>
    <p:spTree>
      <p:nvGrpSpPr>
        <p:cNvPr id="375" name="Shape 375"/>
        <p:cNvGrpSpPr/>
        <p:nvPr/>
      </p:nvGrpSpPr>
      <p:grpSpPr>
        <a:xfrm>
          <a:off x="0" y="0"/>
          <a:ext cx="0" cy="0"/>
          <a:chOff x="0" y="0"/>
          <a:chExt cx="0" cy="0"/>
        </a:xfrm>
      </p:grpSpPr>
      <p:sp>
        <p:nvSpPr>
          <p:cNvPr id="376" name="Google Shape;376;p18"/>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8501A"/>
              </a:buClr>
              <a:buSzPts val="1200"/>
              <a:buFont typeface="Tiro Bangla"/>
              <a:buNone/>
            </a:pPr>
            <a:r>
              <a:rPr b="1" i="0" lang="en-US" sz="1200" u="none" cap="none" strike="noStrike">
                <a:solidFill>
                  <a:srgbClr val="C8501A"/>
                </a:solidFill>
                <a:latin typeface="Tiro Bangla"/>
                <a:ea typeface="Tiro Bangla"/>
                <a:cs typeface="Tiro Bangla"/>
                <a:sym typeface="Tiro Bangla"/>
              </a:rPr>
              <a:t>পাঠক · ৫</a:t>
            </a:r>
            <a:endParaRPr b="0" i="0" sz="1200" u="none" cap="none" strike="noStrike">
              <a:solidFill>
                <a:schemeClr val="dk1"/>
              </a:solidFill>
              <a:latin typeface="Tiro Bangla"/>
              <a:ea typeface="Tiro Bangla"/>
              <a:cs typeface="Tiro Bangla"/>
              <a:sym typeface="Tiro Bangla"/>
            </a:endParaRPr>
          </a:p>
        </p:txBody>
      </p:sp>
      <p:sp>
        <p:nvSpPr>
          <p:cNvPr id="377" name="Google Shape;377;p18"/>
          <p:cNvSpPr/>
          <p:nvPr/>
        </p:nvSpPr>
        <p:spPr>
          <a:xfrm>
            <a:off x="812800" y="1127720"/>
            <a:ext cx="9810750" cy="49272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84D86"/>
              </a:buClr>
              <a:buSzPts val="3200"/>
              <a:buFont typeface="Tiro Bangla"/>
              <a:buNone/>
            </a:pPr>
            <a:r>
              <a:rPr b="0" i="0" lang="en-US" sz="3200" u="none" cap="none" strike="noStrike">
                <a:solidFill>
                  <a:srgbClr val="384D86"/>
                </a:solidFill>
                <a:latin typeface="Tiro Bangla"/>
                <a:ea typeface="Tiro Bangla"/>
                <a:cs typeface="Tiro Bangla"/>
                <a:sym typeface="Tiro Bangla"/>
              </a:rPr>
              <a:t>পতন কতটা আসল?</a:t>
            </a:r>
            <a:endParaRPr b="0" i="0" sz="3200" u="none" cap="none" strike="noStrike">
              <a:solidFill>
                <a:schemeClr val="dk1"/>
              </a:solidFill>
              <a:latin typeface="Tiro Bangla"/>
              <a:ea typeface="Tiro Bangla"/>
              <a:cs typeface="Tiro Bangla"/>
              <a:sym typeface="Tiro Bangla"/>
            </a:endParaRPr>
          </a:p>
        </p:txBody>
      </p:sp>
      <p:sp>
        <p:nvSpPr>
          <p:cNvPr id="378" name="Google Shape;378;p18"/>
          <p:cNvSpPr/>
          <p:nvPr/>
        </p:nvSpPr>
        <p:spPr>
          <a:xfrm>
            <a:off x="812800" y="2540000"/>
            <a:ext cx="685800" cy="22350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০%</a:t>
            </a:r>
            <a:endParaRPr b="0" i="0" sz="1200" u="none" cap="none" strike="noStrike">
              <a:solidFill>
                <a:schemeClr val="dk1"/>
              </a:solidFill>
              <a:latin typeface="Tiro Bangla"/>
              <a:ea typeface="Tiro Bangla"/>
              <a:cs typeface="Tiro Bangla"/>
              <a:sym typeface="Tiro Bangla"/>
            </a:endParaRPr>
          </a:p>
        </p:txBody>
      </p:sp>
      <p:sp>
        <p:nvSpPr>
          <p:cNvPr id="379" name="Google Shape;379;p18"/>
          <p:cNvSpPr/>
          <p:nvPr/>
        </p:nvSpPr>
        <p:spPr>
          <a:xfrm>
            <a:off x="1981200" y="25400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−১০%</a:t>
            </a:r>
            <a:endParaRPr b="0" i="0" sz="1200" u="none" cap="none" strike="noStrike">
              <a:solidFill>
                <a:schemeClr val="dk1"/>
              </a:solidFill>
              <a:latin typeface="Tiro Bangla"/>
              <a:ea typeface="Tiro Bangla"/>
              <a:cs typeface="Tiro Bangla"/>
              <a:sym typeface="Tiro Bangla"/>
            </a:endParaRPr>
          </a:p>
        </p:txBody>
      </p:sp>
      <p:sp>
        <p:nvSpPr>
          <p:cNvPr id="380" name="Google Shape;380;p18"/>
          <p:cNvSpPr/>
          <p:nvPr/>
        </p:nvSpPr>
        <p:spPr>
          <a:xfrm>
            <a:off x="3486150" y="25400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a:t>
            </a:r>
            <a:endParaRPr b="0" i="0" sz="1200" u="none" cap="none" strike="noStrike">
              <a:solidFill>
                <a:schemeClr val="dk1"/>
              </a:solidFill>
              <a:latin typeface="Tiro Bangla"/>
              <a:ea typeface="Tiro Bangla"/>
              <a:cs typeface="Tiro Bangla"/>
              <a:sym typeface="Tiro Bangla"/>
            </a:endParaRPr>
          </a:p>
        </p:txBody>
      </p:sp>
      <p:sp>
        <p:nvSpPr>
          <p:cNvPr id="381" name="Google Shape;381;p18"/>
          <p:cNvSpPr/>
          <p:nvPr/>
        </p:nvSpPr>
        <p:spPr>
          <a:xfrm>
            <a:off x="4997450" y="25400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−৩০%</a:t>
            </a:r>
            <a:endParaRPr b="0" i="0" sz="1200" u="none" cap="none" strike="noStrike">
              <a:solidFill>
                <a:schemeClr val="dk1"/>
              </a:solidFill>
              <a:latin typeface="Tiro Bangla"/>
              <a:ea typeface="Tiro Bangla"/>
              <a:cs typeface="Tiro Bangla"/>
              <a:sym typeface="Tiro Bangla"/>
            </a:endParaRPr>
          </a:p>
        </p:txBody>
      </p:sp>
      <p:sp>
        <p:nvSpPr>
          <p:cNvPr id="382" name="Google Shape;382;p18"/>
          <p:cNvSpPr/>
          <p:nvPr/>
        </p:nvSpPr>
        <p:spPr>
          <a:xfrm>
            <a:off x="6508750" y="25400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−৪০%</a:t>
            </a:r>
            <a:endParaRPr b="0" i="0" sz="1200" u="none" cap="none" strike="noStrike">
              <a:solidFill>
                <a:schemeClr val="dk1"/>
              </a:solidFill>
              <a:latin typeface="Tiro Bangla"/>
              <a:ea typeface="Tiro Bangla"/>
              <a:cs typeface="Tiro Bangla"/>
              <a:sym typeface="Tiro Bangla"/>
            </a:endParaRPr>
          </a:p>
        </p:txBody>
      </p:sp>
      <p:sp>
        <p:nvSpPr>
          <p:cNvPr id="383" name="Google Shape;383;p18"/>
          <p:cNvSpPr/>
          <p:nvPr/>
        </p:nvSpPr>
        <p:spPr>
          <a:xfrm>
            <a:off x="8020050" y="25400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−৫০%</a:t>
            </a:r>
            <a:endParaRPr b="0" i="0" sz="1200" u="none" cap="none" strike="noStrike">
              <a:solidFill>
                <a:schemeClr val="dk1"/>
              </a:solidFill>
              <a:latin typeface="Tiro Bangla"/>
              <a:ea typeface="Tiro Bangla"/>
              <a:cs typeface="Tiro Bangla"/>
              <a:sym typeface="Tiro Bangla"/>
            </a:endParaRPr>
          </a:p>
        </p:txBody>
      </p:sp>
      <p:sp>
        <p:nvSpPr>
          <p:cNvPr id="384" name="Google Shape;384;p18"/>
          <p:cNvSpPr/>
          <p:nvPr/>
        </p:nvSpPr>
        <p:spPr>
          <a:xfrm>
            <a:off x="9525000" y="25400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−৬০%</a:t>
            </a:r>
            <a:endParaRPr b="0" i="0" sz="1200" u="none" cap="none" strike="noStrike">
              <a:solidFill>
                <a:schemeClr val="dk1"/>
              </a:solidFill>
              <a:latin typeface="Tiro Bangla"/>
              <a:ea typeface="Tiro Bangla"/>
              <a:cs typeface="Tiro Bangla"/>
              <a:sym typeface="Tiro Bangla"/>
            </a:endParaRPr>
          </a:p>
        </p:txBody>
      </p:sp>
      <p:sp>
        <p:nvSpPr>
          <p:cNvPr id="385" name="Google Shape;385;p18"/>
          <p:cNvSpPr/>
          <p:nvPr/>
        </p:nvSpPr>
        <p:spPr>
          <a:xfrm>
            <a:off x="10693400" y="2540000"/>
            <a:ext cx="685800" cy="223507"/>
          </a:xfrm>
          <a:prstGeom prst="rect">
            <a:avLst/>
          </a:prstGeom>
          <a:noFill/>
          <a:ln>
            <a:noFill/>
          </a:ln>
        </p:spPr>
        <p:txBody>
          <a:bodyPr anchorCtr="0" anchor="t" bIns="0" lIns="0" spcFirstLastPara="1" rIns="0" wrap="square" tIns="0">
            <a:noAutofit/>
          </a:bodyPr>
          <a:lstStyle/>
          <a:p>
            <a:pPr indent="0" lvl="0" marL="0" marR="0" rtl="0" algn="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−৭০%</a:t>
            </a:r>
            <a:endParaRPr b="0" i="0" sz="1200" u="none" cap="none" strike="noStrike">
              <a:solidFill>
                <a:schemeClr val="dk1"/>
              </a:solidFill>
              <a:latin typeface="Tiro Bangla"/>
              <a:ea typeface="Tiro Bangla"/>
              <a:cs typeface="Tiro Bangla"/>
              <a:sym typeface="Tiro Bangla"/>
            </a:endParaRPr>
          </a:p>
        </p:txBody>
      </p:sp>
      <p:sp>
        <p:nvSpPr>
          <p:cNvPr id="386" name="Google Shape;386;p18"/>
          <p:cNvSpPr/>
          <p:nvPr/>
        </p:nvSpPr>
        <p:spPr>
          <a:xfrm>
            <a:off x="812800" y="2794000"/>
            <a:ext cx="10566400" cy="12700"/>
          </a:xfrm>
          <a:prstGeom prst="rect">
            <a:avLst/>
          </a:prstGeom>
          <a:solidFill>
            <a:srgbClr val="E8DEC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 name="Google Shape;387;p18"/>
          <p:cNvSpPr/>
          <p:nvPr/>
        </p:nvSpPr>
        <p:spPr>
          <a:xfrm>
            <a:off x="7753350" y="2984500"/>
            <a:ext cx="2717700" cy="254100"/>
          </a:xfrm>
          <a:prstGeom prst="rect">
            <a:avLst/>
          </a:prstGeom>
          <a:solidFill>
            <a:srgbClr val="C8501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p18"/>
          <p:cNvSpPr/>
          <p:nvPr/>
        </p:nvSpPr>
        <p:spPr>
          <a:xfrm>
            <a:off x="7753350" y="3302000"/>
            <a:ext cx="3734700" cy="2730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C8501A"/>
              </a:buClr>
              <a:buSzPts val="1500"/>
              <a:buFont typeface="Tiro Bangla"/>
              <a:buNone/>
            </a:pPr>
            <a:r>
              <a:rPr b="1" i="0" lang="en-US" sz="1500" u="none" cap="none" strike="noStrike">
                <a:solidFill>
                  <a:srgbClr val="C8501A"/>
                </a:solidFill>
                <a:latin typeface="Tiro Bangla"/>
                <a:ea typeface="Tiro Bangla"/>
                <a:cs typeface="Tiro Bangla"/>
                <a:sym typeface="Tiro Bangla"/>
              </a:rPr>
              <a:t>আমার অনুমান: −৪৬% থেকে −৬৪%</a:t>
            </a:r>
            <a:endParaRPr b="0" i="0" sz="1500" u="none" cap="none" strike="noStrike">
              <a:solidFill>
                <a:schemeClr val="dk1"/>
              </a:solidFill>
              <a:latin typeface="Tiro Bangla"/>
              <a:ea typeface="Tiro Bangla"/>
              <a:cs typeface="Tiro Bangla"/>
              <a:sym typeface="Tiro Bangla"/>
            </a:endParaRPr>
          </a:p>
        </p:txBody>
      </p:sp>
      <p:sp>
        <p:nvSpPr>
          <p:cNvPr id="389" name="Google Shape;389;p18"/>
          <p:cNvSpPr/>
          <p:nvPr/>
        </p:nvSpPr>
        <p:spPr>
          <a:xfrm>
            <a:off x="812800" y="4445000"/>
            <a:ext cx="3386667" cy="1050264"/>
          </a:xfrm>
          <a:prstGeom prst="roundRect">
            <a:avLst>
              <a:gd fmla="val 7255" name="adj"/>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 name="Google Shape;390;p18"/>
          <p:cNvSpPr/>
          <p:nvPr/>
        </p:nvSpPr>
        <p:spPr>
          <a:xfrm>
            <a:off x="990600" y="4622800"/>
            <a:ext cx="3121999" cy="27305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384D86"/>
              </a:buClr>
              <a:buSzPts val="1500"/>
              <a:buFont typeface="Tiro Bangla"/>
              <a:buNone/>
            </a:pPr>
            <a:r>
              <a:rPr b="1" i="0" lang="en-US" sz="1500" u="none" cap="none" strike="noStrike">
                <a:solidFill>
                  <a:srgbClr val="384D86"/>
                </a:solidFill>
                <a:latin typeface="Tiro Bangla"/>
                <a:ea typeface="Tiro Bangla"/>
                <a:cs typeface="Tiro Bangla"/>
                <a:sym typeface="Tiro Bangla"/>
              </a:rPr>
              <a:t>মোট ট্রাফিক −২৬%</a:t>
            </a:r>
            <a:endParaRPr b="0" i="0" sz="1500" u="none" cap="none" strike="noStrike">
              <a:solidFill>
                <a:schemeClr val="dk1"/>
              </a:solidFill>
              <a:latin typeface="Tiro Bangla"/>
              <a:ea typeface="Tiro Bangla"/>
              <a:cs typeface="Tiro Bangla"/>
              <a:sym typeface="Tiro Bangla"/>
            </a:endParaRPr>
          </a:p>
        </p:txBody>
      </p:sp>
      <p:sp>
        <p:nvSpPr>
          <p:cNvPr id="391" name="Google Shape;391;p18"/>
          <p:cNvSpPr/>
          <p:nvPr/>
        </p:nvSpPr>
        <p:spPr>
          <a:xfrm>
            <a:off x="990600" y="4921250"/>
            <a:ext cx="3121999" cy="421614"/>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এই হিসাবে যন্ত্রও আছে, আর যন্ত্র বেড়েছে; তাই এটা পাঠকের সঠিক মাপ নয়</a:t>
            </a:r>
            <a:endParaRPr b="0" i="0" sz="1200" u="none" cap="none" strike="noStrike">
              <a:solidFill>
                <a:schemeClr val="dk1"/>
              </a:solidFill>
              <a:latin typeface="Tiro Bangla"/>
              <a:ea typeface="Tiro Bangla"/>
              <a:cs typeface="Tiro Bangla"/>
              <a:sym typeface="Tiro Bangla"/>
            </a:endParaRPr>
          </a:p>
        </p:txBody>
      </p:sp>
      <p:sp>
        <p:nvSpPr>
          <p:cNvPr id="392" name="Google Shape;392;p18"/>
          <p:cNvSpPr/>
          <p:nvPr/>
        </p:nvSpPr>
        <p:spPr>
          <a:xfrm>
            <a:off x="4402667" y="4445000"/>
            <a:ext cx="3386667" cy="1050264"/>
          </a:xfrm>
          <a:prstGeom prst="roundRect">
            <a:avLst>
              <a:gd fmla="val 7255" name="adj"/>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 name="Google Shape;393;p18"/>
          <p:cNvSpPr/>
          <p:nvPr/>
        </p:nvSpPr>
        <p:spPr>
          <a:xfrm>
            <a:off x="4580467" y="4622800"/>
            <a:ext cx="3121999" cy="27305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384D86"/>
              </a:buClr>
              <a:buSzPts val="1500"/>
              <a:buFont typeface="Tiro Bangla"/>
              <a:buNone/>
            </a:pPr>
            <a:r>
              <a:rPr b="1" i="0" lang="en-US" sz="1500" u="none" cap="none" strike="noStrike">
                <a:solidFill>
                  <a:srgbClr val="384D86"/>
                </a:solidFill>
                <a:latin typeface="Tiro Bangla"/>
                <a:ea typeface="Tiro Bangla"/>
                <a:cs typeface="Tiro Bangla"/>
                <a:sym typeface="Tiro Bangla"/>
              </a:rPr>
              <a:t>রাত ৯টার পাঠক −৭০%</a:t>
            </a:r>
            <a:endParaRPr b="0" i="0" sz="1500" u="none" cap="none" strike="noStrike">
              <a:solidFill>
                <a:schemeClr val="dk1"/>
              </a:solidFill>
              <a:latin typeface="Tiro Bangla"/>
              <a:ea typeface="Tiro Bangla"/>
              <a:cs typeface="Tiro Bangla"/>
              <a:sym typeface="Tiro Bangla"/>
            </a:endParaRPr>
          </a:p>
        </p:txBody>
      </p:sp>
      <p:sp>
        <p:nvSpPr>
          <p:cNvPr id="394" name="Google Shape;394;p18"/>
          <p:cNvSpPr/>
          <p:nvPr/>
        </p:nvSpPr>
        <p:spPr>
          <a:xfrm>
            <a:off x="4580467" y="4921250"/>
            <a:ext cx="3121999" cy="421614"/>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মানুষের ব্যস্ত সময়েই পতন সবচেয়ে বেশি, ভোরে সবচেয়ে কম</a:t>
            </a:r>
            <a:endParaRPr b="0" i="0" sz="1200" u="none" cap="none" strike="noStrike">
              <a:solidFill>
                <a:schemeClr val="dk1"/>
              </a:solidFill>
              <a:latin typeface="Tiro Bangla"/>
              <a:ea typeface="Tiro Bangla"/>
              <a:cs typeface="Tiro Bangla"/>
              <a:sym typeface="Tiro Bangla"/>
            </a:endParaRPr>
          </a:p>
        </p:txBody>
      </p:sp>
      <p:sp>
        <p:nvSpPr>
          <p:cNvPr id="395" name="Google Shape;395;p18"/>
          <p:cNvSpPr/>
          <p:nvPr/>
        </p:nvSpPr>
        <p:spPr>
          <a:xfrm>
            <a:off x="7992534" y="4445000"/>
            <a:ext cx="3386667" cy="1050264"/>
          </a:xfrm>
          <a:prstGeom prst="roundRect">
            <a:avLst>
              <a:gd fmla="val 7255" name="adj"/>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 name="Google Shape;396;p18"/>
          <p:cNvSpPr/>
          <p:nvPr/>
        </p:nvSpPr>
        <p:spPr>
          <a:xfrm>
            <a:off x="8170334" y="4622800"/>
            <a:ext cx="3121999" cy="27305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384D86"/>
              </a:buClr>
              <a:buSzPts val="1500"/>
              <a:buFont typeface="Tiro Bangla"/>
              <a:buNone/>
            </a:pPr>
            <a:r>
              <a:rPr b="1" i="0" lang="en-US" sz="1500" u="none" cap="none" strike="noStrike">
                <a:solidFill>
                  <a:srgbClr val="384D86"/>
                </a:solidFill>
                <a:latin typeface="Tiro Bangla"/>
                <a:ea typeface="Tiro Bangla"/>
                <a:cs typeface="Tiro Bangla"/>
                <a:sym typeface="Tiro Bangla"/>
              </a:rPr>
              <a:t>ডিভাইস −৪৬%, পেজভিউ −৬৪%</a:t>
            </a:r>
            <a:endParaRPr b="0" i="0" sz="1500" u="none" cap="none" strike="noStrike">
              <a:solidFill>
                <a:schemeClr val="dk1"/>
              </a:solidFill>
              <a:latin typeface="Tiro Bangla"/>
              <a:ea typeface="Tiro Bangla"/>
              <a:cs typeface="Tiro Bangla"/>
              <a:sym typeface="Tiro Bangla"/>
            </a:endParaRPr>
          </a:p>
        </p:txBody>
      </p:sp>
      <p:sp>
        <p:nvSpPr>
          <p:cNvPr id="397" name="Google Shape;397;p18"/>
          <p:cNvSpPr/>
          <p:nvPr/>
        </p:nvSpPr>
        <p:spPr>
          <a:xfrm>
            <a:off x="8170334" y="4921250"/>
            <a:ext cx="3121999" cy="421614"/>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দুটি আলাদা </a:t>
            </a:r>
            <a:r>
              <a:rPr lang="en-US" sz="1200">
                <a:solidFill>
                  <a:srgbClr val="5F6A8A"/>
                </a:solidFill>
                <a:latin typeface="Tiro Bangla"/>
                <a:ea typeface="Tiro Bangla"/>
                <a:cs typeface="Tiro Bangla"/>
                <a:sym typeface="Tiro Bangla"/>
              </a:rPr>
              <a:t>পরি</a:t>
            </a:r>
            <a:r>
              <a:rPr b="0" i="0" lang="en-US" sz="1200" u="none" cap="none" strike="noStrike">
                <a:solidFill>
                  <a:srgbClr val="5F6A8A"/>
                </a:solidFill>
                <a:latin typeface="Tiro Bangla"/>
                <a:ea typeface="Tiro Bangla"/>
                <a:cs typeface="Tiro Bangla"/>
                <a:sym typeface="Tiro Bangla"/>
              </a:rPr>
              <a:t>মাপেই বড় পতন; মোবাইলের হিসাব দিনের প্রতিটি ঘণ্টায়</a:t>
            </a:r>
            <a:endParaRPr b="0" i="0" sz="1200" u="none" cap="none" strike="noStrike">
              <a:solidFill>
                <a:schemeClr val="dk1"/>
              </a:solidFill>
              <a:latin typeface="Tiro Bangla"/>
              <a:ea typeface="Tiro Bangla"/>
              <a:cs typeface="Tiro Bangla"/>
              <a:sym typeface="Tiro Bangla"/>
            </a:endParaRPr>
          </a:p>
        </p:txBody>
      </p:sp>
      <p:sp>
        <p:nvSpPr>
          <p:cNvPr id="398" name="Google Shape;398;p18"/>
          <p:cNvSpPr/>
          <p:nvPr/>
        </p:nvSpPr>
        <p:spPr>
          <a:xfrm>
            <a:off x="812800" y="6236959"/>
            <a:ext cx="6230779"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২০২৪ → ২০২৬, জানুয়ারি–সেপ্টেম্বর মাসিক গড় · উৎস: উইকিমিডিয়া অ্যানালিটিক্স API</a:t>
            </a:r>
            <a:endParaRPr b="0" i="0" sz="1200" u="none" cap="none" strike="noStrike">
              <a:solidFill>
                <a:schemeClr val="dk1"/>
              </a:solidFill>
              <a:latin typeface="Tiro Bangla"/>
              <a:ea typeface="Tiro Bangla"/>
              <a:cs typeface="Tiro Bangla"/>
              <a:sym typeface="Tiro Bangla"/>
            </a:endParaRPr>
          </a:p>
        </p:txBody>
      </p:sp>
      <p:sp>
        <p:nvSpPr>
          <p:cNvPr id="399" name="Google Shape;399;p18"/>
          <p:cNvSpPr/>
          <p:nvPr/>
        </p:nvSpPr>
        <p:spPr>
          <a:xfrm>
            <a:off x="10972536" y="6236959"/>
            <a:ext cx="457465"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৮ / ১৯</a:t>
            </a:r>
            <a:endParaRPr b="0" i="0" sz="1200" u="none" cap="none" strike="noStrike">
              <a:solidFill>
                <a:schemeClr val="dk1"/>
              </a:solidFill>
              <a:latin typeface="Tiro Bangla"/>
              <a:ea typeface="Tiro Bangla"/>
              <a:cs typeface="Tiro Bangla"/>
              <a:sym typeface="Tiro Bangla"/>
            </a:endParaRPr>
          </a:p>
        </p:txBody>
      </p:sp>
      <p:pic>
        <p:nvPicPr>
          <p:cNvPr descr="বাংলা উইকিসম্মেলন ২০২৬ লোগো" id="400" name="Google Shape;400;p18"/>
          <p:cNvPicPr preferRelativeResize="0"/>
          <p:nvPr/>
        </p:nvPicPr>
        <p:blipFill rotWithShape="1">
          <a:blip r:embed="rId3">
            <a:alphaModFix/>
          </a:blip>
          <a:srcRect b="0" l="0" r="0" t="0"/>
          <a:stretch/>
        </p:blipFill>
        <p:spPr>
          <a:xfrm>
            <a:off x="10314432" y="365760"/>
            <a:ext cx="1115568" cy="66686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8DA"/>
        </a:solidFill>
      </p:bgPr>
    </p:bg>
    <p:spTree>
      <p:nvGrpSpPr>
        <p:cNvPr id="405" name="Shape 405"/>
        <p:cNvGrpSpPr/>
        <p:nvPr/>
      </p:nvGrpSpPr>
      <p:grpSpPr>
        <a:xfrm>
          <a:off x="0" y="0"/>
          <a:ext cx="0" cy="0"/>
          <a:chOff x="0" y="0"/>
          <a:chExt cx="0" cy="0"/>
        </a:xfrm>
      </p:grpSpPr>
      <p:sp>
        <p:nvSpPr>
          <p:cNvPr id="406" name="Google Shape;406;p19"/>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8501A"/>
              </a:buClr>
              <a:buSzPts val="1200"/>
              <a:buFont typeface="Tiro Bangla"/>
              <a:buNone/>
            </a:pPr>
            <a:r>
              <a:rPr b="1" i="0" lang="en-US" sz="1200" u="none" cap="none" strike="noStrike">
                <a:solidFill>
                  <a:srgbClr val="C8501A"/>
                </a:solidFill>
                <a:latin typeface="Tiro Bangla"/>
                <a:ea typeface="Tiro Bangla"/>
                <a:cs typeface="Tiro Bangla"/>
                <a:sym typeface="Tiro Bangla"/>
              </a:rPr>
              <a:t>পাঠক · ৬</a:t>
            </a:r>
            <a:endParaRPr b="0" i="0" sz="1200" u="none" cap="none" strike="noStrike">
              <a:solidFill>
                <a:schemeClr val="dk1"/>
              </a:solidFill>
              <a:latin typeface="Tiro Bangla"/>
              <a:ea typeface="Tiro Bangla"/>
              <a:cs typeface="Tiro Bangla"/>
              <a:sym typeface="Tiro Bangla"/>
            </a:endParaRPr>
          </a:p>
        </p:txBody>
      </p:sp>
      <p:sp>
        <p:nvSpPr>
          <p:cNvPr id="407" name="Google Shape;407;p19"/>
          <p:cNvSpPr/>
          <p:nvPr/>
        </p:nvSpPr>
        <p:spPr>
          <a:xfrm>
            <a:off x="812800" y="1127720"/>
            <a:ext cx="9810750" cy="49272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84D86"/>
              </a:buClr>
              <a:buSzPts val="3200"/>
              <a:buFont typeface="Tiro Bangla"/>
              <a:buNone/>
            </a:pPr>
            <a:r>
              <a:rPr b="0" i="0" lang="en-US" sz="3200" u="none" cap="none" strike="noStrike">
                <a:solidFill>
                  <a:srgbClr val="384D86"/>
                </a:solidFill>
                <a:latin typeface="Tiro Bangla"/>
                <a:ea typeface="Tiro Bangla"/>
                <a:cs typeface="Tiro Bangla"/>
                <a:sym typeface="Tiro Bangla"/>
              </a:rPr>
              <a:t>একুশের নিবন্ধেও একই গল্প</a:t>
            </a:r>
            <a:endParaRPr b="0" i="0" sz="3200" u="none" cap="none" strike="noStrike">
              <a:solidFill>
                <a:schemeClr val="dk1"/>
              </a:solidFill>
              <a:latin typeface="Tiro Bangla"/>
              <a:ea typeface="Tiro Bangla"/>
              <a:cs typeface="Tiro Bangla"/>
              <a:sym typeface="Tiro Bangla"/>
            </a:endParaRPr>
          </a:p>
        </p:txBody>
      </p:sp>
      <p:sp>
        <p:nvSpPr>
          <p:cNvPr id="408" name="Google Shape;408;p19"/>
          <p:cNvSpPr/>
          <p:nvPr/>
        </p:nvSpPr>
        <p:spPr>
          <a:xfrm>
            <a:off x="812800" y="1696641"/>
            <a:ext cx="6867525" cy="55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F6A8A"/>
              </a:buClr>
              <a:buSzPts val="1500"/>
              <a:buFont typeface="Tiro Bangla"/>
              <a:buNone/>
            </a:pPr>
            <a:r>
              <a:rPr b="0" i="0" lang="en-US" sz="1500" u="none" cap="none" strike="noStrike">
                <a:solidFill>
                  <a:srgbClr val="5F6A8A"/>
                </a:solidFill>
                <a:latin typeface="Tiro Bangla"/>
                <a:ea typeface="Tiro Bangla"/>
                <a:cs typeface="Tiro Bangla"/>
                <a:sym typeface="Tiro Bangla"/>
              </a:rPr>
              <a:t>২০১৬ থেকে ২০২৫ পর্যন্ত যে ৯টি ফেব্রুয়ারির ডেটা আছে, তার প্রতিটিতে সবচেয়ে বেশি পড়া নিবন্ধ ছিল ভাষা আন্দোলন বা মাতৃভাষা দিবস</a:t>
            </a:r>
            <a:endParaRPr b="0" i="0" sz="1500" u="none" cap="none" strike="noStrike">
              <a:solidFill>
                <a:schemeClr val="dk1"/>
              </a:solidFill>
              <a:latin typeface="Tiro Bangla"/>
              <a:ea typeface="Tiro Bangla"/>
              <a:cs typeface="Tiro Bangla"/>
              <a:sym typeface="Tiro Bangla"/>
            </a:endParaRPr>
          </a:p>
        </p:txBody>
      </p:sp>
      <p:sp>
        <p:nvSpPr>
          <p:cNvPr id="409" name="Google Shape;409;p19"/>
          <p:cNvSpPr/>
          <p:nvPr/>
        </p:nvSpPr>
        <p:spPr>
          <a:xfrm>
            <a:off x="1016000" y="2425700"/>
            <a:ext cx="7194550" cy="22350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F6A8A"/>
              </a:buClr>
              <a:buSzPts val="1200"/>
              <a:buFont typeface="Tiro Bangla"/>
              <a:buNone/>
            </a:pPr>
            <a:r>
              <a:rPr b="1" i="0" lang="en-US" sz="1200" u="none" cap="none" strike="noStrike">
                <a:solidFill>
                  <a:srgbClr val="5F6A8A"/>
                </a:solidFill>
                <a:latin typeface="Tiro Bangla"/>
                <a:ea typeface="Tiro Bangla"/>
                <a:cs typeface="Tiro Bangla"/>
                <a:sym typeface="Tiro Bangla"/>
              </a:rPr>
              <a:t>“আন্তর্জাতিক মাতৃভাষা দিবস” নিবন্ধ, প্রতি ফেব্রুয়ারিতে মানুষের পেজভিউ (হাজার)</a:t>
            </a:r>
            <a:endParaRPr b="0" i="0" sz="1200" u="none" cap="none" strike="noStrike">
              <a:solidFill>
                <a:schemeClr val="dk1"/>
              </a:solidFill>
              <a:latin typeface="Tiro Bangla"/>
              <a:ea typeface="Tiro Bangla"/>
              <a:cs typeface="Tiro Bangla"/>
              <a:sym typeface="Tiro Bangla"/>
            </a:endParaRPr>
          </a:p>
        </p:txBody>
      </p:sp>
      <p:pic>
        <p:nvPicPr>
          <p:cNvPr descr="আন্তর্জাতিক মাতৃভাষা দিবস নিবন্ধের ফেব্রুয়ারি মাসের মানুষের পেজভিউ, ২০১৬–২০২৬" id="410" name="Google Shape;410;p19"/>
          <p:cNvPicPr preferRelativeResize="0"/>
          <p:nvPr/>
        </p:nvPicPr>
        <p:blipFill rotWithShape="1">
          <a:blip r:embed="rId3">
            <a:alphaModFix/>
          </a:blip>
          <a:srcRect b="0" l="-2" r="-2" t="0"/>
          <a:stretch/>
        </p:blipFill>
        <p:spPr>
          <a:xfrm>
            <a:off x="1016000" y="2667000"/>
            <a:ext cx="6985000" cy="2667000"/>
          </a:xfrm>
          <a:prstGeom prst="rect">
            <a:avLst/>
          </a:prstGeom>
          <a:noFill/>
          <a:ln>
            <a:noFill/>
          </a:ln>
        </p:spPr>
      </p:pic>
      <p:sp>
        <p:nvSpPr>
          <p:cNvPr id="411" name="Google Shape;411;p19"/>
          <p:cNvSpPr/>
          <p:nvPr/>
        </p:nvSpPr>
        <p:spPr>
          <a:xfrm>
            <a:off x="933450" y="54102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২০১৬</a:t>
            </a:r>
            <a:endParaRPr b="0" i="0" sz="1200" u="none" cap="none" strike="noStrike">
              <a:solidFill>
                <a:schemeClr val="dk1"/>
              </a:solidFill>
              <a:latin typeface="Tiro Bangla"/>
              <a:ea typeface="Tiro Bangla"/>
              <a:cs typeface="Tiro Bangla"/>
              <a:sym typeface="Tiro Bangla"/>
            </a:endParaRPr>
          </a:p>
        </p:txBody>
      </p:sp>
      <p:sp>
        <p:nvSpPr>
          <p:cNvPr id="412" name="Google Shape;412;p19"/>
          <p:cNvSpPr/>
          <p:nvPr/>
        </p:nvSpPr>
        <p:spPr>
          <a:xfrm>
            <a:off x="933450" y="488315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১৯</a:t>
            </a:r>
            <a:endParaRPr b="0" i="0" sz="1200" u="none" cap="none" strike="noStrike">
              <a:solidFill>
                <a:schemeClr val="dk1"/>
              </a:solidFill>
              <a:latin typeface="Tiro Bangla"/>
              <a:ea typeface="Tiro Bangla"/>
              <a:cs typeface="Tiro Bangla"/>
              <a:sym typeface="Tiro Bangla"/>
            </a:endParaRPr>
          </a:p>
        </p:txBody>
      </p:sp>
      <p:sp>
        <p:nvSpPr>
          <p:cNvPr id="413" name="Google Shape;413;p19"/>
          <p:cNvSpPr/>
          <p:nvPr/>
        </p:nvSpPr>
        <p:spPr>
          <a:xfrm>
            <a:off x="1581150" y="54102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২০১৭</a:t>
            </a:r>
            <a:endParaRPr b="0" i="0" sz="1200" u="none" cap="none" strike="noStrike">
              <a:solidFill>
                <a:schemeClr val="dk1"/>
              </a:solidFill>
              <a:latin typeface="Tiro Bangla"/>
              <a:ea typeface="Tiro Bangla"/>
              <a:cs typeface="Tiro Bangla"/>
              <a:sym typeface="Tiro Bangla"/>
            </a:endParaRPr>
          </a:p>
        </p:txBody>
      </p:sp>
      <p:sp>
        <p:nvSpPr>
          <p:cNvPr id="414" name="Google Shape;414;p19"/>
          <p:cNvSpPr/>
          <p:nvPr/>
        </p:nvSpPr>
        <p:spPr>
          <a:xfrm>
            <a:off x="1581150" y="44958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৫৭</a:t>
            </a:r>
            <a:endParaRPr b="0" i="0" sz="1200" u="none" cap="none" strike="noStrike">
              <a:solidFill>
                <a:schemeClr val="dk1"/>
              </a:solidFill>
              <a:latin typeface="Tiro Bangla"/>
              <a:ea typeface="Tiro Bangla"/>
              <a:cs typeface="Tiro Bangla"/>
              <a:sym typeface="Tiro Bangla"/>
            </a:endParaRPr>
          </a:p>
        </p:txBody>
      </p:sp>
      <p:sp>
        <p:nvSpPr>
          <p:cNvPr id="415" name="Google Shape;415;p19"/>
          <p:cNvSpPr/>
          <p:nvPr/>
        </p:nvSpPr>
        <p:spPr>
          <a:xfrm>
            <a:off x="2228850" y="54102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২০১৮</a:t>
            </a:r>
            <a:endParaRPr b="0" i="0" sz="1200" u="none" cap="none" strike="noStrike">
              <a:solidFill>
                <a:schemeClr val="dk1"/>
              </a:solidFill>
              <a:latin typeface="Tiro Bangla"/>
              <a:ea typeface="Tiro Bangla"/>
              <a:cs typeface="Tiro Bangla"/>
              <a:sym typeface="Tiro Bangla"/>
            </a:endParaRPr>
          </a:p>
        </p:txBody>
      </p:sp>
      <p:sp>
        <p:nvSpPr>
          <p:cNvPr id="416" name="Google Shape;416;p19"/>
          <p:cNvSpPr/>
          <p:nvPr/>
        </p:nvSpPr>
        <p:spPr>
          <a:xfrm>
            <a:off x="2228850" y="41402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৯২</a:t>
            </a:r>
            <a:endParaRPr b="0" i="0" sz="1200" u="none" cap="none" strike="noStrike">
              <a:solidFill>
                <a:schemeClr val="dk1"/>
              </a:solidFill>
              <a:latin typeface="Tiro Bangla"/>
              <a:ea typeface="Tiro Bangla"/>
              <a:cs typeface="Tiro Bangla"/>
              <a:sym typeface="Tiro Bangla"/>
            </a:endParaRPr>
          </a:p>
        </p:txBody>
      </p:sp>
      <p:sp>
        <p:nvSpPr>
          <p:cNvPr id="417" name="Google Shape;417;p19"/>
          <p:cNvSpPr/>
          <p:nvPr/>
        </p:nvSpPr>
        <p:spPr>
          <a:xfrm>
            <a:off x="2870200" y="54102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২০১৯</a:t>
            </a:r>
            <a:endParaRPr b="0" i="0" sz="1200" u="none" cap="none" strike="noStrike">
              <a:solidFill>
                <a:schemeClr val="dk1"/>
              </a:solidFill>
              <a:latin typeface="Tiro Bangla"/>
              <a:ea typeface="Tiro Bangla"/>
              <a:cs typeface="Tiro Bangla"/>
              <a:sym typeface="Tiro Bangla"/>
            </a:endParaRPr>
          </a:p>
        </p:txBody>
      </p:sp>
      <p:sp>
        <p:nvSpPr>
          <p:cNvPr id="418" name="Google Shape;418;p19"/>
          <p:cNvSpPr/>
          <p:nvPr/>
        </p:nvSpPr>
        <p:spPr>
          <a:xfrm>
            <a:off x="2870200" y="400685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১০৫</a:t>
            </a:r>
            <a:endParaRPr b="0" i="0" sz="1200" u="none" cap="none" strike="noStrike">
              <a:solidFill>
                <a:schemeClr val="dk1"/>
              </a:solidFill>
              <a:latin typeface="Tiro Bangla"/>
              <a:ea typeface="Tiro Bangla"/>
              <a:cs typeface="Tiro Bangla"/>
              <a:sym typeface="Tiro Bangla"/>
            </a:endParaRPr>
          </a:p>
        </p:txBody>
      </p:sp>
      <p:sp>
        <p:nvSpPr>
          <p:cNvPr id="419" name="Google Shape;419;p19"/>
          <p:cNvSpPr/>
          <p:nvPr/>
        </p:nvSpPr>
        <p:spPr>
          <a:xfrm>
            <a:off x="3517900" y="54102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২০২০</a:t>
            </a:r>
            <a:endParaRPr b="0" i="0" sz="1200" u="none" cap="none" strike="noStrike">
              <a:solidFill>
                <a:schemeClr val="dk1"/>
              </a:solidFill>
              <a:latin typeface="Tiro Bangla"/>
              <a:ea typeface="Tiro Bangla"/>
              <a:cs typeface="Tiro Bangla"/>
              <a:sym typeface="Tiro Bangla"/>
            </a:endParaRPr>
          </a:p>
        </p:txBody>
      </p:sp>
      <p:sp>
        <p:nvSpPr>
          <p:cNvPr id="420" name="Google Shape;420;p19"/>
          <p:cNvSpPr/>
          <p:nvPr/>
        </p:nvSpPr>
        <p:spPr>
          <a:xfrm>
            <a:off x="3517900" y="387985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১১৭</a:t>
            </a:r>
            <a:endParaRPr b="0" i="0" sz="1200" u="none" cap="none" strike="noStrike">
              <a:solidFill>
                <a:schemeClr val="dk1"/>
              </a:solidFill>
              <a:latin typeface="Tiro Bangla"/>
              <a:ea typeface="Tiro Bangla"/>
              <a:cs typeface="Tiro Bangla"/>
              <a:sym typeface="Tiro Bangla"/>
            </a:endParaRPr>
          </a:p>
        </p:txBody>
      </p:sp>
      <p:sp>
        <p:nvSpPr>
          <p:cNvPr id="421" name="Google Shape;421;p19"/>
          <p:cNvSpPr/>
          <p:nvPr/>
        </p:nvSpPr>
        <p:spPr>
          <a:xfrm>
            <a:off x="4165600" y="54102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২০২১</a:t>
            </a:r>
            <a:endParaRPr b="0" i="0" sz="1200" u="none" cap="none" strike="noStrike">
              <a:solidFill>
                <a:schemeClr val="dk1"/>
              </a:solidFill>
              <a:latin typeface="Tiro Bangla"/>
              <a:ea typeface="Tiro Bangla"/>
              <a:cs typeface="Tiro Bangla"/>
              <a:sym typeface="Tiro Bangla"/>
            </a:endParaRPr>
          </a:p>
        </p:txBody>
      </p:sp>
      <p:sp>
        <p:nvSpPr>
          <p:cNvPr id="422" name="Google Shape;422;p19"/>
          <p:cNvSpPr/>
          <p:nvPr/>
        </p:nvSpPr>
        <p:spPr>
          <a:xfrm>
            <a:off x="4165600" y="38227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১২৩</a:t>
            </a:r>
            <a:endParaRPr b="0" i="0" sz="1200" u="none" cap="none" strike="noStrike">
              <a:solidFill>
                <a:schemeClr val="dk1"/>
              </a:solidFill>
              <a:latin typeface="Tiro Bangla"/>
              <a:ea typeface="Tiro Bangla"/>
              <a:cs typeface="Tiro Bangla"/>
              <a:sym typeface="Tiro Bangla"/>
            </a:endParaRPr>
          </a:p>
        </p:txBody>
      </p:sp>
      <p:sp>
        <p:nvSpPr>
          <p:cNvPr id="423" name="Google Shape;423;p19"/>
          <p:cNvSpPr/>
          <p:nvPr/>
        </p:nvSpPr>
        <p:spPr>
          <a:xfrm>
            <a:off x="4813300" y="54102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২০২২</a:t>
            </a:r>
            <a:endParaRPr b="0" i="0" sz="1200" u="none" cap="none" strike="noStrike">
              <a:solidFill>
                <a:schemeClr val="dk1"/>
              </a:solidFill>
              <a:latin typeface="Tiro Bangla"/>
              <a:ea typeface="Tiro Bangla"/>
              <a:cs typeface="Tiro Bangla"/>
              <a:sym typeface="Tiro Bangla"/>
            </a:endParaRPr>
          </a:p>
        </p:txBody>
      </p:sp>
      <p:sp>
        <p:nvSpPr>
          <p:cNvPr id="424" name="Google Shape;424;p19"/>
          <p:cNvSpPr/>
          <p:nvPr/>
        </p:nvSpPr>
        <p:spPr>
          <a:xfrm>
            <a:off x="4813300" y="35306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১৫১</a:t>
            </a:r>
            <a:endParaRPr b="0" i="0" sz="1200" u="none" cap="none" strike="noStrike">
              <a:solidFill>
                <a:schemeClr val="dk1"/>
              </a:solidFill>
              <a:latin typeface="Tiro Bangla"/>
              <a:ea typeface="Tiro Bangla"/>
              <a:cs typeface="Tiro Bangla"/>
              <a:sym typeface="Tiro Bangla"/>
            </a:endParaRPr>
          </a:p>
        </p:txBody>
      </p:sp>
      <p:sp>
        <p:nvSpPr>
          <p:cNvPr id="425" name="Google Shape;425;p19"/>
          <p:cNvSpPr/>
          <p:nvPr/>
        </p:nvSpPr>
        <p:spPr>
          <a:xfrm>
            <a:off x="5461000" y="54102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২০২৩</a:t>
            </a:r>
            <a:endParaRPr b="0" i="0" sz="1200" u="none" cap="none" strike="noStrike">
              <a:solidFill>
                <a:schemeClr val="dk1"/>
              </a:solidFill>
              <a:latin typeface="Tiro Bangla"/>
              <a:ea typeface="Tiro Bangla"/>
              <a:cs typeface="Tiro Bangla"/>
              <a:sym typeface="Tiro Bangla"/>
            </a:endParaRPr>
          </a:p>
        </p:txBody>
      </p:sp>
      <p:sp>
        <p:nvSpPr>
          <p:cNvPr id="426" name="Google Shape;426;p19"/>
          <p:cNvSpPr/>
          <p:nvPr/>
        </p:nvSpPr>
        <p:spPr>
          <a:xfrm>
            <a:off x="5461000" y="27813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২২৪</a:t>
            </a:r>
            <a:endParaRPr b="0" i="0" sz="1200" u="none" cap="none" strike="noStrike">
              <a:solidFill>
                <a:schemeClr val="dk1"/>
              </a:solidFill>
              <a:latin typeface="Tiro Bangla"/>
              <a:ea typeface="Tiro Bangla"/>
              <a:cs typeface="Tiro Bangla"/>
              <a:sym typeface="Tiro Bangla"/>
            </a:endParaRPr>
          </a:p>
        </p:txBody>
      </p:sp>
      <p:sp>
        <p:nvSpPr>
          <p:cNvPr id="427" name="Google Shape;427;p19"/>
          <p:cNvSpPr/>
          <p:nvPr/>
        </p:nvSpPr>
        <p:spPr>
          <a:xfrm>
            <a:off x="6102350" y="54102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২০২৪</a:t>
            </a:r>
            <a:endParaRPr b="0" i="0" sz="1200" u="none" cap="none" strike="noStrike">
              <a:solidFill>
                <a:schemeClr val="dk1"/>
              </a:solidFill>
              <a:latin typeface="Tiro Bangla"/>
              <a:ea typeface="Tiro Bangla"/>
              <a:cs typeface="Tiro Bangla"/>
              <a:sym typeface="Tiro Bangla"/>
            </a:endParaRPr>
          </a:p>
        </p:txBody>
      </p:sp>
      <p:sp>
        <p:nvSpPr>
          <p:cNvPr id="428" name="Google Shape;428;p19"/>
          <p:cNvSpPr/>
          <p:nvPr/>
        </p:nvSpPr>
        <p:spPr>
          <a:xfrm>
            <a:off x="6102350" y="258445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384D86"/>
              </a:buClr>
              <a:buSzPts val="1200"/>
              <a:buFont typeface="Tiro Bangla"/>
              <a:buNone/>
            </a:pPr>
            <a:r>
              <a:rPr b="1" i="0" lang="en-US" sz="1200" u="none" cap="none" strike="noStrike">
                <a:solidFill>
                  <a:srgbClr val="384D86"/>
                </a:solidFill>
                <a:latin typeface="Tiro Bangla"/>
                <a:ea typeface="Tiro Bangla"/>
                <a:cs typeface="Tiro Bangla"/>
                <a:sym typeface="Tiro Bangla"/>
              </a:rPr>
              <a:t>২৪৩</a:t>
            </a:r>
            <a:endParaRPr b="0" i="0" sz="1200" u="none" cap="none" strike="noStrike">
              <a:solidFill>
                <a:schemeClr val="dk1"/>
              </a:solidFill>
              <a:latin typeface="Tiro Bangla"/>
              <a:ea typeface="Tiro Bangla"/>
              <a:cs typeface="Tiro Bangla"/>
              <a:sym typeface="Tiro Bangla"/>
            </a:endParaRPr>
          </a:p>
        </p:txBody>
      </p:sp>
      <p:sp>
        <p:nvSpPr>
          <p:cNvPr id="429" name="Google Shape;429;p19"/>
          <p:cNvSpPr/>
          <p:nvPr/>
        </p:nvSpPr>
        <p:spPr>
          <a:xfrm>
            <a:off x="6750050" y="54102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২০২৫</a:t>
            </a:r>
            <a:endParaRPr b="0" i="0" sz="1200" u="none" cap="none" strike="noStrike">
              <a:solidFill>
                <a:schemeClr val="dk1"/>
              </a:solidFill>
              <a:latin typeface="Tiro Bangla"/>
              <a:ea typeface="Tiro Bangla"/>
              <a:cs typeface="Tiro Bangla"/>
              <a:sym typeface="Tiro Bangla"/>
            </a:endParaRPr>
          </a:p>
        </p:txBody>
      </p:sp>
      <p:sp>
        <p:nvSpPr>
          <p:cNvPr id="430" name="Google Shape;430;p19"/>
          <p:cNvSpPr/>
          <p:nvPr/>
        </p:nvSpPr>
        <p:spPr>
          <a:xfrm>
            <a:off x="6750050" y="36830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১৩৬</a:t>
            </a:r>
            <a:endParaRPr b="0" i="0" sz="1200" u="none" cap="none" strike="noStrike">
              <a:solidFill>
                <a:schemeClr val="dk1"/>
              </a:solidFill>
              <a:latin typeface="Tiro Bangla"/>
              <a:ea typeface="Tiro Bangla"/>
              <a:cs typeface="Tiro Bangla"/>
              <a:sym typeface="Tiro Bangla"/>
            </a:endParaRPr>
          </a:p>
        </p:txBody>
      </p:sp>
      <p:sp>
        <p:nvSpPr>
          <p:cNvPr id="431" name="Google Shape;431;p19"/>
          <p:cNvSpPr/>
          <p:nvPr/>
        </p:nvSpPr>
        <p:spPr>
          <a:xfrm>
            <a:off x="7397750" y="54102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২০২৬</a:t>
            </a:r>
            <a:endParaRPr b="0" i="0" sz="1200" u="none" cap="none" strike="noStrike">
              <a:solidFill>
                <a:schemeClr val="dk1"/>
              </a:solidFill>
              <a:latin typeface="Tiro Bangla"/>
              <a:ea typeface="Tiro Bangla"/>
              <a:cs typeface="Tiro Bangla"/>
              <a:sym typeface="Tiro Bangla"/>
            </a:endParaRPr>
          </a:p>
        </p:txBody>
      </p:sp>
      <p:sp>
        <p:nvSpPr>
          <p:cNvPr id="432" name="Google Shape;432;p19"/>
          <p:cNvSpPr/>
          <p:nvPr/>
        </p:nvSpPr>
        <p:spPr>
          <a:xfrm>
            <a:off x="7397750" y="448945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384D86"/>
              </a:buClr>
              <a:buSzPts val="1200"/>
              <a:buFont typeface="Tiro Bangla"/>
              <a:buNone/>
            </a:pPr>
            <a:r>
              <a:rPr b="1" i="0" lang="en-US" sz="1200" u="none" cap="none" strike="noStrike">
                <a:solidFill>
                  <a:srgbClr val="384D86"/>
                </a:solidFill>
                <a:latin typeface="Tiro Bangla"/>
                <a:ea typeface="Tiro Bangla"/>
                <a:cs typeface="Tiro Bangla"/>
                <a:sym typeface="Tiro Bangla"/>
              </a:rPr>
              <a:t>৫৮</a:t>
            </a:r>
            <a:endParaRPr b="0" i="0" sz="1200" u="none" cap="none" strike="noStrike">
              <a:solidFill>
                <a:schemeClr val="dk1"/>
              </a:solidFill>
              <a:latin typeface="Tiro Bangla"/>
              <a:ea typeface="Tiro Bangla"/>
              <a:cs typeface="Tiro Bangla"/>
              <a:sym typeface="Tiro Bangla"/>
            </a:endParaRPr>
          </a:p>
        </p:txBody>
      </p:sp>
      <p:sp>
        <p:nvSpPr>
          <p:cNvPr id="433" name="Google Shape;433;p19"/>
          <p:cNvSpPr/>
          <p:nvPr/>
        </p:nvSpPr>
        <p:spPr>
          <a:xfrm>
            <a:off x="8509000" y="2667000"/>
            <a:ext cx="2956306" cy="612114"/>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C8501A"/>
              </a:buClr>
              <a:buSzPts val="4400"/>
              <a:buFont typeface="Tiro Bangla"/>
              <a:buNone/>
            </a:pPr>
            <a:r>
              <a:rPr b="0" i="0" lang="en-US" sz="4400" u="none" cap="none" strike="noStrike">
                <a:solidFill>
                  <a:srgbClr val="C8501A"/>
                </a:solidFill>
                <a:latin typeface="Tiro Bangla"/>
                <a:ea typeface="Tiro Bangla"/>
                <a:cs typeface="Tiro Bangla"/>
                <a:sym typeface="Tiro Bangla"/>
              </a:rPr>
              <a:t>১৩ গুণ</a:t>
            </a:r>
            <a:endParaRPr b="0" i="0" sz="4400" u="none" cap="none" strike="noStrike">
              <a:solidFill>
                <a:schemeClr val="dk1"/>
              </a:solidFill>
              <a:latin typeface="Tiro Bangla"/>
              <a:ea typeface="Tiro Bangla"/>
              <a:cs typeface="Tiro Bangla"/>
              <a:sym typeface="Tiro Bangla"/>
            </a:endParaRPr>
          </a:p>
        </p:txBody>
      </p:sp>
      <p:sp>
        <p:nvSpPr>
          <p:cNvPr id="434" name="Google Shape;434;p19"/>
          <p:cNvSpPr/>
          <p:nvPr/>
        </p:nvSpPr>
        <p:spPr>
          <a:xfrm>
            <a:off x="8509000" y="3279118"/>
            <a:ext cx="2956306" cy="22350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২০১৬ থেকে ২০২৪-এর ফেব্রুয়ারি</a:t>
            </a:r>
            <a:endParaRPr b="0" i="0" sz="1200" u="none" cap="none" strike="noStrike">
              <a:solidFill>
                <a:schemeClr val="dk1"/>
              </a:solidFill>
              <a:latin typeface="Tiro Bangla"/>
              <a:ea typeface="Tiro Bangla"/>
              <a:cs typeface="Tiro Bangla"/>
              <a:sym typeface="Tiro Bangla"/>
            </a:endParaRPr>
          </a:p>
        </p:txBody>
      </p:sp>
      <p:sp>
        <p:nvSpPr>
          <p:cNvPr id="435" name="Google Shape;435;p19"/>
          <p:cNvSpPr/>
          <p:nvPr/>
        </p:nvSpPr>
        <p:spPr>
          <a:xfrm>
            <a:off x="8509000" y="3655020"/>
            <a:ext cx="2956306" cy="612114"/>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C8501A"/>
              </a:buClr>
              <a:buSzPts val="4400"/>
              <a:buFont typeface="Tiro Bangla"/>
              <a:buNone/>
            </a:pPr>
            <a:r>
              <a:rPr b="0" i="0" lang="en-US" sz="4400" u="none" cap="none" strike="noStrike">
                <a:solidFill>
                  <a:srgbClr val="C8501A"/>
                </a:solidFill>
                <a:latin typeface="Tiro Bangla"/>
                <a:ea typeface="Tiro Bangla"/>
                <a:cs typeface="Tiro Bangla"/>
                <a:sym typeface="Tiro Bangla"/>
              </a:rPr>
              <a:t>−৭৬%</a:t>
            </a:r>
            <a:endParaRPr b="0" i="0" sz="4400" u="none" cap="none" strike="noStrike">
              <a:solidFill>
                <a:schemeClr val="dk1"/>
              </a:solidFill>
              <a:latin typeface="Tiro Bangla"/>
              <a:ea typeface="Tiro Bangla"/>
              <a:cs typeface="Tiro Bangla"/>
              <a:sym typeface="Tiro Bangla"/>
            </a:endParaRPr>
          </a:p>
        </p:txBody>
      </p:sp>
      <p:sp>
        <p:nvSpPr>
          <p:cNvPr id="436" name="Google Shape;436;p19"/>
          <p:cNvSpPr/>
          <p:nvPr/>
        </p:nvSpPr>
        <p:spPr>
          <a:xfrm>
            <a:off x="8509000" y="4267138"/>
            <a:ext cx="2956306" cy="22350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২০২৪ থেকে ২০২৬-এর ফেব্রুয়ারি</a:t>
            </a:r>
            <a:endParaRPr b="0" i="0" sz="1200" u="none" cap="none" strike="noStrike">
              <a:solidFill>
                <a:schemeClr val="dk1"/>
              </a:solidFill>
              <a:latin typeface="Tiro Bangla"/>
              <a:ea typeface="Tiro Bangla"/>
              <a:cs typeface="Tiro Bangla"/>
              <a:sym typeface="Tiro Bangla"/>
            </a:endParaRPr>
          </a:p>
        </p:txBody>
      </p:sp>
      <p:sp>
        <p:nvSpPr>
          <p:cNvPr id="437" name="Google Shape;437;p19"/>
          <p:cNvSpPr/>
          <p:nvPr/>
        </p:nvSpPr>
        <p:spPr>
          <a:xfrm>
            <a:off x="8509000" y="4643041"/>
            <a:ext cx="2956306" cy="66536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84D86"/>
              </a:buClr>
              <a:buSzPts val="1200"/>
              <a:buFont typeface="Tiro Bangla"/>
              <a:buNone/>
            </a:pPr>
            <a:r>
              <a:rPr b="0" i="0" lang="en-US" sz="1200" u="none" cap="none" strike="noStrike">
                <a:solidFill>
                  <a:srgbClr val="384D86"/>
                </a:solidFill>
                <a:latin typeface="Tiro Bangla"/>
                <a:ea typeface="Tiro Bangla"/>
                <a:cs typeface="Tiro Bangla"/>
                <a:sym typeface="Tiro Bangla"/>
              </a:rPr>
              <a:t>২০২৪ → ২০২৬: রবীন্দ্রনাথ ঠাকুর (মে মাসে ১.২৬ লাখ → ৩৮ হাজার) আর পহেলা বৈশাখ (এপ্রিলে ৮১ → ৩১ হাজার) নিবন্ধেও একই ছবি</a:t>
            </a:r>
            <a:endParaRPr b="0" i="0" sz="1200" u="none" cap="none" strike="noStrike">
              <a:solidFill>
                <a:schemeClr val="dk1"/>
              </a:solidFill>
              <a:latin typeface="Tiro Bangla"/>
              <a:ea typeface="Tiro Bangla"/>
              <a:cs typeface="Tiro Bangla"/>
              <a:sym typeface="Tiro Bangla"/>
            </a:endParaRPr>
          </a:p>
        </p:txBody>
      </p:sp>
      <p:sp>
        <p:nvSpPr>
          <p:cNvPr id="438" name="Google Shape;438;p19"/>
          <p:cNvSpPr/>
          <p:nvPr/>
        </p:nvSpPr>
        <p:spPr>
          <a:xfrm>
            <a:off x="812800" y="6236965"/>
            <a:ext cx="6791246"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মাসিক শীর্ষ নিবন্ধ ও নিবন্ধভিত্তিক পেজভিউ, agent = user · উৎস: উইকিমিডিয়া পেজভিউ API</a:t>
            </a:r>
            <a:endParaRPr b="0" i="0" sz="1200" u="none" cap="none" strike="noStrike">
              <a:solidFill>
                <a:schemeClr val="dk1"/>
              </a:solidFill>
              <a:latin typeface="Tiro Bangla"/>
              <a:ea typeface="Tiro Bangla"/>
              <a:cs typeface="Tiro Bangla"/>
              <a:sym typeface="Tiro Bangla"/>
            </a:endParaRPr>
          </a:p>
        </p:txBody>
      </p:sp>
      <p:sp>
        <p:nvSpPr>
          <p:cNvPr id="439" name="Google Shape;439;p19"/>
          <p:cNvSpPr/>
          <p:nvPr/>
        </p:nvSpPr>
        <p:spPr>
          <a:xfrm>
            <a:off x="10972536" y="6236965"/>
            <a:ext cx="457465"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৯ / ১৯</a:t>
            </a:r>
            <a:endParaRPr b="0" i="0" sz="1200" u="none" cap="none" strike="noStrike">
              <a:solidFill>
                <a:schemeClr val="dk1"/>
              </a:solidFill>
              <a:latin typeface="Tiro Bangla"/>
              <a:ea typeface="Tiro Bangla"/>
              <a:cs typeface="Tiro Bangla"/>
              <a:sym typeface="Tiro Bangla"/>
            </a:endParaRPr>
          </a:p>
        </p:txBody>
      </p:sp>
      <p:pic>
        <p:nvPicPr>
          <p:cNvPr descr="বাংলা উইকিসম্মেলন ২০২৬ লোগো" id="440" name="Google Shape;440;p19"/>
          <p:cNvPicPr preferRelativeResize="0"/>
          <p:nvPr/>
        </p:nvPicPr>
        <p:blipFill rotWithShape="1">
          <a:blip r:embed="rId4">
            <a:alphaModFix/>
          </a:blip>
          <a:srcRect b="0" l="0" r="0" t="0"/>
          <a:stretch/>
        </p:blipFill>
        <p:spPr>
          <a:xfrm>
            <a:off x="10314432" y="365760"/>
            <a:ext cx="1115568" cy="666862"/>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8DA"/>
        </a:solidFill>
      </p:bgPr>
    </p:bg>
    <p:spTree>
      <p:nvGrpSpPr>
        <p:cNvPr id="445" name="Shape 445"/>
        <p:cNvGrpSpPr/>
        <p:nvPr/>
      </p:nvGrpSpPr>
      <p:grpSpPr>
        <a:xfrm>
          <a:off x="0" y="0"/>
          <a:ext cx="0" cy="0"/>
          <a:chOff x="0" y="0"/>
          <a:chExt cx="0" cy="0"/>
        </a:xfrm>
      </p:grpSpPr>
      <p:sp>
        <p:nvSpPr>
          <p:cNvPr id="446" name="Google Shape;446;p20"/>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8501A"/>
              </a:buClr>
              <a:buSzPts val="1200"/>
              <a:buFont typeface="Tiro Bangla"/>
              <a:buNone/>
            </a:pPr>
            <a:r>
              <a:rPr b="1" i="0" lang="en-US" sz="1200" u="none" cap="none" strike="noStrike">
                <a:solidFill>
                  <a:srgbClr val="C8501A"/>
                </a:solidFill>
                <a:latin typeface="Tiro Bangla"/>
                <a:ea typeface="Tiro Bangla"/>
                <a:cs typeface="Tiro Bangla"/>
                <a:sym typeface="Tiro Bangla"/>
              </a:rPr>
              <a:t>পাঠক · ৭</a:t>
            </a:r>
            <a:endParaRPr b="0" i="0" sz="1200" u="none" cap="none" strike="noStrike">
              <a:solidFill>
                <a:schemeClr val="dk1"/>
              </a:solidFill>
              <a:latin typeface="Tiro Bangla"/>
              <a:ea typeface="Tiro Bangla"/>
              <a:cs typeface="Tiro Bangla"/>
              <a:sym typeface="Tiro Bangla"/>
            </a:endParaRPr>
          </a:p>
        </p:txBody>
      </p:sp>
      <p:sp>
        <p:nvSpPr>
          <p:cNvPr id="447" name="Google Shape;447;p20"/>
          <p:cNvSpPr/>
          <p:nvPr/>
        </p:nvSpPr>
        <p:spPr>
          <a:xfrm>
            <a:off x="812800" y="1127720"/>
            <a:ext cx="6540500" cy="960041"/>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84D86"/>
              </a:buClr>
              <a:buSzPts val="3200"/>
              <a:buFont typeface="Tiro Bangla"/>
              <a:buNone/>
            </a:pPr>
            <a:r>
              <a:rPr b="0" i="0" lang="en-US" sz="3200" u="none" cap="none" strike="noStrike">
                <a:solidFill>
                  <a:srgbClr val="384D86"/>
                </a:solidFill>
                <a:latin typeface="Tiro Bangla"/>
                <a:ea typeface="Tiro Bangla"/>
                <a:cs typeface="Tiro Bangla"/>
                <a:sym typeface="Tiro Bangla"/>
              </a:rPr>
              <a:t>উপমহাদেশের সব ভাষায় একই ধাক্কা, ইংরেজিতে অনেক কম</a:t>
            </a:r>
            <a:endParaRPr b="0" i="0" sz="3200" u="none" cap="none" strike="noStrike">
              <a:solidFill>
                <a:schemeClr val="dk1"/>
              </a:solidFill>
              <a:latin typeface="Tiro Bangla"/>
              <a:ea typeface="Tiro Bangla"/>
              <a:cs typeface="Tiro Bangla"/>
              <a:sym typeface="Tiro Bangla"/>
            </a:endParaRPr>
          </a:p>
        </p:txBody>
      </p:sp>
      <p:sp>
        <p:nvSpPr>
          <p:cNvPr id="448" name="Google Shape;448;p20"/>
          <p:cNvSpPr/>
          <p:nvPr/>
        </p:nvSpPr>
        <p:spPr>
          <a:xfrm>
            <a:off x="2667000" y="2298700"/>
            <a:ext cx="5886450" cy="22350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F6A8A"/>
              </a:buClr>
              <a:buSzPts val="1200"/>
              <a:buFont typeface="Tiro Bangla"/>
              <a:buNone/>
            </a:pPr>
            <a:r>
              <a:rPr b="1" lang="en-US" sz="1200">
                <a:solidFill>
                  <a:srgbClr val="5F6A8A"/>
                </a:solidFill>
                <a:latin typeface="Tiro Bangla"/>
                <a:ea typeface="Tiro Bangla"/>
                <a:cs typeface="Tiro Bangla"/>
                <a:sym typeface="Tiro Bangla"/>
              </a:rPr>
              <a:t>মানব</a:t>
            </a:r>
            <a:r>
              <a:rPr b="1" i="0" lang="en-US" sz="1200" u="none" cap="none" strike="noStrike">
                <a:solidFill>
                  <a:srgbClr val="5F6A8A"/>
                </a:solidFill>
                <a:latin typeface="Tiro Bangla"/>
                <a:ea typeface="Tiro Bangla"/>
                <a:cs typeface="Tiro Bangla"/>
                <a:sym typeface="Tiro Bangla"/>
              </a:rPr>
              <a:t> পেজভিউ, ২০২৪ → ২০২৬</a:t>
            </a:r>
            <a:endParaRPr b="0" i="0" sz="1200" u="none" cap="none" strike="noStrike">
              <a:solidFill>
                <a:schemeClr val="dk1"/>
              </a:solidFill>
              <a:latin typeface="Tiro Bangla"/>
              <a:ea typeface="Tiro Bangla"/>
              <a:cs typeface="Tiro Bangla"/>
              <a:sym typeface="Tiro Bangla"/>
            </a:endParaRPr>
          </a:p>
        </p:txBody>
      </p:sp>
      <p:sp>
        <p:nvSpPr>
          <p:cNvPr id="449" name="Google Shape;449;p20"/>
          <p:cNvSpPr/>
          <p:nvPr/>
        </p:nvSpPr>
        <p:spPr>
          <a:xfrm>
            <a:off x="9076944" y="2298700"/>
            <a:ext cx="2302256" cy="223507"/>
          </a:xfrm>
          <a:prstGeom prst="rect">
            <a:avLst/>
          </a:prstGeom>
          <a:noFill/>
          <a:ln>
            <a:noFill/>
          </a:ln>
        </p:spPr>
        <p:txBody>
          <a:bodyPr anchorCtr="0" anchor="t" bIns="0" lIns="0" spcFirstLastPara="1" rIns="0" wrap="square" tIns="0">
            <a:noAutofit/>
          </a:bodyPr>
          <a:lstStyle/>
          <a:p>
            <a:pPr indent="0" lvl="0" marL="0" marR="0" rtl="0" algn="r">
              <a:lnSpc>
                <a:spcPct val="130000"/>
              </a:lnSpc>
              <a:spcBef>
                <a:spcPts val="0"/>
              </a:spcBef>
              <a:spcAft>
                <a:spcPts val="0"/>
              </a:spcAft>
              <a:buClr>
                <a:srgbClr val="5F6A8A"/>
              </a:buClr>
              <a:buSzPts val="1200"/>
              <a:buFont typeface="Tiro Bangla"/>
              <a:buNone/>
            </a:pPr>
            <a:r>
              <a:rPr b="1" i="0" lang="en-US" sz="1200" u="none" cap="none" strike="noStrike">
                <a:solidFill>
                  <a:srgbClr val="5F6A8A"/>
                </a:solidFill>
                <a:latin typeface="Tiro Bangla"/>
                <a:ea typeface="Tiro Bangla"/>
                <a:cs typeface="Tiro Bangla"/>
                <a:sym typeface="Tiro Bangla"/>
              </a:rPr>
              <a:t>যন্ত্রের </a:t>
            </a:r>
            <a:r>
              <a:rPr b="1" lang="en-US" sz="1200">
                <a:solidFill>
                  <a:srgbClr val="5F6A8A"/>
                </a:solidFill>
                <a:latin typeface="Tiro Bangla"/>
                <a:ea typeface="Tiro Bangla"/>
                <a:cs typeface="Tiro Bangla"/>
                <a:sym typeface="Tiro Bangla"/>
              </a:rPr>
              <a:t>অংশ</a:t>
            </a:r>
            <a:r>
              <a:rPr b="1" i="0" lang="en-US" sz="1200" u="none" cap="none" strike="noStrike">
                <a:solidFill>
                  <a:srgbClr val="5F6A8A"/>
                </a:solidFill>
                <a:latin typeface="Tiro Bangla"/>
                <a:ea typeface="Tiro Bangla"/>
                <a:cs typeface="Tiro Bangla"/>
                <a:sym typeface="Tiro Bangla"/>
              </a:rPr>
              <a:t>, ২০২৬</a:t>
            </a:r>
            <a:endParaRPr b="0" i="0" sz="1200" u="none" cap="none" strike="noStrike">
              <a:solidFill>
                <a:schemeClr val="dk1"/>
              </a:solidFill>
              <a:latin typeface="Tiro Bangla"/>
              <a:ea typeface="Tiro Bangla"/>
              <a:cs typeface="Tiro Bangla"/>
              <a:sym typeface="Tiro Bangla"/>
            </a:endParaRPr>
          </a:p>
        </p:txBody>
      </p:sp>
      <p:sp>
        <p:nvSpPr>
          <p:cNvPr id="450" name="Google Shape;450;p20"/>
          <p:cNvSpPr/>
          <p:nvPr/>
        </p:nvSpPr>
        <p:spPr>
          <a:xfrm>
            <a:off x="762000" y="2641600"/>
            <a:ext cx="1701800" cy="273050"/>
          </a:xfrm>
          <a:prstGeom prst="rect">
            <a:avLst/>
          </a:prstGeom>
          <a:noFill/>
          <a:ln>
            <a:noFill/>
          </a:ln>
        </p:spPr>
        <p:txBody>
          <a:bodyPr anchorCtr="0" anchor="t" bIns="0" lIns="0" spcFirstLastPara="1" rIns="0" wrap="square" tIns="0">
            <a:noAutofit/>
          </a:bodyPr>
          <a:lstStyle/>
          <a:p>
            <a:pPr indent="0" lvl="0" marL="0" marR="0" rtl="0" algn="r">
              <a:lnSpc>
                <a:spcPct val="130000"/>
              </a:lnSpc>
              <a:spcBef>
                <a:spcPts val="0"/>
              </a:spcBef>
              <a:spcAft>
                <a:spcPts val="0"/>
              </a:spcAft>
              <a:buClr>
                <a:srgbClr val="384D86"/>
              </a:buClr>
              <a:buSzPts val="1500"/>
              <a:buFont typeface="Tiro Bangla"/>
              <a:buNone/>
            </a:pPr>
            <a:r>
              <a:rPr b="0" i="0" lang="en-US" sz="1500" u="none" cap="none" strike="noStrike">
                <a:solidFill>
                  <a:srgbClr val="384D86"/>
                </a:solidFill>
                <a:latin typeface="Tiro Bangla"/>
                <a:ea typeface="Tiro Bangla"/>
                <a:cs typeface="Tiro Bangla"/>
                <a:sym typeface="Tiro Bangla"/>
              </a:rPr>
              <a:t>হিন্দি</a:t>
            </a:r>
            <a:endParaRPr b="0" i="0" sz="1500" u="none" cap="none" strike="noStrike">
              <a:solidFill>
                <a:schemeClr val="dk1"/>
              </a:solidFill>
              <a:latin typeface="Tiro Bangla"/>
              <a:ea typeface="Tiro Bangla"/>
              <a:cs typeface="Tiro Bangla"/>
              <a:sym typeface="Tiro Bangla"/>
            </a:endParaRPr>
          </a:p>
        </p:txBody>
      </p:sp>
      <p:sp>
        <p:nvSpPr>
          <p:cNvPr id="451" name="Google Shape;451;p20"/>
          <p:cNvSpPr/>
          <p:nvPr/>
        </p:nvSpPr>
        <p:spPr>
          <a:xfrm>
            <a:off x="2667000" y="2679700"/>
            <a:ext cx="4591050" cy="215900"/>
          </a:xfrm>
          <a:prstGeom prst="rect">
            <a:avLst/>
          </a:prstGeom>
          <a:solidFill>
            <a:srgbClr val="A9B1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 name="Google Shape;452;p20"/>
          <p:cNvSpPr/>
          <p:nvPr/>
        </p:nvSpPr>
        <p:spPr>
          <a:xfrm>
            <a:off x="7359650" y="2641600"/>
            <a:ext cx="939800" cy="27305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F6A8A"/>
              </a:buClr>
              <a:buSzPts val="1500"/>
              <a:buFont typeface="Tiro Bangla"/>
              <a:buNone/>
            </a:pPr>
            <a:r>
              <a:rPr b="0" i="0" lang="en-US" sz="1500" u="none" cap="none" strike="noStrike">
                <a:solidFill>
                  <a:srgbClr val="5F6A8A"/>
                </a:solidFill>
                <a:latin typeface="Tiro Bangla"/>
                <a:ea typeface="Tiro Bangla"/>
                <a:cs typeface="Tiro Bangla"/>
                <a:sym typeface="Tiro Bangla"/>
              </a:rPr>
              <a:t>−৭১%</a:t>
            </a:r>
            <a:endParaRPr b="0" i="0" sz="1500" u="none" cap="none" strike="noStrike">
              <a:solidFill>
                <a:schemeClr val="dk1"/>
              </a:solidFill>
              <a:latin typeface="Tiro Bangla"/>
              <a:ea typeface="Tiro Bangla"/>
              <a:cs typeface="Tiro Bangla"/>
              <a:sym typeface="Tiro Bangla"/>
            </a:endParaRPr>
          </a:p>
        </p:txBody>
      </p:sp>
      <p:sp>
        <p:nvSpPr>
          <p:cNvPr id="453" name="Google Shape;453;p20"/>
          <p:cNvSpPr/>
          <p:nvPr/>
        </p:nvSpPr>
        <p:spPr>
          <a:xfrm>
            <a:off x="9728200" y="2641600"/>
            <a:ext cx="1651000" cy="273050"/>
          </a:xfrm>
          <a:prstGeom prst="rect">
            <a:avLst/>
          </a:prstGeom>
          <a:noFill/>
          <a:ln>
            <a:noFill/>
          </a:ln>
        </p:spPr>
        <p:txBody>
          <a:bodyPr anchorCtr="0" anchor="t" bIns="0" lIns="0" spcFirstLastPara="1" rIns="0" wrap="square" tIns="0">
            <a:noAutofit/>
          </a:bodyPr>
          <a:lstStyle/>
          <a:p>
            <a:pPr indent="0" lvl="0" marL="0" marR="0" rtl="0" algn="r">
              <a:lnSpc>
                <a:spcPct val="130000"/>
              </a:lnSpc>
              <a:spcBef>
                <a:spcPts val="0"/>
              </a:spcBef>
              <a:spcAft>
                <a:spcPts val="0"/>
              </a:spcAft>
              <a:buClr>
                <a:srgbClr val="5F6A8A"/>
              </a:buClr>
              <a:buSzPts val="1500"/>
              <a:buFont typeface="Tiro Bangla"/>
              <a:buNone/>
            </a:pPr>
            <a:r>
              <a:rPr b="0" i="0" lang="en-US" sz="1500" u="none" cap="none" strike="noStrike">
                <a:solidFill>
                  <a:srgbClr val="5F6A8A"/>
                </a:solidFill>
                <a:latin typeface="Tiro Bangla"/>
                <a:ea typeface="Tiro Bangla"/>
                <a:cs typeface="Tiro Bangla"/>
                <a:sym typeface="Tiro Bangla"/>
              </a:rPr>
              <a:t>৫৯%</a:t>
            </a:r>
            <a:endParaRPr b="0" i="0" sz="1500" u="none" cap="none" strike="noStrike">
              <a:solidFill>
                <a:schemeClr val="dk1"/>
              </a:solidFill>
              <a:latin typeface="Tiro Bangla"/>
              <a:ea typeface="Tiro Bangla"/>
              <a:cs typeface="Tiro Bangla"/>
              <a:sym typeface="Tiro Bangla"/>
            </a:endParaRPr>
          </a:p>
        </p:txBody>
      </p:sp>
      <p:sp>
        <p:nvSpPr>
          <p:cNvPr id="454" name="Google Shape;454;p20"/>
          <p:cNvSpPr/>
          <p:nvPr/>
        </p:nvSpPr>
        <p:spPr>
          <a:xfrm>
            <a:off x="762000" y="3022600"/>
            <a:ext cx="1701800" cy="273050"/>
          </a:xfrm>
          <a:prstGeom prst="rect">
            <a:avLst/>
          </a:prstGeom>
          <a:noFill/>
          <a:ln>
            <a:noFill/>
          </a:ln>
        </p:spPr>
        <p:txBody>
          <a:bodyPr anchorCtr="0" anchor="t" bIns="0" lIns="0" spcFirstLastPara="1" rIns="0" wrap="square" tIns="0">
            <a:noAutofit/>
          </a:bodyPr>
          <a:lstStyle/>
          <a:p>
            <a:pPr indent="0" lvl="0" marL="0" marR="0" rtl="0" algn="r">
              <a:lnSpc>
                <a:spcPct val="130000"/>
              </a:lnSpc>
              <a:spcBef>
                <a:spcPts val="0"/>
              </a:spcBef>
              <a:spcAft>
                <a:spcPts val="0"/>
              </a:spcAft>
              <a:buClr>
                <a:srgbClr val="C8501A"/>
              </a:buClr>
              <a:buSzPts val="1500"/>
              <a:buFont typeface="Tiro Bangla"/>
              <a:buNone/>
            </a:pPr>
            <a:r>
              <a:rPr b="1" i="0" lang="en-US" sz="1500" u="none" cap="none" strike="noStrike">
                <a:solidFill>
                  <a:srgbClr val="C8501A"/>
                </a:solidFill>
                <a:latin typeface="Tiro Bangla"/>
                <a:ea typeface="Tiro Bangla"/>
                <a:cs typeface="Tiro Bangla"/>
                <a:sym typeface="Tiro Bangla"/>
              </a:rPr>
              <a:t>বাংলা</a:t>
            </a:r>
            <a:endParaRPr b="0" i="0" sz="1500" u="none" cap="none" strike="noStrike">
              <a:solidFill>
                <a:schemeClr val="dk1"/>
              </a:solidFill>
              <a:latin typeface="Tiro Bangla"/>
              <a:ea typeface="Tiro Bangla"/>
              <a:cs typeface="Tiro Bangla"/>
              <a:sym typeface="Tiro Bangla"/>
            </a:endParaRPr>
          </a:p>
        </p:txBody>
      </p:sp>
      <p:sp>
        <p:nvSpPr>
          <p:cNvPr id="455" name="Google Shape;455;p20"/>
          <p:cNvSpPr/>
          <p:nvPr/>
        </p:nvSpPr>
        <p:spPr>
          <a:xfrm>
            <a:off x="2667000" y="3060700"/>
            <a:ext cx="4095750" cy="215900"/>
          </a:xfrm>
          <a:prstGeom prst="rect">
            <a:avLst/>
          </a:prstGeom>
          <a:solidFill>
            <a:srgbClr val="C8501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6" name="Google Shape;456;p20"/>
          <p:cNvSpPr/>
          <p:nvPr/>
        </p:nvSpPr>
        <p:spPr>
          <a:xfrm>
            <a:off x="6864350" y="3022600"/>
            <a:ext cx="939800" cy="27305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384D86"/>
              </a:buClr>
              <a:buSzPts val="1500"/>
              <a:buFont typeface="Tiro Bangla"/>
              <a:buNone/>
            </a:pPr>
            <a:r>
              <a:rPr b="1" i="0" lang="en-US" sz="1500" u="none" cap="none" strike="noStrike">
                <a:solidFill>
                  <a:srgbClr val="384D86"/>
                </a:solidFill>
                <a:latin typeface="Tiro Bangla"/>
                <a:ea typeface="Tiro Bangla"/>
                <a:cs typeface="Tiro Bangla"/>
                <a:sym typeface="Tiro Bangla"/>
              </a:rPr>
              <a:t>−৬৪%</a:t>
            </a:r>
            <a:endParaRPr b="0" i="0" sz="1500" u="none" cap="none" strike="noStrike">
              <a:solidFill>
                <a:schemeClr val="dk1"/>
              </a:solidFill>
              <a:latin typeface="Tiro Bangla"/>
              <a:ea typeface="Tiro Bangla"/>
              <a:cs typeface="Tiro Bangla"/>
              <a:sym typeface="Tiro Bangla"/>
            </a:endParaRPr>
          </a:p>
        </p:txBody>
      </p:sp>
      <p:sp>
        <p:nvSpPr>
          <p:cNvPr id="457" name="Google Shape;457;p20"/>
          <p:cNvSpPr/>
          <p:nvPr/>
        </p:nvSpPr>
        <p:spPr>
          <a:xfrm>
            <a:off x="9728200" y="3022600"/>
            <a:ext cx="1651000" cy="273050"/>
          </a:xfrm>
          <a:prstGeom prst="rect">
            <a:avLst/>
          </a:prstGeom>
          <a:noFill/>
          <a:ln>
            <a:noFill/>
          </a:ln>
        </p:spPr>
        <p:txBody>
          <a:bodyPr anchorCtr="0" anchor="t" bIns="0" lIns="0" spcFirstLastPara="1" rIns="0" wrap="square" tIns="0">
            <a:noAutofit/>
          </a:bodyPr>
          <a:lstStyle/>
          <a:p>
            <a:pPr indent="0" lvl="0" marL="0" marR="0" rtl="0" algn="r">
              <a:lnSpc>
                <a:spcPct val="130000"/>
              </a:lnSpc>
              <a:spcBef>
                <a:spcPts val="0"/>
              </a:spcBef>
              <a:spcAft>
                <a:spcPts val="0"/>
              </a:spcAft>
              <a:buClr>
                <a:srgbClr val="0E65C0"/>
              </a:buClr>
              <a:buSzPts val="1500"/>
              <a:buFont typeface="Tiro Bangla"/>
              <a:buNone/>
            </a:pPr>
            <a:r>
              <a:rPr b="1" i="0" lang="en-US" sz="1500" u="none" cap="none" strike="noStrike">
                <a:solidFill>
                  <a:srgbClr val="0E65C0"/>
                </a:solidFill>
                <a:latin typeface="Tiro Bangla"/>
                <a:ea typeface="Tiro Bangla"/>
                <a:cs typeface="Tiro Bangla"/>
                <a:sym typeface="Tiro Bangla"/>
              </a:rPr>
              <a:t>৭১%</a:t>
            </a:r>
            <a:endParaRPr b="0" i="0" sz="1500" u="none" cap="none" strike="noStrike">
              <a:solidFill>
                <a:schemeClr val="dk1"/>
              </a:solidFill>
              <a:latin typeface="Tiro Bangla"/>
              <a:ea typeface="Tiro Bangla"/>
              <a:cs typeface="Tiro Bangla"/>
              <a:sym typeface="Tiro Bangla"/>
            </a:endParaRPr>
          </a:p>
        </p:txBody>
      </p:sp>
      <p:sp>
        <p:nvSpPr>
          <p:cNvPr id="458" name="Google Shape;458;p20"/>
          <p:cNvSpPr/>
          <p:nvPr/>
        </p:nvSpPr>
        <p:spPr>
          <a:xfrm>
            <a:off x="762000" y="3403600"/>
            <a:ext cx="1701800" cy="273050"/>
          </a:xfrm>
          <a:prstGeom prst="rect">
            <a:avLst/>
          </a:prstGeom>
          <a:noFill/>
          <a:ln>
            <a:noFill/>
          </a:ln>
        </p:spPr>
        <p:txBody>
          <a:bodyPr anchorCtr="0" anchor="t" bIns="0" lIns="0" spcFirstLastPara="1" rIns="0" wrap="square" tIns="0">
            <a:noAutofit/>
          </a:bodyPr>
          <a:lstStyle/>
          <a:p>
            <a:pPr indent="0" lvl="0" marL="0" marR="0" rtl="0" algn="r">
              <a:lnSpc>
                <a:spcPct val="130000"/>
              </a:lnSpc>
              <a:spcBef>
                <a:spcPts val="0"/>
              </a:spcBef>
              <a:spcAft>
                <a:spcPts val="0"/>
              </a:spcAft>
              <a:buClr>
                <a:srgbClr val="384D86"/>
              </a:buClr>
              <a:buSzPts val="1500"/>
              <a:buFont typeface="Tiro Bangla"/>
              <a:buNone/>
            </a:pPr>
            <a:r>
              <a:rPr b="0" i="0" lang="en-US" sz="1500" u="none" cap="none" strike="noStrike">
                <a:solidFill>
                  <a:srgbClr val="384D86"/>
                </a:solidFill>
                <a:latin typeface="Tiro Bangla"/>
                <a:ea typeface="Tiro Bangla"/>
                <a:cs typeface="Tiro Bangla"/>
                <a:sym typeface="Tiro Bangla"/>
              </a:rPr>
              <a:t>মারাঠি</a:t>
            </a:r>
            <a:endParaRPr b="0" i="0" sz="1500" u="none" cap="none" strike="noStrike">
              <a:solidFill>
                <a:schemeClr val="dk1"/>
              </a:solidFill>
              <a:latin typeface="Tiro Bangla"/>
              <a:ea typeface="Tiro Bangla"/>
              <a:cs typeface="Tiro Bangla"/>
              <a:sym typeface="Tiro Bangla"/>
            </a:endParaRPr>
          </a:p>
        </p:txBody>
      </p:sp>
      <p:sp>
        <p:nvSpPr>
          <p:cNvPr id="459" name="Google Shape;459;p20"/>
          <p:cNvSpPr/>
          <p:nvPr/>
        </p:nvSpPr>
        <p:spPr>
          <a:xfrm>
            <a:off x="2667000" y="3441700"/>
            <a:ext cx="4032250" cy="215900"/>
          </a:xfrm>
          <a:prstGeom prst="rect">
            <a:avLst/>
          </a:prstGeom>
          <a:solidFill>
            <a:srgbClr val="A9B1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 name="Google Shape;460;p20"/>
          <p:cNvSpPr/>
          <p:nvPr/>
        </p:nvSpPr>
        <p:spPr>
          <a:xfrm>
            <a:off x="6800850" y="3403600"/>
            <a:ext cx="939800" cy="27305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F6A8A"/>
              </a:buClr>
              <a:buSzPts val="1500"/>
              <a:buFont typeface="Tiro Bangla"/>
              <a:buNone/>
            </a:pPr>
            <a:r>
              <a:rPr b="0" i="0" lang="en-US" sz="1500" u="none" cap="none" strike="noStrike">
                <a:solidFill>
                  <a:srgbClr val="5F6A8A"/>
                </a:solidFill>
                <a:latin typeface="Tiro Bangla"/>
                <a:ea typeface="Tiro Bangla"/>
                <a:cs typeface="Tiro Bangla"/>
                <a:sym typeface="Tiro Bangla"/>
              </a:rPr>
              <a:t>−৬৩%</a:t>
            </a:r>
            <a:endParaRPr b="0" i="0" sz="1500" u="none" cap="none" strike="noStrike">
              <a:solidFill>
                <a:schemeClr val="dk1"/>
              </a:solidFill>
              <a:latin typeface="Tiro Bangla"/>
              <a:ea typeface="Tiro Bangla"/>
              <a:cs typeface="Tiro Bangla"/>
              <a:sym typeface="Tiro Bangla"/>
            </a:endParaRPr>
          </a:p>
        </p:txBody>
      </p:sp>
      <p:sp>
        <p:nvSpPr>
          <p:cNvPr id="461" name="Google Shape;461;p20"/>
          <p:cNvSpPr/>
          <p:nvPr/>
        </p:nvSpPr>
        <p:spPr>
          <a:xfrm>
            <a:off x="9728200" y="3403600"/>
            <a:ext cx="1651000" cy="273050"/>
          </a:xfrm>
          <a:prstGeom prst="rect">
            <a:avLst/>
          </a:prstGeom>
          <a:noFill/>
          <a:ln>
            <a:noFill/>
          </a:ln>
        </p:spPr>
        <p:txBody>
          <a:bodyPr anchorCtr="0" anchor="t" bIns="0" lIns="0" spcFirstLastPara="1" rIns="0" wrap="square" tIns="0">
            <a:noAutofit/>
          </a:bodyPr>
          <a:lstStyle/>
          <a:p>
            <a:pPr indent="0" lvl="0" marL="0" marR="0" rtl="0" algn="r">
              <a:lnSpc>
                <a:spcPct val="130000"/>
              </a:lnSpc>
              <a:spcBef>
                <a:spcPts val="0"/>
              </a:spcBef>
              <a:spcAft>
                <a:spcPts val="0"/>
              </a:spcAft>
              <a:buClr>
                <a:srgbClr val="5F6A8A"/>
              </a:buClr>
              <a:buSzPts val="1500"/>
              <a:buFont typeface="Tiro Bangla"/>
              <a:buNone/>
            </a:pPr>
            <a:r>
              <a:rPr b="0" i="0" lang="en-US" sz="1500" u="none" cap="none" strike="noStrike">
                <a:solidFill>
                  <a:srgbClr val="5F6A8A"/>
                </a:solidFill>
                <a:latin typeface="Tiro Bangla"/>
                <a:ea typeface="Tiro Bangla"/>
                <a:cs typeface="Tiro Bangla"/>
                <a:sym typeface="Tiro Bangla"/>
              </a:rPr>
              <a:t>৭২%</a:t>
            </a:r>
            <a:endParaRPr b="0" i="0" sz="1500" u="none" cap="none" strike="noStrike">
              <a:solidFill>
                <a:schemeClr val="dk1"/>
              </a:solidFill>
              <a:latin typeface="Tiro Bangla"/>
              <a:ea typeface="Tiro Bangla"/>
              <a:cs typeface="Tiro Bangla"/>
              <a:sym typeface="Tiro Bangla"/>
            </a:endParaRPr>
          </a:p>
        </p:txBody>
      </p:sp>
      <p:sp>
        <p:nvSpPr>
          <p:cNvPr id="462" name="Google Shape;462;p20"/>
          <p:cNvSpPr/>
          <p:nvPr/>
        </p:nvSpPr>
        <p:spPr>
          <a:xfrm>
            <a:off x="762000" y="3784600"/>
            <a:ext cx="1701800" cy="273050"/>
          </a:xfrm>
          <a:prstGeom prst="rect">
            <a:avLst/>
          </a:prstGeom>
          <a:noFill/>
          <a:ln>
            <a:noFill/>
          </a:ln>
        </p:spPr>
        <p:txBody>
          <a:bodyPr anchorCtr="0" anchor="t" bIns="0" lIns="0" spcFirstLastPara="1" rIns="0" wrap="square" tIns="0">
            <a:noAutofit/>
          </a:bodyPr>
          <a:lstStyle/>
          <a:p>
            <a:pPr indent="0" lvl="0" marL="0" marR="0" rtl="0" algn="r">
              <a:lnSpc>
                <a:spcPct val="130000"/>
              </a:lnSpc>
              <a:spcBef>
                <a:spcPts val="0"/>
              </a:spcBef>
              <a:spcAft>
                <a:spcPts val="0"/>
              </a:spcAft>
              <a:buClr>
                <a:srgbClr val="384D86"/>
              </a:buClr>
              <a:buSzPts val="1500"/>
              <a:buFont typeface="Tiro Bangla"/>
              <a:buNone/>
            </a:pPr>
            <a:r>
              <a:rPr b="0" i="0" lang="en-US" sz="1500" u="none" cap="none" strike="noStrike">
                <a:solidFill>
                  <a:srgbClr val="384D86"/>
                </a:solidFill>
                <a:latin typeface="Tiro Bangla"/>
                <a:ea typeface="Tiro Bangla"/>
                <a:cs typeface="Tiro Bangla"/>
                <a:sym typeface="Tiro Bangla"/>
              </a:rPr>
              <a:t>তামিল</a:t>
            </a:r>
            <a:endParaRPr b="0" i="0" sz="1500" u="none" cap="none" strike="noStrike">
              <a:solidFill>
                <a:schemeClr val="dk1"/>
              </a:solidFill>
              <a:latin typeface="Tiro Bangla"/>
              <a:ea typeface="Tiro Bangla"/>
              <a:cs typeface="Tiro Bangla"/>
              <a:sym typeface="Tiro Bangla"/>
            </a:endParaRPr>
          </a:p>
        </p:txBody>
      </p:sp>
      <p:sp>
        <p:nvSpPr>
          <p:cNvPr id="463" name="Google Shape;463;p20"/>
          <p:cNvSpPr/>
          <p:nvPr/>
        </p:nvSpPr>
        <p:spPr>
          <a:xfrm>
            <a:off x="2667000" y="3822700"/>
            <a:ext cx="3556000" cy="215900"/>
          </a:xfrm>
          <a:prstGeom prst="rect">
            <a:avLst/>
          </a:prstGeom>
          <a:solidFill>
            <a:srgbClr val="A9B1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4" name="Google Shape;464;p20"/>
          <p:cNvSpPr/>
          <p:nvPr/>
        </p:nvSpPr>
        <p:spPr>
          <a:xfrm>
            <a:off x="6324600" y="3784600"/>
            <a:ext cx="939800" cy="27305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F6A8A"/>
              </a:buClr>
              <a:buSzPts val="1500"/>
              <a:buFont typeface="Tiro Bangla"/>
              <a:buNone/>
            </a:pPr>
            <a:r>
              <a:rPr b="0" i="0" lang="en-US" sz="1500" u="none" cap="none" strike="noStrike">
                <a:solidFill>
                  <a:srgbClr val="5F6A8A"/>
                </a:solidFill>
                <a:latin typeface="Tiro Bangla"/>
                <a:ea typeface="Tiro Bangla"/>
                <a:cs typeface="Tiro Bangla"/>
                <a:sym typeface="Tiro Bangla"/>
              </a:rPr>
              <a:t>−৫৫%</a:t>
            </a:r>
            <a:endParaRPr b="0" i="0" sz="1500" u="none" cap="none" strike="noStrike">
              <a:solidFill>
                <a:schemeClr val="dk1"/>
              </a:solidFill>
              <a:latin typeface="Tiro Bangla"/>
              <a:ea typeface="Tiro Bangla"/>
              <a:cs typeface="Tiro Bangla"/>
              <a:sym typeface="Tiro Bangla"/>
            </a:endParaRPr>
          </a:p>
        </p:txBody>
      </p:sp>
      <p:sp>
        <p:nvSpPr>
          <p:cNvPr id="465" name="Google Shape;465;p20"/>
          <p:cNvSpPr/>
          <p:nvPr/>
        </p:nvSpPr>
        <p:spPr>
          <a:xfrm>
            <a:off x="9728200" y="3784600"/>
            <a:ext cx="1651000" cy="273050"/>
          </a:xfrm>
          <a:prstGeom prst="rect">
            <a:avLst/>
          </a:prstGeom>
          <a:noFill/>
          <a:ln>
            <a:noFill/>
          </a:ln>
        </p:spPr>
        <p:txBody>
          <a:bodyPr anchorCtr="0" anchor="t" bIns="0" lIns="0" spcFirstLastPara="1" rIns="0" wrap="square" tIns="0">
            <a:noAutofit/>
          </a:bodyPr>
          <a:lstStyle/>
          <a:p>
            <a:pPr indent="0" lvl="0" marL="0" marR="0" rtl="0" algn="r">
              <a:lnSpc>
                <a:spcPct val="130000"/>
              </a:lnSpc>
              <a:spcBef>
                <a:spcPts val="0"/>
              </a:spcBef>
              <a:spcAft>
                <a:spcPts val="0"/>
              </a:spcAft>
              <a:buClr>
                <a:srgbClr val="5F6A8A"/>
              </a:buClr>
              <a:buSzPts val="1500"/>
              <a:buFont typeface="Tiro Bangla"/>
              <a:buNone/>
            </a:pPr>
            <a:r>
              <a:rPr b="0" i="0" lang="en-US" sz="1500" u="none" cap="none" strike="noStrike">
                <a:solidFill>
                  <a:srgbClr val="5F6A8A"/>
                </a:solidFill>
                <a:latin typeface="Tiro Bangla"/>
                <a:ea typeface="Tiro Bangla"/>
                <a:cs typeface="Tiro Bangla"/>
                <a:sym typeface="Tiro Bangla"/>
              </a:rPr>
              <a:t>৬৯%</a:t>
            </a:r>
            <a:endParaRPr b="0" i="0" sz="1500" u="none" cap="none" strike="noStrike">
              <a:solidFill>
                <a:schemeClr val="dk1"/>
              </a:solidFill>
              <a:latin typeface="Tiro Bangla"/>
              <a:ea typeface="Tiro Bangla"/>
              <a:cs typeface="Tiro Bangla"/>
              <a:sym typeface="Tiro Bangla"/>
            </a:endParaRPr>
          </a:p>
        </p:txBody>
      </p:sp>
      <p:sp>
        <p:nvSpPr>
          <p:cNvPr id="466" name="Google Shape;466;p20"/>
          <p:cNvSpPr/>
          <p:nvPr/>
        </p:nvSpPr>
        <p:spPr>
          <a:xfrm>
            <a:off x="762000" y="4165600"/>
            <a:ext cx="1701800" cy="273050"/>
          </a:xfrm>
          <a:prstGeom prst="rect">
            <a:avLst/>
          </a:prstGeom>
          <a:noFill/>
          <a:ln>
            <a:noFill/>
          </a:ln>
        </p:spPr>
        <p:txBody>
          <a:bodyPr anchorCtr="0" anchor="t" bIns="0" lIns="0" spcFirstLastPara="1" rIns="0" wrap="square" tIns="0">
            <a:noAutofit/>
          </a:bodyPr>
          <a:lstStyle/>
          <a:p>
            <a:pPr indent="0" lvl="0" marL="0" marR="0" rtl="0" algn="r">
              <a:lnSpc>
                <a:spcPct val="130000"/>
              </a:lnSpc>
              <a:spcBef>
                <a:spcPts val="0"/>
              </a:spcBef>
              <a:spcAft>
                <a:spcPts val="0"/>
              </a:spcAft>
              <a:buClr>
                <a:srgbClr val="384D86"/>
              </a:buClr>
              <a:buSzPts val="1500"/>
              <a:buFont typeface="Tiro Bangla"/>
              <a:buNone/>
            </a:pPr>
            <a:r>
              <a:rPr b="0" i="0" lang="en-US" sz="1500" u="none" cap="none" strike="noStrike">
                <a:solidFill>
                  <a:srgbClr val="384D86"/>
                </a:solidFill>
                <a:latin typeface="Tiro Bangla"/>
                <a:ea typeface="Tiro Bangla"/>
                <a:cs typeface="Tiro Bangla"/>
                <a:sym typeface="Tiro Bangla"/>
              </a:rPr>
              <a:t>মালয়ালম</a:t>
            </a:r>
            <a:endParaRPr b="0" i="0" sz="1500" u="none" cap="none" strike="noStrike">
              <a:solidFill>
                <a:schemeClr val="dk1"/>
              </a:solidFill>
              <a:latin typeface="Tiro Bangla"/>
              <a:ea typeface="Tiro Bangla"/>
              <a:cs typeface="Tiro Bangla"/>
              <a:sym typeface="Tiro Bangla"/>
            </a:endParaRPr>
          </a:p>
        </p:txBody>
      </p:sp>
      <p:sp>
        <p:nvSpPr>
          <p:cNvPr id="467" name="Google Shape;467;p20"/>
          <p:cNvSpPr/>
          <p:nvPr/>
        </p:nvSpPr>
        <p:spPr>
          <a:xfrm>
            <a:off x="2667000" y="4203700"/>
            <a:ext cx="3409950" cy="215900"/>
          </a:xfrm>
          <a:prstGeom prst="rect">
            <a:avLst/>
          </a:prstGeom>
          <a:solidFill>
            <a:srgbClr val="A9B1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8" name="Google Shape;468;p20"/>
          <p:cNvSpPr/>
          <p:nvPr/>
        </p:nvSpPr>
        <p:spPr>
          <a:xfrm>
            <a:off x="6178550" y="4165600"/>
            <a:ext cx="939800" cy="27305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F6A8A"/>
              </a:buClr>
              <a:buSzPts val="1500"/>
              <a:buFont typeface="Tiro Bangla"/>
              <a:buNone/>
            </a:pPr>
            <a:r>
              <a:rPr b="0" i="0" lang="en-US" sz="1500" u="none" cap="none" strike="noStrike">
                <a:solidFill>
                  <a:srgbClr val="5F6A8A"/>
                </a:solidFill>
                <a:latin typeface="Tiro Bangla"/>
                <a:ea typeface="Tiro Bangla"/>
                <a:cs typeface="Tiro Bangla"/>
                <a:sym typeface="Tiro Bangla"/>
              </a:rPr>
              <a:t>−৫৩%</a:t>
            </a:r>
            <a:endParaRPr b="0" i="0" sz="1500" u="none" cap="none" strike="noStrike">
              <a:solidFill>
                <a:schemeClr val="dk1"/>
              </a:solidFill>
              <a:latin typeface="Tiro Bangla"/>
              <a:ea typeface="Tiro Bangla"/>
              <a:cs typeface="Tiro Bangla"/>
              <a:sym typeface="Tiro Bangla"/>
            </a:endParaRPr>
          </a:p>
        </p:txBody>
      </p:sp>
      <p:sp>
        <p:nvSpPr>
          <p:cNvPr id="469" name="Google Shape;469;p20"/>
          <p:cNvSpPr/>
          <p:nvPr/>
        </p:nvSpPr>
        <p:spPr>
          <a:xfrm>
            <a:off x="9728200" y="4165600"/>
            <a:ext cx="1651000" cy="273050"/>
          </a:xfrm>
          <a:prstGeom prst="rect">
            <a:avLst/>
          </a:prstGeom>
          <a:noFill/>
          <a:ln>
            <a:noFill/>
          </a:ln>
        </p:spPr>
        <p:txBody>
          <a:bodyPr anchorCtr="0" anchor="t" bIns="0" lIns="0" spcFirstLastPara="1" rIns="0" wrap="square" tIns="0">
            <a:noAutofit/>
          </a:bodyPr>
          <a:lstStyle/>
          <a:p>
            <a:pPr indent="0" lvl="0" marL="0" marR="0" rtl="0" algn="r">
              <a:lnSpc>
                <a:spcPct val="130000"/>
              </a:lnSpc>
              <a:spcBef>
                <a:spcPts val="0"/>
              </a:spcBef>
              <a:spcAft>
                <a:spcPts val="0"/>
              </a:spcAft>
              <a:buClr>
                <a:srgbClr val="5F6A8A"/>
              </a:buClr>
              <a:buSzPts val="1500"/>
              <a:buFont typeface="Tiro Bangla"/>
              <a:buNone/>
            </a:pPr>
            <a:r>
              <a:rPr b="0" i="0" lang="en-US" sz="1500" u="none" cap="none" strike="noStrike">
                <a:solidFill>
                  <a:srgbClr val="5F6A8A"/>
                </a:solidFill>
                <a:latin typeface="Tiro Bangla"/>
                <a:ea typeface="Tiro Bangla"/>
                <a:cs typeface="Tiro Bangla"/>
                <a:sym typeface="Tiro Bangla"/>
              </a:rPr>
              <a:t>৭৫%</a:t>
            </a:r>
            <a:endParaRPr b="0" i="0" sz="1500" u="none" cap="none" strike="noStrike">
              <a:solidFill>
                <a:schemeClr val="dk1"/>
              </a:solidFill>
              <a:latin typeface="Tiro Bangla"/>
              <a:ea typeface="Tiro Bangla"/>
              <a:cs typeface="Tiro Bangla"/>
              <a:sym typeface="Tiro Bangla"/>
            </a:endParaRPr>
          </a:p>
        </p:txBody>
      </p:sp>
      <p:sp>
        <p:nvSpPr>
          <p:cNvPr id="470" name="Google Shape;470;p20"/>
          <p:cNvSpPr/>
          <p:nvPr/>
        </p:nvSpPr>
        <p:spPr>
          <a:xfrm>
            <a:off x="762000" y="4546600"/>
            <a:ext cx="1701800" cy="273050"/>
          </a:xfrm>
          <a:prstGeom prst="rect">
            <a:avLst/>
          </a:prstGeom>
          <a:noFill/>
          <a:ln>
            <a:noFill/>
          </a:ln>
        </p:spPr>
        <p:txBody>
          <a:bodyPr anchorCtr="0" anchor="t" bIns="0" lIns="0" spcFirstLastPara="1" rIns="0" wrap="square" tIns="0">
            <a:noAutofit/>
          </a:bodyPr>
          <a:lstStyle/>
          <a:p>
            <a:pPr indent="0" lvl="0" marL="0" marR="0" rtl="0" algn="r">
              <a:lnSpc>
                <a:spcPct val="130000"/>
              </a:lnSpc>
              <a:spcBef>
                <a:spcPts val="0"/>
              </a:spcBef>
              <a:spcAft>
                <a:spcPts val="0"/>
              </a:spcAft>
              <a:buClr>
                <a:srgbClr val="384D86"/>
              </a:buClr>
              <a:buSzPts val="1500"/>
              <a:buFont typeface="Tiro Bangla"/>
              <a:buNone/>
            </a:pPr>
            <a:r>
              <a:rPr b="0" i="0" lang="en-US" sz="1500" u="none" cap="none" strike="noStrike">
                <a:solidFill>
                  <a:srgbClr val="384D86"/>
                </a:solidFill>
                <a:latin typeface="Tiro Bangla"/>
                <a:ea typeface="Tiro Bangla"/>
                <a:cs typeface="Tiro Bangla"/>
                <a:sym typeface="Tiro Bangla"/>
              </a:rPr>
              <a:t>তেলুগু</a:t>
            </a:r>
            <a:endParaRPr b="0" i="0" sz="1500" u="none" cap="none" strike="noStrike">
              <a:solidFill>
                <a:schemeClr val="dk1"/>
              </a:solidFill>
              <a:latin typeface="Tiro Bangla"/>
              <a:ea typeface="Tiro Bangla"/>
              <a:cs typeface="Tiro Bangla"/>
              <a:sym typeface="Tiro Bangla"/>
            </a:endParaRPr>
          </a:p>
        </p:txBody>
      </p:sp>
      <p:sp>
        <p:nvSpPr>
          <p:cNvPr id="471" name="Google Shape;471;p20"/>
          <p:cNvSpPr/>
          <p:nvPr/>
        </p:nvSpPr>
        <p:spPr>
          <a:xfrm>
            <a:off x="2667000" y="4584700"/>
            <a:ext cx="2965450" cy="215900"/>
          </a:xfrm>
          <a:prstGeom prst="rect">
            <a:avLst/>
          </a:prstGeom>
          <a:solidFill>
            <a:srgbClr val="A9B1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2" name="Google Shape;472;p20"/>
          <p:cNvSpPr/>
          <p:nvPr/>
        </p:nvSpPr>
        <p:spPr>
          <a:xfrm>
            <a:off x="5734050" y="4546600"/>
            <a:ext cx="939800" cy="27305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F6A8A"/>
              </a:buClr>
              <a:buSzPts val="1500"/>
              <a:buFont typeface="Tiro Bangla"/>
              <a:buNone/>
            </a:pPr>
            <a:r>
              <a:rPr b="0" i="0" lang="en-US" sz="1500" u="none" cap="none" strike="noStrike">
                <a:solidFill>
                  <a:srgbClr val="5F6A8A"/>
                </a:solidFill>
                <a:latin typeface="Tiro Bangla"/>
                <a:ea typeface="Tiro Bangla"/>
                <a:cs typeface="Tiro Bangla"/>
                <a:sym typeface="Tiro Bangla"/>
              </a:rPr>
              <a:t>−৪৬%</a:t>
            </a:r>
            <a:endParaRPr b="0" i="0" sz="1500" u="none" cap="none" strike="noStrike">
              <a:solidFill>
                <a:schemeClr val="dk1"/>
              </a:solidFill>
              <a:latin typeface="Tiro Bangla"/>
              <a:ea typeface="Tiro Bangla"/>
              <a:cs typeface="Tiro Bangla"/>
              <a:sym typeface="Tiro Bangla"/>
            </a:endParaRPr>
          </a:p>
        </p:txBody>
      </p:sp>
      <p:sp>
        <p:nvSpPr>
          <p:cNvPr id="473" name="Google Shape;473;p20"/>
          <p:cNvSpPr/>
          <p:nvPr/>
        </p:nvSpPr>
        <p:spPr>
          <a:xfrm>
            <a:off x="9728200" y="4546600"/>
            <a:ext cx="1651000" cy="273050"/>
          </a:xfrm>
          <a:prstGeom prst="rect">
            <a:avLst/>
          </a:prstGeom>
          <a:noFill/>
          <a:ln>
            <a:noFill/>
          </a:ln>
        </p:spPr>
        <p:txBody>
          <a:bodyPr anchorCtr="0" anchor="t" bIns="0" lIns="0" spcFirstLastPara="1" rIns="0" wrap="square" tIns="0">
            <a:noAutofit/>
          </a:bodyPr>
          <a:lstStyle/>
          <a:p>
            <a:pPr indent="0" lvl="0" marL="0" marR="0" rtl="0" algn="r">
              <a:lnSpc>
                <a:spcPct val="130000"/>
              </a:lnSpc>
              <a:spcBef>
                <a:spcPts val="0"/>
              </a:spcBef>
              <a:spcAft>
                <a:spcPts val="0"/>
              </a:spcAft>
              <a:buClr>
                <a:srgbClr val="5F6A8A"/>
              </a:buClr>
              <a:buSzPts val="1500"/>
              <a:buFont typeface="Tiro Bangla"/>
              <a:buNone/>
            </a:pPr>
            <a:r>
              <a:rPr b="0" i="0" lang="en-US" sz="1500" u="none" cap="none" strike="noStrike">
                <a:solidFill>
                  <a:srgbClr val="5F6A8A"/>
                </a:solidFill>
                <a:latin typeface="Tiro Bangla"/>
                <a:ea typeface="Tiro Bangla"/>
                <a:cs typeface="Tiro Bangla"/>
                <a:sym typeface="Tiro Bangla"/>
              </a:rPr>
              <a:t>৭০%</a:t>
            </a:r>
            <a:endParaRPr b="0" i="0" sz="1500" u="none" cap="none" strike="noStrike">
              <a:solidFill>
                <a:schemeClr val="dk1"/>
              </a:solidFill>
              <a:latin typeface="Tiro Bangla"/>
              <a:ea typeface="Tiro Bangla"/>
              <a:cs typeface="Tiro Bangla"/>
              <a:sym typeface="Tiro Bangla"/>
            </a:endParaRPr>
          </a:p>
        </p:txBody>
      </p:sp>
      <p:sp>
        <p:nvSpPr>
          <p:cNvPr id="474" name="Google Shape;474;p20"/>
          <p:cNvSpPr/>
          <p:nvPr/>
        </p:nvSpPr>
        <p:spPr>
          <a:xfrm>
            <a:off x="762000" y="4927600"/>
            <a:ext cx="1701800" cy="273050"/>
          </a:xfrm>
          <a:prstGeom prst="rect">
            <a:avLst/>
          </a:prstGeom>
          <a:noFill/>
          <a:ln>
            <a:noFill/>
          </a:ln>
        </p:spPr>
        <p:txBody>
          <a:bodyPr anchorCtr="0" anchor="t" bIns="0" lIns="0" spcFirstLastPara="1" rIns="0" wrap="square" tIns="0">
            <a:noAutofit/>
          </a:bodyPr>
          <a:lstStyle/>
          <a:p>
            <a:pPr indent="0" lvl="0" marL="0" marR="0" rtl="0" algn="r">
              <a:lnSpc>
                <a:spcPct val="130000"/>
              </a:lnSpc>
              <a:spcBef>
                <a:spcPts val="0"/>
              </a:spcBef>
              <a:spcAft>
                <a:spcPts val="0"/>
              </a:spcAft>
              <a:buClr>
                <a:srgbClr val="384D86"/>
              </a:buClr>
              <a:buSzPts val="1500"/>
              <a:buFont typeface="Tiro Bangla"/>
              <a:buNone/>
            </a:pPr>
            <a:r>
              <a:rPr b="0" i="0" lang="en-US" sz="1500" u="none" cap="none" strike="noStrike">
                <a:solidFill>
                  <a:srgbClr val="384D86"/>
                </a:solidFill>
                <a:latin typeface="Tiro Bangla"/>
                <a:ea typeface="Tiro Bangla"/>
                <a:cs typeface="Tiro Bangla"/>
                <a:sym typeface="Tiro Bangla"/>
              </a:rPr>
              <a:t>উর্দু</a:t>
            </a:r>
            <a:endParaRPr b="0" i="0" sz="1500" u="none" cap="none" strike="noStrike">
              <a:solidFill>
                <a:schemeClr val="dk1"/>
              </a:solidFill>
              <a:latin typeface="Tiro Bangla"/>
              <a:ea typeface="Tiro Bangla"/>
              <a:cs typeface="Tiro Bangla"/>
              <a:sym typeface="Tiro Bangla"/>
            </a:endParaRPr>
          </a:p>
        </p:txBody>
      </p:sp>
      <p:sp>
        <p:nvSpPr>
          <p:cNvPr id="475" name="Google Shape;475;p20"/>
          <p:cNvSpPr/>
          <p:nvPr/>
        </p:nvSpPr>
        <p:spPr>
          <a:xfrm>
            <a:off x="2667000" y="4965700"/>
            <a:ext cx="1206500" cy="215900"/>
          </a:xfrm>
          <a:prstGeom prst="rect">
            <a:avLst/>
          </a:prstGeom>
          <a:solidFill>
            <a:srgbClr val="A9B1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6" name="Google Shape;476;p20"/>
          <p:cNvSpPr/>
          <p:nvPr/>
        </p:nvSpPr>
        <p:spPr>
          <a:xfrm>
            <a:off x="3975100" y="4927600"/>
            <a:ext cx="939800" cy="27305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F6A8A"/>
              </a:buClr>
              <a:buSzPts val="1500"/>
              <a:buFont typeface="Tiro Bangla"/>
              <a:buNone/>
            </a:pPr>
            <a:r>
              <a:rPr b="0" i="0" lang="en-US" sz="1500" u="none" cap="none" strike="noStrike">
                <a:solidFill>
                  <a:srgbClr val="5F6A8A"/>
                </a:solidFill>
                <a:latin typeface="Tiro Bangla"/>
                <a:ea typeface="Tiro Bangla"/>
                <a:cs typeface="Tiro Bangla"/>
                <a:sym typeface="Tiro Bangla"/>
              </a:rPr>
              <a:t>−১৯%</a:t>
            </a:r>
            <a:endParaRPr b="0" i="0" sz="1500" u="none" cap="none" strike="noStrike">
              <a:solidFill>
                <a:schemeClr val="dk1"/>
              </a:solidFill>
              <a:latin typeface="Tiro Bangla"/>
              <a:ea typeface="Tiro Bangla"/>
              <a:cs typeface="Tiro Bangla"/>
              <a:sym typeface="Tiro Bangla"/>
            </a:endParaRPr>
          </a:p>
        </p:txBody>
      </p:sp>
      <p:sp>
        <p:nvSpPr>
          <p:cNvPr id="477" name="Google Shape;477;p20"/>
          <p:cNvSpPr/>
          <p:nvPr/>
        </p:nvSpPr>
        <p:spPr>
          <a:xfrm>
            <a:off x="9728200" y="4927600"/>
            <a:ext cx="1651000" cy="273050"/>
          </a:xfrm>
          <a:prstGeom prst="rect">
            <a:avLst/>
          </a:prstGeom>
          <a:noFill/>
          <a:ln>
            <a:noFill/>
          </a:ln>
        </p:spPr>
        <p:txBody>
          <a:bodyPr anchorCtr="0" anchor="t" bIns="0" lIns="0" spcFirstLastPara="1" rIns="0" wrap="square" tIns="0">
            <a:noAutofit/>
          </a:bodyPr>
          <a:lstStyle/>
          <a:p>
            <a:pPr indent="0" lvl="0" marL="0" marR="0" rtl="0" algn="r">
              <a:lnSpc>
                <a:spcPct val="130000"/>
              </a:lnSpc>
              <a:spcBef>
                <a:spcPts val="0"/>
              </a:spcBef>
              <a:spcAft>
                <a:spcPts val="0"/>
              </a:spcAft>
              <a:buClr>
                <a:srgbClr val="5F6A8A"/>
              </a:buClr>
              <a:buSzPts val="1500"/>
              <a:buFont typeface="Tiro Bangla"/>
              <a:buNone/>
            </a:pPr>
            <a:r>
              <a:rPr b="0" i="0" lang="en-US" sz="1500" u="none" cap="none" strike="noStrike">
                <a:solidFill>
                  <a:srgbClr val="5F6A8A"/>
                </a:solidFill>
                <a:latin typeface="Tiro Bangla"/>
                <a:ea typeface="Tiro Bangla"/>
                <a:cs typeface="Tiro Bangla"/>
                <a:sym typeface="Tiro Bangla"/>
              </a:rPr>
              <a:t>৮৭%</a:t>
            </a:r>
            <a:endParaRPr b="0" i="0" sz="1500" u="none" cap="none" strike="noStrike">
              <a:solidFill>
                <a:schemeClr val="dk1"/>
              </a:solidFill>
              <a:latin typeface="Tiro Bangla"/>
              <a:ea typeface="Tiro Bangla"/>
              <a:cs typeface="Tiro Bangla"/>
              <a:sym typeface="Tiro Bangla"/>
            </a:endParaRPr>
          </a:p>
        </p:txBody>
      </p:sp>
      <p:sp>
        <p:nvSpPr>
          <p:cNvPr id="478" name="Google Shape;478;p20"/>
          <p:cNvSpPr/>
          <p:nvPr/>
        </p:nvSpPr>
        <p:spPr>
          <a:xfrm>
            <a:off x="762000" y="5308600"/>
            <a:ext cx="1701800" cy="273050"/>
          </a:xfrm>
          <a:prstGeom prst="rect">
            <a:avLst/>
          </a:prstGeom>
          <a:noFill/>
          <a:ln>
            <a:noFill/>
          </a:ln>
        </p:spPr>
        <p:txBody>
          <a:bodyPr anchorCtr="0" anchor="t" bIns="0" lIns="0" spcFirstLastPara="1" rIns="0" wrap="square" tIns="0">
            <a:noAutofit/>
          </a:bodyPr>
          <a:lstStyle/>
          <a:p>
            <a:pPr indent="0" lvl="0" marL="0" marR="0" rtl="0" algn="r">
              <a:lnSpc>
                <a:spcPct val="130000"/>
              </a:lnSpc>
              <a:spcBef>
                <a:spcPts val="0"/>
              </a:spcBef>
              <a:spcAft>
                <a:spcPts val="0"/>
              </a:spcAft>
              <a:buClr>
                <a:srgbClr val="384D86"/>
              </a:buClr>
              <a:buSzPts val="1500"/>
              <a:buFont typeface="Tiro Bangla"/>
              <a:buNone/>
            </a:pPr>
            <a:r>
              <a:rPr b="0" i="0" lang="en-US" sz="1500" u="none" cap="none" strike="noStrike">
                <a:solidFill>
                  <a:srgbClr val="384D86"/>
                </a:solidFill>
                <a:latin typeface="Tiro Bangla"/>
                <a:ea typeface="Tiro Bangla"/>
                <a:cs typeface="Tiro Bangla"/>
                <a:sym typeface="Tiro Bangla"/>
              </a:rPr>
              <a:t>ইংরেজি</a:t>
            </a:r>
            <a:endParaRPr b="0" i="0" sz="1500" u="none" cap="none" strike="noStrike">
              <a:solidFill>
                <a:schemeClr val="dk1"/>
              </a:solidFill>
              <a:latin typeface="Tiro Bangla"/>
              <a:ea typeface="Tiro Bangla"/>
              <a:cs typeface="Tiro Bangla"/>
              <a:sym typeface="Tiro Bangla"/>
            </a:endParaRPr>
          </a:p>
        </p:txBody>
      </p:sp>
      <p:sp>
        <p:nvSpPr>
          <p:cNvPr id="479" name="Google Shape;479;p20"/>
          <p:cNvSpPr/>
          <p:nvPr/>
        </p:nvSpPr>
        <p:spPr>
          <a:xfrm>
            <a:off x="2667000" y="5346700"/>
            <a:ext cx="901700" cy="215900"/>
          </a:xfrm>
          <a:prstGeom prst="rect">
            <a:avLst/>
          </a:prstGeom>
          <a:solidFill>
            <a:srgbClr val="384D8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0" name="Google Shape;480;p20"/>
          <p:cNvSpPr/>
          <p:nvPr/>
        </p:nvSpPr>
        <p:spPr>
          <a:xfrm>
            <a:off x="3670300" y="5308600"/>
            <a:ext cx="939800" cy="27305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F6A8A"/>
              </a:buClr>
              <a:buSzPts val="1500"/>
              <a:buFont typeface="Tiro Bangla"/>
              <a:buNone/>
            </a:pPr>
            <a:r>
              <a:rPr b="0" i="0" lang="en-US" sz="1500" u="none" cap="none" strike="noStrike">
                <a:solidFill>
                  <a:srgbClr val="5F6A8A"/>
                </a:solidFill>
                <a:latin typeface="Tiro Bangla"/>
                <a:ea typeface="Tiro Bangla"/>
                <a:cs typeface="Tiro Bangla"/>
                <a:sym typeface="Tiro Bangla"/>
              </a:rPr>
              <a:t>−১৪%</a:t>
            </a:r>
            <a:endParaRPr b="0" i="0" sz="1500" u="none" cap="none" strike="noStrike">
              <a:solidFill>
                <a:schemeClr val="dk1"/>
              </a:solidFill>
              <a:latin typeface="Tiro Bangla"/>
              <a:ea typeface="Tiro Bangla"/>
              <a:cs typeface="Tiro Bangla"/>
              <a:sym typeface="Tiro Bangla"/>
            </a:endParaRPr>
          </a:p>
        </p:txBody>
      </p:sp>
      <p:sp>
        <p:nvSpPr>
          <p:cNvPr id="481" name="Google Shape;481;p20"/>
          <p:cNvSpPr/>
          <p:nvPr/>
        </p:nvSpPr>
        <p:spPr>
          <a:xfrm>
            <a:off x="9728200" y="5308600"/>
            <a:ext cx="1651000" cy="273050"/>
          </a:xfrm>
          <a:prstGeom prst="rect">
            <a:avLst/>
          </a:prstGeom>
          <a:noFill/>
          <a:ln>
            <a:noFill/>
          </a:ln>
        </p:spPr>
        <p:txBody>
          <a:bodyPr anchorCtr="0" anchor="t" bIns="0" lIns="0" spcFirstLastPara="1" rIns="0" wrap="square" tIns="0">
            <a:noAutofit/>
          </a:bodyPr>
          <a:lstStyle/>
          <a:p>
            <a:pPr indent="0" lvl="0" marL="0" marR="0" rtl="0" algn="r">
              <a:lnSpc>
                <a:spcPct val="130000"/>
              </a:lnSpc>
              <a:spcBef>
                <a:spcPts val="0"/>
              </a:spcBef>
              <a:spcAft>
                <a:spcPts val="0"/>
              </a:spcAft>
              <a:buClr>
                <a:srgbClr val="5F6A8A"/>
              </a:buClr>
              <a:buSzPts val="1500"/>
              <a:buFont typeface="Tiro Bangla"/>
              <a:buNone/>
            </a:pPr>
            <a:r>
              <a:rPr b="0" i="0" lang="en-US" sz="1500" u="none" cap="none" strike="noStrike">
                <a:solidFill>
                  <a:srgbClr val="5F6A8A"/>
                </a:solidFill>
                <a:latin typeface="Tiro Bangla"/>
                <a:ea typeface="Tiro Bangla"/>
                <a:cs typeface="Tiro Bangla"/>
                <a:sym typeface="Tiro Bangla"/>
              </a:rPr>
              <a:t>৩২%</a:t>
            </a:r>
            <a:endParaRPr b="0" i="0" sz="1500" u="none" cap="none" strike="noStrike">
              <a:solidFill>
                <a:schemeClr val="dk1"/>
              </a:solidFill>
              <a:latin typeface="Tiro Bangla"/>
              <a:ea typeface="Tiro Bangla"/>
              <a:cs typeface="Tiro Bangla"/>
              <a:sym typeface="Tiro Bangla"/>
            </a:endParaRPr>
          </a:p>
        </p:txBody>
      </p:sp>
      <p:sp>
        <p:nvSpPr>
          <p:cNvPr id="482" name="Google Shape;482;p20"/>
          <p:cNvSpPr/>
          <p:nvPr/>
        </p:nvSpPr>
        <p:spPr>
          <a:xfrm>
            <a:off x="812800" y="6236965"/>
            <a:ext cx="6869589"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জানুয়ারি–সেপ্টেম্বর মাসিক গড় · যন্ত্র = ক্রলার ও স্বয়ংক্রিয় বট · উৎস: উইকিমিডিয়া পেজভিউ API</a:t>
            </a:r>
            <a:endParaRPr b="0" i="0" sz="1200" u="none" cap="none" strike="noStrike">
              <a:solidFill>
                <a:schemeClr val="dk1"/>
              </a:solidFill>
              <a:latin typeface="Tiro Bangla"/>
              <a:ea typeface="Tiro Bangla"/>
              <a:cs typeface="Tiro Bangla"/>
              <a:sym typeface="Tiro Bangla"/>
            </a:endParaRPr>
          </a:p>
        </p:txBody>
      </p:sp>
      <p:sp>
        <p:nvSpPr>
          <p:cNvPr id="483" name="Google Shape;483;p20"/>
          <p:cNvSpPr/>
          <p:nvPr/>
        </p:nvSpPr>
        <p:spPr>
          <a:xfrm>
            <a:off x="10882313" y="6236965"/>
            <a:ext cx="547688"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১০ / ১৯</a:t>
            </a:r>
            <a:endParaRPr b="0" i="0" sz="1200" u="none" cap="none" strike="noStrike">
              <a:solidFill>
                <a:schemeClr val="dk1"/>
              </a:solidFill>
              <a:latin typeface="Tiro Bangla"/>
              <a:ea typeface="Tiro Bangla"/>
              <a:cs typeface="Tiro Bangla"/>
              <a:sym typeface="Tiro Bangla"/>
            </a:endParaRPr>
          </a:p>
        </p:txBody>
      </p:sp>
      <p:pic>
        <p:nvPicPr>
          <p:cNvPr descr="বাংলা উইকিসম্মেলন ২০২৬ লোগো" id="484" name="Google Shape;484;p20"/>
          <p:cNvPicPr preferRelativeResize="0"/>
          <p:nvPr/>
        </p:nvPicPr>
        <p:blipFill rotWithShape="1">
          <a:blip r:embed="rId3">
            <a:alphaModFix/>
          </a:blip>
          <a:srcRect b="0" l="0" r="0" t="0"/>
          <a:stretch/>
        </p:blipFill>
        <p:spPr>
          <a:xfrm>
            <a:off x="10314432" y="365760"/>
            <a:ext cx="1115568" cy="666862"/>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8DA"/>
        </a:solidFill>
      </p:bgPr>
    </p:bg>
    <p:spTree>
      <p:nvGrpSpPr>
        <p:cNvPr id="489" name="Shape 489"/>
        <p:cNvGrpSpPr/>
        <p:nvPr/>
      </p:nvGrpSpPr>
      <p:grpSpPr>
        <a:xfrm>
          <a:off x="0" y="0"/>
          <a:ext cx="0" cy="0"/>
          <a:chOff x="0" y="0"/>
          <a:chExt cx="0" cy="0"/>
        </a:xfrm>
      </p:grpSpPr>
      <p:sp>
        <p:nvSpPr>
          <p:cNvPr id="490" name="Google Shape;490;p21"/>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8501A"/>
              </a:buClr>
              <a:buSzPts val="1200"/>
              <a:buFont typeface="Tiro Bangla"/>
              <a:buNone/>
            </a:pPr>
            <a:r>
              <a:rPr b="1" i="0" lang="en-US" sz="1200" u="none" cap="none" strike="noStrike">
                <a:solidFill>
                  <a:srgbClr val="C8501A"/>
                </a:solidFill>
                <a:latin typeface="Tiro Bangla"/>
                <a:ea typeface="Tiro Bangla"/>
                <a:cs typeface="Tiro Bangla"/>
                <a:sym typeface="Tiro Bangla"/>
              </a:rPr>
              <a:t>মানুষ · ১</a:t>
            </a:r>
            <a:endParaRPr b="0" i="0" sz="1200" u="none" cap="none" strike="noStrike">
              <a:solidFill>
                <a:schemeClr val="dk1"/>
              </a:solidFill>
              <a:latin typeface="Tiro Bangla"/>
              <a:ea typeface="Tiro Bangla"/>
              <a:cs typeface="Tiro Bangla"/>
              <a:sym typeface="Tiro Bangla"/>
            </a:endParaRPr>
          </a:p>
        </p:txBody>
      </p:sp>
      <p:sp>
        <p:nvSpPr>
          <p:cNvPr id="491" name="Google Shape;491;p21"/>
          <p:cNvSpPr/>
          <p:nvPr/>
        </p:nvSpPr>
        <p:spPr>
          <a:xfrm>
            <a:off x="812800" y="1127720"/>
            <a:ext cx="9810750" cy="49272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84D86"/>
              </a:buClr>
              <a:buSzPts val="3200"/>
              <a:buFont typeface="Tiro Bangla"/>
              <a:buNone/>
            </a:pPr>
            <a:r>
              <a:rPr b="0" i="0" lang="en-US" sz="3200" u="none" cap="none" strike="noStrike">
                <a:solidFill>
                  <a:srgbClr val="384D86"/>
                </a:solidFill>
                <a:latin typeface="Tiro Bangla"/>
                <a:ea typeface="Tiro Bangla"/>
                <a:cs typeface="Tiro Bangla"/>
                <a:sym typeface="Tiro Bangla"/>
              </a:rPr>
              <a:t>পাঠক কমেছে, লেখা থামেনি</a:t>
            </a:r>
            <a:endParaRPr b="0" i="0" sz="3200" u="none" cap="none" strike="noStrike">
              <a:solidFill>
                <a:schemeClr val="dk1"/>
              </a:solidFill>
              <a:latin typeface="Tiro Bangla"/>
              <a:ea typeface="Tiro Bangla"/>
              <a:cs typeface="Tiro Bangla"/>
              <a:sym typeface="Tiro Bangla"/>
            </a:endParaRPr>
          </a:p>
        </p:txBody>
      </p:sp>
      <p:pic>
        <p:nvPicPr>
          <p:cNvPr descr="সূচক রেখাচিত্র, ২০১৯ = ১০০: বাংলা উইকিপিডিয়ার পাঠক, সম্পাদনা ও নতুন নিবন্ধ" id="492" name="Google Shape;492;p21"/>
          <p:cNvPicPr preferRelativeResize="0"/>
          <p:nvPr/>
        </p:nvPicPr>
        <p:blipFill rotWithShape="1">
          <a:blip r:embed="rId3">
            <a:alphaModFix/>
          </a:blip>
          <a:srcRect b="-4" l="0" r="0" t="-4"/>
          <a:stretch/>
        </p:blipFill>
        <p:spPr>
          <a:xfrm>
            <a:off x="1498600" y="2540000"/>
            <a:ext cx="6731000" cy="2984500"/>
          </a:xfrm>
          <a:prstGeom prst="rect">
            <a:avLst/>
          </a:prstGeom>
          <a:noFill/>
          <a:ln>
            <a:noFill/>
          </a:ln>
        </p:spPr>
      </p:pic>
      <p:sp>
        <p:nvSpPr>
          <p:cNvPr id="493" name="Google Shape;493;p21"/>
          <p:cNvSpPr/>
          <p:nvPr/>
        </p:nvSpPr>
        <p:spPr>
          <a:xfrm>
            <a:off x="762000" y="5410200"/>
            <a:ext cx="622300" cy="223507"/>
          </a:xfrm>
          <a:prstGeom prst="rect">
            <a:avLst/>
          </a:prstGeom>
          <a:noFill/>
          <a:ln>
            <a:noFill/>
          </a:ln>
        </p:spPr>
        <p:txBody>
          <a:bodyPr anchorCtr="0" anchor="t" bIns="0" lIns="0" spcFirstLastPara="1" rIns="0" wrap="square" tIns="0">
            <a:noAutofit/>
          </a:bodyPr>
          <a:lstStyle/>
          <a:p>
            <a:pPr indent="0" lvl="0" marL="0" marR="0" rtl="0" algn="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০</a:t>
            </a:r>
            <a:endParaRPr b="0" i="0" sz="1200" u="none" cap="none" strike="noStrike">
              <a:solidFill>
                <a:schemeClr val="dk1"/>
              </a:solidFill>
              <a:latin typeface="Tiro Bangla"/>
              <a:ea typeface="Tiro Bangla"/>
              <a:cs typeface="Tiro Bangla"/>
              <a:sym typeface="Tiro Bangla"/>
            </a:endParaRPr>
          </a:p>
        </p:txBody>
      </p:sp>
      <p:sp>
        <p:nvSpPr>
          <p:cNvPr id="494" name="Google Shape;494;p21"/>
          <p:cNvSpPr/>
          <p:nvPr/>
        </p:nvSpPr>
        <p:spPr>
          <a:xfrm>
            <a:off x="762000" y="4660900"/>
            <a:ext cx="622300" cy="223507"/>
          </a:xfrm>
          <a:prstGeom prst="rect">
            <a:avLst/>
          </a:prstGeom>
          <a:noFill/>
          <a:ln>
            <a:noFill/>
          </a:ln>
        </p:spPr>
        <p:txBody>
          <a:bodyPr anchorCtr="0" anchor="t" bIns="0" lIns="0" spcFirstLastPara="1" rIns="0" wrap="square" tIns="0">
            <a:noAutofit/>
          </a:bodyPr>
          <a:lstStyle/>
          <a:p>
            <a:pPr indent="0" lvl="0" marL="0" marR="0" rtl="0" algn="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৫০</a:t>
            </a:r>
            <a:endParaRPr b="0" i="0" sz="1200" u="none" cap="none" strike="noStrike">
              <a:solidFill>
                <a:schemeClr val="dk1"/>
              </a:solidFill>
              <a:latin typeface="Tiro Bangla"/>
              <a:ea typeface="Tiro Bangla"/>
              <a:cs typeface="Tiro Bangla"/>
              <a:sym typeface="Tiro Bangla"/>
            </a:endParaRPr>
          </a:p>
        </p:txBody>
      </p:sp>
      <p:sp>
        <p:nvSpPr>
          <p:cNvPr id="495" name="Google Shape;495;p21"/>
          <p:cNvSpPr/>
          <p:nvPr/>
        </p:nvSpPr>
        <p:spPr>
          <a:xfrm>
            <a:off x="762000" y="3917950"/>
            <a:ext cx="622300" cy="223507"/>
          </a:xfrm>
          <a:prstGeom prst="rect">
            <a:avLst/>
          </a:prstGeom>
          <a:noFill/>
          <a:ln>
            <a:noFill/>
          </a:ln>
        </p:spPr>
        <p:txBody>
          <a:bodyPr anchorCtr="0" anchor="t" bIns="0" lIns="0" spcFirstLastPara="1" rIns="0" wrap="square" tIns="0">
            <a:noAutofit/>
          </a:bodyPr>
          <a:lstStyle/>
          <a:p>
            <a:pPr indent="0" lvl="0" marL="0" marR="0" rtl="0" algn="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১০০</a:t>
            </a:r>
            <a:endParaRPr b="0" i="0" sz="1200" u="none" cap="none" strike="noStrike">
              <a:solidFill>
                <a:schemeClr val="dk1"/>
              </a:solidFill>
              <a:latin typeface="Tiro Bangla"/>
              <a:ea typeface="Tiro Bangla"/>
              <a:cs typeface="Tiro Bangla"/>
              <a:sym typeface="Tiro Bangla"/>
            </a:endParaRPr>
          </a:p>
        </p:txBody>
      </p:sp>
      <p:sp>
        <p:nvSpPr>
          <p:cNvPr id="496" name="Google Shape;496;p21"/>
          <p:cNvSpPr/>
          <p:nvPr/>
        </p:nvSpPr>
        <p:spPr>
          <a:xfrm>
            <a:off x="762000" y="3175000"/>
            <a:ext cx="622300" cy="223507"/>
          </a:xfrm>
          <a:prstGeom prst="rect">
            <a:avLst/>
          </a:prstGeom>
          <a:noFill/>
          <a:ln>
            <a:noFill/>
          </a:ln>
        </p:spPr>
        <p:txBody>
          <a:bodyPr anchorCtr="0" anchor="t" bIns="0" lIns="0" spcFirstLastPara="1" rIns="0" wrap="square" tIns="0">
            <a:noAutofit/>
          </a:bodyPr>
          <a:lstStyle/>
          <a:p>
            <a:pPr indent="0" lvl="0" marL="0" marR="0" rtl="0" algn="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১৫০</a:t>
            </a:r>
            <a:endParaRPr b="0" i="0" sz="1200" u="none" cap="none" strike="noStrike">
              <a:solidFill>
                <a:schemeClr val="dk1"/>
              </a:solidFill>
              <a:latin typeface="Tiro Bangla"/>
              <a:ea typeface="Tiro Bangla"/>
              <a:cs typeface="Tiro Bangla"/>
              <a:sym typeface="Tiro Bangla"/>
            </a:endParaRPr>
          </a:p>
        </p:txBody>
      </p:sp>
      <p:sp>
        <p:nvSpPr>
          <p:cNvPr id="497" name="Google Shape;497;p21"/>
          <p:cNvSpPr/>
          <p:nvPr/>
        </p:nvSpPr>
        <p:spPr>
          <a:xfrm>
            <a:off x="762000" y="2425700"/>
            <a:ext cx="622300" cy="223507"/>
          </a:xfrm>
          <a:prstGeom prst="rect">
            <a:avLst/>
          </a:prstGeom>
          <a:noFill/>
          <a:ln>
            <a:noFill/>
          </a:ln>
        </p:spPr>
        <p:txBody>
          <a:bodyPr anchorCtr="0" anchor="t" bIns="0" lIns="0" spcFirstLastPara="1" rIns="0" wrap="square" tIns="0">
            <a:noAutofit/>
          </a:bodyPr>
          <a:lstStyle/>
          <a:p>
            <a:pPr indent="0" lvl="0" marL="0" marR="0" rtl="0" algn="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২০০</a:t>
            </a:r>
            <a:endParaRPr b="0" i="0" sz="1200" u="none" cap="none" strike="noStrike">
              <a:solidFill>
                <a:schemeClr val="dk1"/>
              </a:solidFill>
              <a:latin typeface="Tiro Bangla"/>
              <a:ea typeface="Tiro Bangla"/>
              <a:cs typeface="Tiro Bangla"/>
              <a:sym typeface="Tiro Bangla"/>
            </a:endParaRPr>
          </a:p>
        </p:txBody>
      </p:sp>
      <p:sp>
        <p:nvSpPr>
          <p:cNvPr id="498" name="Google Shape;498;p21"/>
          <p:cNvSpPr/>
          <p:nvPr/>
        </p:nvSpPr>
        <p:spPr>
          <a:xfrm>
            <a:off x="1282700" y="56007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২০১৬</a:t>
            </a:r>
            <a:endParaRPr b="0" i="0" sz="1200" u="none" cap="none" strike="noStrike">
              <a:solidFill>
                <a:schemeClr val="dk1"/>
              </a:solidFill>
              <a:latin typeface="Tiro Bangla"/>
              <a:ea typeface="Tiro Bangla"/>
              <a:cs typeface="Tiro Bangla"/>
              <a:sym typeface="Tiro Bangla"/>
            </a:endParaRPr>
          </a:p>
        </p:txBody>
      </p:sp>
      <p:sp>
        <p:nvSpPr>
          <p:cNvPr id="499" name="Google Shape;499;p21"/>
          <p:cNvSpPr/>
          <p:nvPr/>
        </p:nvSpPr>
        <p:spPr>
          <a:xfrm>
            <a:off x="2578100" y="56007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২০১৮</a:t>
            </a:r>
            <a:endParaRPr b="0" i="0" sz="1200" u="none" cap="none" strike="noStrike">
              <a:solidFill>
                <a:schemeClr val="dk1"/>
              </a:solidFill>
              <a:latin typeface="Tiro Bangla"/>
              <a:ea typeface="Tiro Bangla"/>
              <a:cs typeface="Tiro Bangla"/>
              <a:sym typeface="Tiro Bangla"/>
            </a:endParaRPr>
          </a:p>
        </p:txBody>
      </p:sp>
      <p:sp>
        <p:nvSpPr>
          <p:cNvPr id="500" name="Google Shape;500;p21"/>
          <p:cNvSpPr/>
          <p:nvPr/>
        </p:nvSpPr>
        <p:spPr>
          <a:xfrm>
            <a:off x="3873500" y="56007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২০২০</a:t>
            </a:r>
            <a:endParaRPr b="0" i="0" sz="1200" u="none" cap="none" strike="noStrike">
              <a:solidFill>
                <a:schemeClr val="dk1"/>
              </a:solidFill>
              <a:latin typeface="Tiro Bangla"/>
              <a:ea typeface="Tiro Bangla"/>
              <a:cs typeface="Tiro Bangla"/>
              <a:sym typeface="Tiro Bangla"/>
            </a:endParaRPr>
          </a:p>
        </p:txBody>
      </p:sp>
      <p:sp>
        <p:nvSpPr>
          <p:cNvPr id="501" name="Google Shape;501;p21"/>
          <p:cNvSpPr/>
          <p:nvPr/>
        </p:nvSpPr>
        <p:spPr>
          <a:xfrm>
            <a:off x="5168900" y="56007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২০২২</a:t>
            </a:r>
            <a:endParaRPr b="0" i="0" sz="1200" u="none" cap="none" strike="noStrike">
              <a:solidFill>
                <a:schemeClr val="dk1"/>
              </a:solidFill>
              <a:latin typeface="Tiro Bangla"/>
              <a:ea typeface="Tiro Bangla"/>
              <a:cs typeface="Tiro Bangla"/>
              <a:sym typeface="Tiro Bangla"/>
            </a:endParaRPr>
          </a:p>
        </p:txBody>
      </p:sp>
      <p:sp>
        <p:nvSpPr>
          <p:cNvPr id="502" name="Google Shape;502;p21"/>
          <p:cNvSpPr/>
          <p:nvPr/>
        </p:nvSpPr>
        <p:spPr>
          <a:xfrm>
            <a:off x="6464300" y="56007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২০২৪</a:t>
            </a:r>
            <a:endParaRPr b="0" i="0" sz="1200" u="none" cap="none" strike="noStrike">
              <a:solidFill>
                <a:schemeClr val="dk1"/>
              </a:solidFill>
              <a:latin typeface="Tiro Bangla"/>
              <a:ea typeface="Tiro Bangla"/>
              <a:cs typeface="Tiro Bangla"/>
              <a:sym typeface="Tiro Bangla"/>
            </a:endParaRPr>
          </a:p>
        </p:txBody>
      </p:sp>
      <p:sp>
        <p:nvSpPr>
          <p:cNvPr id="503" name="Google Shape;503;p21"/>
          <p:cNvSpPr/>
          <p:nvPr/>
        </p:nvSpPr>
        <p:spPr>
          <a:xfrm>
            <a:off x="7759700" y="56007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২০২৬</a:t>
            </a:r>
            <a:endParaRPr b="0" i="0" sz="1200" u="none" cap="none" strike="noStrike">
              <a:solidFill>
                <a:schemeClr val="dk1"/>
              </a:solidFill>
              <a:latin typeface="Tiro Bangla"/>
              <a:ea typeface="Tiro Bangla"/>
              <a:cs typeface="Tiro Bangla"/>
              <a:sym typeface="Tiro Bangla"/>
            </a:endParaRPr>
          </a:p>
        </p:txBody>
      </p:sp>
      <p:sp>
        <p:nvSpPr>
          <p:cNvPr id="504" name="Google Shape;504;p21"/>
          <p:cNvSpPr/>
          <p:nvPr/>
        </p:nvSpPr>
        <p:spPr>
          <a:xfrm>
            <a:off x="8356600" y="3441700"/>
            <a:ext cx="3113278" cy="27305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384D86"/>
              </a:buClr>
              <a:buSzPts val="1500"/>
              <a:buFont typeface="Tiro Bangla"/>
              <a:buNone/>
            </a:pPr>
            <a:r>
              <a:rPr b="1" i="0" lang="en-US" sz="1500" u="none" cap="none" strike="noStrike">
                <a:solidFill>
                  <a:srgbClr val="384D86"/>
                </a:solidFill>
                <a:latin typeface="Tiro Bangla"/>
                <a:ea typeface="Tiro Bangla"/>
                <a:cs typeface="Tiro Bangla"/>
                <a:sym typeface="Tiro Bangla"/>
              </a:rPr>
              <a:t>সম্পাদনা +৩০%</a:t>
            </a:r>
            <a:endParaRPr b="0" i="0" sz="1500" u="none" cap="none" strike="noStrike">
              <a:solidFill>
                <a:schemeClr val="dk1"/>
              </a:solidFill>
              <a:latin typeface="Tiro Bangla"/>
              <a:ea typeface="Tiro Bangla"/>
              <a:cs typeface="Tiro Bangla"/>
              <a:sym typeface="Tiro Bangla"/>
            </a:endParaRPr>
          </a:p>
        </p:txBody>
      </p:sp>
      <p:sp>
        <p:nvSpPr>
          <p:cNvPr id="505" name="Google Shape;505;p21"/>
          <p:cNvSpPr/>
          <p:nvPr/>
        </p:nvSpPr>
        <p:spPr>
          <a:xfrm>
            <a:off x="8356600" y="3771900"/>
            <a:ext cx="3113278" cy="27305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384D86"/>
              </a:buClr>
              <a:buSzPts val="1500"/>
              <a:buFont typeface="Tiro Bangla"/>
              <a:buNone/>
            </a:pPr>
            <a:r>
              <a:rPr b="0" i="0" lang="en-US" sz="1500" u="none" cap="none" strike="noStrike">
                <a:solidFill>
                  <a:srgbClr val="384D86"/>
                </a:solidFill>
                <a:latin typeface="Tiro Bangla"/>
                <a:ea typeface="Tiro Bangla"/>
                <a:cs typeface="Tiro Bangla"/>
                <a:sym typeface="Tiro Bangla"/>
              </a:rPr>
              <a:t>নতুন নিবন্ধ +১৪%</a:t>
            </a:r>
            <a:endParaRPr b="0" i="0" sz="1500" u="none" cap="none" strike="noStrike">
              <a:solidFill>
                <a:schemeClr val="dk1"/>
              </a:solidFill>
              <a:latin typeface="Tiro Bangla"/>
              <a:ea typeface="Tiro Bangla"/>
              <a:cs typeface="Tiro Bangla"/>
              <a:sym typeface="Tiro Bangla"/>
            </a:endParaRPr>
          </a:p>
        </p:txBody>
      </p:sp>
      <p:sp>
        <p:nvSpPr>
          <p:cNvPr id="506" name="Google Shape;506;p21"/>
          <p:cNvSpPr/>
          <p:nvPr/>
        </p:nvSpPr>
        <p:spPr>
          <a:xfrm>
            <a:off x="8356600" y="4533900"/>
            <a:ext cx="3113278" cy="27305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C8501A"/>
              </a:buClr>
              <a:buSzPts val="1500"/>
              <a:buFont typeface="Tiro Bangla"/>
              <a:buNone/>
            </a:pPr>
            <a:r>
              <a:rPr b="1" i="0" lang="en-US" sz="1500" u="none" cap="none" strike="noStrike">
                <a:solidFill>
                  <a:srgbClr val="C8501A"/>
                </a:solidFill>
                <a:latin typeface="Tiro Bangla"/>
                <a:ea typeface="Tiro Bangla"/>
                <a:cs typeface="Tiro Bangla"/>
                <a:sym typeface="Tiro Bangla"/>
              </a:rPr>
              <a:t>পাঠক −৪৩%</a:t>
            </a:r>
            <a:endParaRPr b="0" i="0" sz="1500" u="none" cap="none" strike="noStrike">
              <a:solidFill>
                <a:schemeClr val="dk1"/>
              </a:solidFill>
              <a:latin typeface="Tiro Bangla"/>
              <a:ea typeface="Tiro Bangla"/>
              <a:cs typeface="Tiro Bangla"/>
              <a:sym typeface="Tiro Bangla"/>
            </a:endParaRPr>
          </a:p>
        </p:txBody>
      </p:sp>
      <p:sp>
        <p:nvSpPr>
          <p:cNvPr id="507" name="Google Shape;507;p21"/>
          <p:cNvSpPr/>
          <p:nvPr/>
        </p:nvSpPr>
        <p:spPr>
          <a:xfrm>
            <a:off x="8356600" y="2540000"/>
            <a:ext cx="3113278" cy="231114"/>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5F6A8A"/>
              </a:buClr>
              <a:buSzPts val="1200"/>
              <a:buFont typeface="Tiro Bangla"/>
              <a:buNone/>
            </a:pPr>
            <a:r>
              <a:rPr b="1" i="0" lang="en-US" sz="1200" u="none" cap="none" strike="noStrike">
                <a:solidFill>
                  <a:srgbClr val="5F6A8A"/>
                </a:solidFill>
                <a:latin typeface="Tiro Bangla"/>
                <a:ea typeface="Tiro Bangla"/>
                <a:cs typeface="Tiro Bangla"/>
                <a:sym typeface="Tiro Bangla"/>
              </a:rPr>
              <a:t>২০১৯-এর তুলনায় ২০২৬</a:t>
            </a:r>
            <a:endParaRPr b="0" i="0" sz="1200" u="none" cap="none" strike="noStrike">
              <a:solidFill>
                <a:schemeClr val="dk1"/>
              </a:solidFill>
              <a:latin typeface="Tiro Bangla"/>
              <a:ea typeface="Tiro Bangla"/>
              <a:cs typeface="Tiro Bangla"/>
              <a:sym typeface="Tiro Bangla"/>
            </a:endParaRPr>
          </a:p>
        </p:txBody>
      </p:sp>
      <p:cxnSp>
        <p:nvCxnSpPr>
          <p:cNvPr id="508" name="Google Shape;508;p21"/>
          <p:cNvCxnSpPr/>
          <p:nvPr/>
        </p:nvCxnSpPr>
        <p:spPr>
          <a:xfrm>
            <a:off x="8356600" y="5078487"/>
            <a:ext cx="304800" cy="0"/>
          </a:xfrm>
          <a:prstGeom prst="straightConnector1">
            <a:avLst/>
          </a:prstGeom>
          <a:noFill/>
          <a:ln cap="flat" cmpd="sng" w="31750">
            <a:solidFill>
              <a:srgbClr val="384D86"/>
            </a:solidFill>
            <a:prstDash val="dash"/>
            <a:round/>
            <a:headEnd len="sm" w="sm" type="none"/>
            <a:tailEnd len="sm" w="sm" type="none"/>
          </a:ln>
        </p:spPr>
      </p:cxnSp>
      <p:sp>
        <p:nvSpPr>
          <p:cNvPr id="509" name="Google Shape;509;p21"/>
          <p:cNvSpPr/>
          <p:nvPr/>
        </p:nvSpPr>
        <p:spPr>
          <a:xfrm>
            <a:off x="8788400" y="4978400"/>
            <a:ext cx="1628775" cy="22350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ড্যাশ রেখা: নতুন নিবন্ধ</a:t>
            </a:r>
            <a:endParaRPr b="0" i="0" sz="1200" u="none" cap="none" strike="noStrike">
              <a:solidFill>
                <a:schemeClr val="dk1"/>
              </a:solidFill>
              <a:latin typeface="Tiro Bangla"/>
              <a:ea typeface="Tiro Bangla"/>
              <a:cs typeface="Tiro Bangla"/>
              <a:sym typeface="Tiro Bangla"/>
            </a:endParaRPr>
          </a:p>
        </p:txBody>
      </p:sp>
      <p:sp>
        <p:nvSpPr>
          <p:cNvPr id="510" name="Google Shape;510;p21"/>
          <p:cNvSpPr/>
          <p:nvPr/>
        </p:nvSpPr>
        <p:spPr>
          <a:xfrm>
            <a:off x="812800" y="6236965"/>
            <a:ext cx="6840855"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সূচক, ২০১৯ = ১০০ · জানুয়ারি–সেপ্টেম্বর গড় · নিবন্ধিত মানুষের কনটেন্ট-সম্পাদনা ও নতুন পাতা</a:t>
            </a:r>
            <a:endParaRPr b="0" i="0" sz="1200" u="none" cap="none" strike="noStrike">
              <a:solidFill>
                <a:schemeClr val="dk1"/>
              </a:solidFill>
              <a:latin typeface="Tiro Bangla"/>
              <a:ea typeface="Tiro Bangla"/>
              <a:cs typeface="Tiro Bangla"/>
              <a:sym typeface="Tiro Bangla"/>
            </a:endParaRPr>
          </a:p>
        </p:txBody>
      </p:sp>
      <p:sp>
        <p:nvSpPr>
          <p:cNvPr id="511" name="Google Shape;511;p21"/>
          <p:cNvSpPr/>
          <p:nvPr/>
        </p:nvSpPr>
        <p:spPr>
          <a:xfrm>
            <a:off x="10882313" y="6236965"/>
            <a:ext cx="547688"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১১ / ১৯</a:t>
            </a:r>
            <a:endParaRPr b="0" i="0" sz="1200" u="none" cap="none" strike="noStrike">
              <a:solidFill>
                <a:schemeClr val="dk1"/>
              </a:solidFill>
              <a:latin typeface="Tiro Bangla"/>
              <a:ea typeface="Tiro Bangla"/>
              <a:cs typeface="Tiro Bangla"/>
              <a:sym typeface="Tiro Bangla"/>
            </a:endParaRPr>
          </a:p>
        </p:txBody>
      </p:sp>
      <p:pic>
        <p:nvPicPr>
          <p:cNvPr descr="বাংলা উইকিসম্মেলন ২০২৬ লোগো" id="512" name="Google Shape;512;p21"/>
          <p:cNvPicPr preferRelativeResize="0"/>
          <p:nvPr/>
        </p:nvPicPr>
        <p:blipFill rotWithShape="1">
          <a:blip r:embed="rId4">
            <a:alphaModFix/>
          </a:blip>
          <a:srcRect b="0" l="0" r="0" t="0"/>
          <a:stretch/>
        </p:blipFill>
        <p:spPr>
          <a:xfrm>
            <a:off x="10314432" y="365760"/>
            <a:ext cx="1115568" cy="666862"/>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8DA"/>
        </a:solidFill>
      </p:bgPr>
    </p:bg>
    <p:spTree>
      <p:nvGrpSpPr>
        <p:cNvPr id="517" name="Shape 517"/>
        <p:cNvGrpSpPr/>
        <p:nvPr/>
      </p:nvGrpSpPr>
      <p:grpSpPr>
        <a:xfrm>
          <a:off x="0" y="0"/>
          <a:ext cx="0" cy="0"/>
          <a:chOff x="0" y="0"/>
          <a:chExt cx="0" cy="0"/>
        </a:xfrm>
      </p:grpSpPr>
      <p:sp>
        <p:nvSpPr>
          <p:cNvPr id="518" name="Google Shape;518;p22"/>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8501A"/>
              </a:buClr>
              <a:buSzPts val="1200"/>
              <a:buFont typeface="Tiro Bangla"/>
              <a:buNone/>
            </a:pPr>
            <a:r>
              <a:rPr b="1" i="0" lang="en-US" sz="1200" u="none" cap="none" strike="noStrike">
                <a:solidFill>
                  <a:srgbClr val="C8501A"/>
                </a:solidFill>
                <a:latin typeface="Tiro Bangla"/>
                <a:ea typeface="Tiro Bangla"/>
                <a:cs typeface="Tiro Bangla"/>
                <a:sym typeface="Tiro Bangla"/>
              </a:rPr>
              <a:t>মানুষ · ২</a:t>
            </a:r>
            <a:endParaRPr b="0" i="0" sz="1200" u="none" cap="none" strike="noStrike">
              <a:solidFill>
                <a:schemeClr val="dk1"/>
              </a:solidFill>
              <a:latin typeface="Tiro Bangla"/>
              <a:ea typeface="Tiro Bangla"/>
              <a:cs typeface="Tiro Bangla"/>
              <a:sym typeface="Tiro Bangla"/>
            </a:endParaRPr>
          </a:p>
        </p:txBody>
      </p:sp>
      <p:sp>
        <p:nvSpPr>
          <p:cNvPr id="519" name="Google Shape;519;p22"/>
          <p:cNvSpPr/>
          <p:nvPr/>
        </p:nvSpPr>
        <p:spPr>
          <a:xfrm>
            <a:off x="812800" y="1127720"/>
            <a:ext cx="9810750" cy="49272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84D86"/>
              </a:buClr>
              <a:buSzPts val="3200"/>
              <a:buFont typeface="Tiro Bangla"/>
              <a:buNone/>
            </a:pPr>
            <a:r>
              <a:rPr b="0" i="0" lang="en-US" sz="3200" u="none" cap="none" strike="noStrike">
                <a:solidFill>
                  <a:srgbClr val="384D86"/>
                </a:solidFill>
                <a:latin typeface="Tiro Bangla"/>
                <a:ea typeface="Tiro Bangla"/>
                <a:cs typeface="Tiro Bangla"/>
                <a:sym typeface="Tiro Bangla"/>
              </a:rPr>
              <a:t>সম্পাদক সম্প্রদায় টিকে আছে</a:t>
            </a:r>
            <a:endParaRPr b="0" i="0" sz="3200" u="none" cap="none" strike="noStrike">
              <a:solidFill>
                <a:schemeClr val="dk1"/>
              </a:solidFill>
              <a:latin typeface="Tiro Bangla"/>
              <a:ea typeface="Tiro Bangla"/>
              <a:cs typeface="Tiro Bangla"/>
              <a:sym typeface="Tiro Bangla"/>
            </a:endParaRPr>
          </a:p>
        </p:txBody>
      </p:sp>
      <p:sp>
        <p:nvSpPr>
          <p:cNvPr id="520" name="Google Shape;520;p22"/>
          <p:cNvSpPr/>
          <p:nvPr/>
        </p:nvSpPr>
        <p:spPr>
          <a:xfrm>
            <a:off x="1016000" y="2425700"/>
            <a:ext cx="7194550" cy="22350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F6A8A"/>
              </a:buClr>
              <a:buSzPts val="1200"/>
              <a:buFont typeface="Tiro Bangla"/>
              <a:buNone/>
            </a:pPr>
            <a:r>
              <a:rPr b="1" i="0" lang="en-US" sz="1200" u="none" cap="none" strike="noStrike">
                <a:solidFill>
                  <a:srgbClr val="5F6A8A"/>
                </a:solidFill>
                <a:latin typeface="Tiro Bangla"/>
                <a:ea typeface="Tiro Bangla"/>
                <a:cs typeface="Tiro Bangla"/>
                <a:sym typeface="Tiro Bangla"/>
              </a:rPr>
              <a:t>সক্রিয় সম্পাদক (মাসে ৫ বা তার বেশি সম্পাদনা), মাসিক গড়</a:t>
            </a:r>
            <a:endParaRPr b="0" i="0" sz="1200" u="none" cap="none" strike="noStrike">
              <a:solidFill>
                <a:schemeClr val="dk1"/>
              </a:solidFill>
              <a:latin typeface="Tiro Bangla"/>
              <a:ea typeface="Tiro Bangla"/>
              <a:cs typeface="Tiro Bangla"/>
              <a:sym typeface="Tiro Bangla"/>
            </a:endParaRPr>
          </a:p>
        </p:txBody>
      </p:sp>
      <p:pic>
        <p:nvPicPr>
          <p:cNvPr descr="বাংলা উইকিপিডিয়ার সক্রিয় সম্পাদক (মাসে ৫+ সম্পাদনা), ২০১৬–২০২৬" id="521" name="Google Shape;521;p22"/>
          <p:cNvPicPr preferRelativeResize="0"/>
          <p:nvPr/>
        </p:nvPicPr>
        <p:blipFill rotWithShape="1">
          <a:blip r:embed="rId3">
            <a:alphaModFix/>
          </a:blip>
          <a:srcRect b="0" l="-2" r="-2" t="0"/>
          <a:stretch/>
        </p:blipFill>
        <p:spPr>
          <a:xfrm>
            <a:off x="1016000" y="2667000"/>
            <a:ext cx="6985000" cy="2667000"/>
          </a:xfrm>
          <a:prstGeom prst="rect">
            <a:avLst/>
          </a:prstGeom>
          <a:noFill/>
          <a:ln>
            <a:noFill/>
          </a:ln>
        </p:spPr>
      </p:pic>
      <p:sp>
        <p:nvSpPr>
          <p:cNvPr id="522" name="Google Shape;522;p22"/>
          <p:cNvSpPr/>
          <p:nvPr/>
        </p:nvSpPr>
        <p:spPr>
          <a:xfrm>
            <a:off x="933450" y="54102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২০১৬</a:t>
            </a:r>
            <a:endParaRPr b="0" i="0" sz="1200" u="none" cap="none" strike="noStrike">
              <a:solidFill>
                <a:schemeClr val="dk1"/>
              </a:solidFill>
              <a:latin typeface="Tiro Bangla"/>
              <a:ea typeface="Tiro Bangla"/>
              <a:cs typeface="Tiro Bangla"/>
              <a:sym typeface="Tiro Bangla"/>
            </a:endParaRPr>
          </a:p>
        </p:txBody>
      </p:sp>
      <p:sp>
        <p:nvSpPr>
          <p:cNvPr id="523" name="Google Shape;523;p22"/>
          <p:cNvSpPr/>
          <p:nvPr/>
        </p:nvSpPr>
        <p:spPr>
          <a:xfrm>
            <a:off x="869950" y="3962400"/>
            <a:ext cx="812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১৩৮</a:t>
            </a:r>
            <a:endParaRPr b="0" i="0" sz="1200" u="none" cap="none" strike="noStrike">
              <a:solidFill>
                <a:schemeClr val="dk1"/>
              </a:solidFill>
              <a:latin typeface="Tiro Bangla"/>
              <a:ea typeface="Tiro Bangla"/>
              <a:cs typeface="Tiro Bangla"/>
              <a:sym typeface="Tiro Bangla"/>
            </a:endParaRPr>
          </a:p>
        </p:txBody>
      </p:sp>
      <p:sp>
        <p:nvSpPr>
          <p:cNvPr id="524" name="Google Shape;524;p22"/>
          <p:cNvSpPr/>
          <p:nvPr/>
        </p:nvSpPr>
        <p:spPr>
          <a:xfrm>
            <a:off x="1581150" y="54102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২০১৭</a:t>
            </a:r>
            <a:endParaRPr b="0" i="0" sz="1200" u="none" cap="none" strike="noStrike">
              <a:solidFill>
                <a:schemeClr val="dk1"/>
              </a:solidFill>
              <a:latin typeface="Tiro Bangla"/>
              <a:ea typeface="Tiro Bangla"/>
              <a:cs typeface="Tiro Bangla"/>
              <a:sym typeface="Tiro Bangla"/>
            </a:endParaRPr>
          </a:p>
        </p:txBody>
      </p:sp>
      <p:sp>
        <p:nvSpPr>
          <p:cNvPr id="525" name="Google Shape;525;p22"/>
          <p:cNvSpPr/>
          <p:nvPr/>
        </p:nvSpPr>
        <p:spPr>
          <a:xfrm>
            <a:off x="1517650" y="3752850"/>
            <a:ext cx="812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১৬৪</a:t>
            </a:r>
            <a:endParaRPr b="0" i="0" sz="1200" u="none" cap="none" strike="noStrike">
              <a:solidFill>
                <a:schemeClr val="dk1"/>
              </a:solidFill>
              <a:latin typeface="Tiro Bangla"/>
              <a:ea typeface="Tiro Bangla"/>
              <a:cs typeface="Tiro Bangla"/>
              <a:sym typeface="Tiro Bangla"/>
            </a:endParaRPr>
          </a:p>
        </p:txBody>
      </p:sp>
      <p:sp>
        <p:nvSpPr>
          <p:cNvPr id="526" name="Google Shape;526;p22"/>
          <p:cNvSpPr/>
          <p:nvPr/>
        </p:nvSpPr>
        <p:spPr>
          <a:xfrm>
            <a:off x="2228850" y="54102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২০১৮</a:t>
            </a:r>
            <a:endParaRPr b="0" i="0" sz="1200" u="none" cap="none" strike="noStrike">
              <a:solidFill>
                <a:schemeClr val="dk1"/>
              </a:solidFill>
              <a:latin typeface="Tiro Bangla"/>
              <a:ea typeface="Tiro Bangla"/>
              <a:cs typeface="Tiro Bangla"/>
              <a:sym typeface="Tiro Bangla"/>
            </a:endParaRPr>
          </a:p>
        </p:txBody>
      </p:sp>
      <p:sp>
        <p:nvSpPr>
          <p:cNvPr id="527" name="Google Shape;527;p22"/>
          <p:cNvSpPr/>
          <p:nvPr/>
        </p:nvSpPr>
        <p:spPr>
          <a:xfrm>
            <a:off x="2165350" y="3549650"/>
            <a:ext cx="812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১৯০</a:t>
            </a:r>
            <a:endParaRPr b="0" i="0" sz="1200" u="none" cap="none" strike="noStrike">
              <a:solidFill>
                <a:schemeClr val="dk1"/>
              </a:solidFill>
              <a:latin typeface="Tiro Bangla"/>
              <a:ea typeface="Tiro Bangla"/>
              <a:cs typeface="Tiro Bangla"/>
              <a:sym typeface="Tiro Bangla"/>
            </a:endParaRPr>
          </a:p>
        </p:txBody>
      </p:sp>
      <p:sp>
        <p:nvSpPr>
          <p:cNvPr id="528" name="Google Shape;528;p22"/>
          <p:cNvSpPr/>
          <p:nvPr/>
        </p:nvSpPr>
        <p:spPr>
          <a:xfrm>
            <a:off x="2870200" y="54102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২০১৯</a:t>
            </a:r>
            <a:endParaRPr b="0" i="0" sz="1200" u="none" cap="none" strike="noStrike">
              <a:solidFill>
                <a:schemeClr val="dk1"/>
              </a:solidFill>
              <a:latin typeface="Tiro Bangla"/>
              <a:ea typeface="Tiro Bangla"/>
              <a:cs typeface="Tiro Bangla"/>
              <a:sym typeface="Tiro Bangla"/>
            </a:endParaRPr>
          </a:p>
        </p:txBody>
      </p:sp>
      <p:sp>
        <p:nvSpPr>
          <p:cNvPr id="529" name="Google Shape;529;p22"/>
          <p:cNvSpPr/>
          <p:nvPr/>
        </p:nvSpPr>
        <p:spPr>
          <a:xfrm>
            <a:off x="2806700" y="3270250"/>
            <a:ext cx="812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২২৪</a:t>
            </a:r>
            <a:endParaRPr b="0" i="0" sz="1200" u="none" cap="none" strike="noStrike">
              <a:solidFill>
                <a:schemeClr val="dk1"/>
              </a:solidFill>
              <a:latin typeface="Tiro Bangla"/>
              <a:ea typeface="Tiro Bangla"/>
              <a:cs typeface="Tiro Bangla"/>
              <a:sym typeface="Tiro Bangla"/>
            </a:endParaRPr>
          </a:p>
        </p:txBody>
      </p:sp>
      <p:sp>
        <p:nvSpPr>
          <p:cNvPr id="530" name="Google Shape;530;p22"/>
          <p:cNvSpPr/>
          <p:nvPr/>
        </p:nvSpPr>
        <p:spPr>
          <a:xfrm>
            <a:off x="3517900" y="54102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২০২০</a:t>
            </a:r>
            <a:endParaRPr b="0" i="0" sz="1200" u="none" cap="none" strike="noStrike">
              <a:solidFill>
                <a:schemeClr val="dk1"/>
              </a:solidFill>
              <a:latin typeface="Tiro Bangla"/>
              <a:ea typeface="Tiro Bangla"/>
              <a:cs typeface="Tiro Bangla"/>
              <a:sym typeface="Tiro Bangla"/>
            </a:endParaRPr>
          </a:p>
        </p:txBody>
      </p:sp>
      <p:sp>
        <p:nvSpPr>
          <p:cNvPr id="531" name="Google Shape;531;p22"/>
          <p:cNvSpPr/>
          <p:nvPr/>
        </p:nvSpPr>
        <p:spPr>
          <a:xfrm>
            <a:off x="3454400" y="2794000"/>
            <a:ext cx="812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২৮৩</a:t>
            </a:r>
            <a:endParaRPr b="0" i="0" sz="1200" u="none" cap="none" strike="noStrike">
              <a:solidFill>
                <a:schemeClr val="dk1"/>
              </a:solidFill>
              <a:latin typeface="Tiro Bangla"/>
              <a:ea typeface="Tiro Bangla"/>
              <a:cs typeface="Tiro Bangla"/>
              <a:sym typeface="Tiro Bangla"/>
            </a:endParaRPr>
          </a:p>
        </p:txBody>
      </p:sp>
      <p:sp>
        <p:nvSpPr>
          <p:cNvPr id="532" name="Google Shape;532;p22"/>
          <p:cNvSpPr/>
          <p:nvPr/>
        </p:nvSpPr>
        <p:spPr>
          <a:xfrm>
            <a:off x="4165600" y="54102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২০২১</a:t>
            </a:r>
            <a:endParaRPr b="0" i="0" sz="1200" u="none" cap="none" strike="noStrike">
              <a:solidFill>
                <a:schemeClr val="dk1"/>
              </a:solidFill>
              <a:latin typeface="Tiro Bangla"/>
              <a:ea typeface="Tiro Bangla"/>
              <a:cs typeface="Tiro Bangla"/>
              <a:sym typeface="Tiro Bangla"/>
            </a:endParaRPr>
          </a:p>
        </p:txBody>
      </p:sp>
      <p:sp>
        <p:nvSpPr>
          <p:cNvPr id="533" name="Google Shape;533;p22"/>
          <p:cNvSpPr/>
          <p:nvPr/>
        </p:nvSpPr>
        <p:spPr>
          <a:xfrm>
            <a:off x="4102100" y="2743200"/>
            <a:ext cx="812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২৮৯</a:t>
            </a:r>
            <a:endParaRPr b="0" i="0" sz="1200" u="none" cap="none" strike="noStrike">
              <a:solidFill>
                <a:schemeClr val="dk1"/>
              </a:solidFill>
              <a:latin typeface="Tiro Bangla"/>
              <a:ea typeface="Tiro Bangla"/>
              <a:cs typeface="Tiro Bangla"/>
              <a:sym typeface="Tiro Bangla"/>
            </a:endParaRPr>
          </a:p>
        </p:txBody>
      </p:sp>
      <p:sp>
        <p:nvSpPr>
          <p:cNvPr id="534" name="Google Shape;534;p22"/>
          <p:cNvSpPr/>
          <p:nvPr/>
        </p:nvSpPr>
        <p:spPr>
          <a:xfrm>
            <a:off x="4813300" y="54102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২০২২</a:t>
            </a:r>
            <a:endParaRPr b="0" i="0" sz="1200" u="none" cap="none" strike="noStrike">
              <a:solidFill>
                <a:schemeClr val="dk1"/>
              </a:solidFill>
              <a:latin typeface="Tiro Bangla"/>
              <a:ea typeface="Tiro Bangla"/>
              <a:cs typeface="Tiro Bangla"/>
              <a:sym typeface="Tiro Bangla"/>
            </a:endParaRPr>
          </a:p>
        </p:txBody>
      </p:sp>
      <p:sp>
        <p:nvSpPr>
          <p:cNvPr id="535" name="Google Shape;535;p22"/>
          <p:cNvSpPr/>
          <p:nvPr/>
        </p:nvSpPr>
        <p:spPr>
          <a:xfrm>
            <a:off x="4749800" y="2717800"/>
            <a:ext cx="812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২৯২</a:t>
            </a:r>
            <a:endParaRPr b="0" i="0" sz="1200" u="none" cap="none" strike="noStrike">
              <a:solidFill>
                <a:schemeClr val="dk1"/>
              </a:solidFill>
              <a:latin typeface="Tiro Bangla"/>
              <a:ea typeface="Tiro Bangla"/>
              <a:cs typeface="Tiro Bangla"/>
              <a:sym typeface="Tiro Bangla"/>
            </a:endParaRPr>
          </a:p>
        </p:txBody>
      </p:sp>
      <p:sp>
        <p:nvSpPr>
          <p:cNvPr id="536" name="Google Shape;536;p22"/>
          <p:cNvSpPr/>
          <p:nvPr/>
        </p:nvSpPr>
        <p:spPr>
          <a:xfrm>
            <a:off x="5461000" y="54102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২০২৩</a:t>
            </a:r>
            <a:endParaRPr b="0" i="0" sz="1200" u="none" cap="none" strike="noStrike">
              <a:solidFill>
                <a:schemeClr val="dk1"/>
              </a:solidFill>
              <a:latin typeface="Tiro Bangla"/>
              <a:ea typeface="Tiro Bangla"/>
              <a:cs typeface="Tiro Bangla"/>
              <a:sym typeface="Tiro Bangla"/>
            </a:endParaRPr>
          </a:p>
        </p:txBody>
      </p:sp>
      <p:sp>
        <p:nvSpPr>
          <p:cNvPr id="537" name="Google Shape;537;p22"/>
          <p:cNvSpPr/>
          <p:nvPr/>
        </p:nvSpPr>
        <p:spPr>
          <a:xfrm>
            <a:off x="5397500" y="2889250"/>
            <a:ext cx="812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২৭১</a:t>
            </a:r>
            <a:endParaRPr b="0" i="0" sz="1200" u="none" cap="none" strike="noStrike">
              <a:solidFill>
                <a:schemeClr val="dk1"/>
              </a:solidFill>
              <a:latin typeface="Tiro Bangla"/>
              <a:ea typeface="Tiro Bangla"/>
              <a:cs typeface="Tiro Bangla"/>
              <a:sym typeface="Tiro Bangla"/>
            </a:endParaRPr>
          </a:p>
        </p:txBody>
      </p:sp>
      <p:sp>
        <p:nvSpPr>
          <p:cNvPr id="538" name="Google Shape;538;p22"/>
          <p:cNvSpPr/>
          <p:nvPr/>
        </p:nvSpPr>
        <p:spPr>
          <a:xfrm>
            <a:off x="6102350" y="54102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২০২৪</a:t>
            </a:r>
            <a:endParaRPr b="0" i="0" sz="1200" u="none" cap="none" strike="noStrike">
              <a:solidFill>
                <a:schemeClr val="dk1"/>
              </a:solidFill>
              <a:latin typeface="Tiro Bangla"/>
              <a:ea typeface="Tiro Bangla"/>
              <a:cs typeface="Tiro Bangla"/>
              <a:sym typeface="Tiro Bangla"/>
            </a:endParaRPr>
          </a:p>
        </p:txBody>
      </p:sp>
      <p:sp>
        <p:nvSpPr>
          <p:cNvPr id="539" name="Google Shape;539;p22"/>
          <p:cNvSpPr/>
          <p:nvPr/>
        </p:nvSpPr>
        <p:spPr>
          <a:xfrm>
            <a:off x="6038850" y="2908300"/>
            <a:ext cx="812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384D86"/>
              </a:buClr>
              <a:buSzPts val="1200"/>
              <a:buFont typeface="Tiro Bangla"/>
              <a:buNone/>
            </a:pPr>
            <a:r>
              <a:rPr b="1" i="0" lang="en-US" sz="1200" u="none" cap="none" strike="noStrike">
                <a:solidFill>
                  <a:srgbClr val="384D86"/>
                </a:solidFill>
                <a:latin typeface="Tiro Bangla"/>
                <a:ea typeface="Tiro Bangla"/>
                <a:cs typeface="Tiro Bangla"/>
                <a:sym typeface="Tiro Bangla"/>
              </a:rPr>
              <a:t>২৬৯</a:t>
            </a:r>
            <a:endParaRPr b="0" i="0" sz="1200" u="none" cap="none" strike="noStrike">
              <a:solidFill>
                <a:schemeClr val="dk1"/>
              </a:solidFill>
              <a:latin typeface="Tiro Bangla"/>
              <a:ea typeface="Tiro Bangla"/>
              <a:cs typeface="Tiro Bangla"/>
              <a:sym typeface="Tiro Bangla"/>
            </a:endParaRPr>
          </a:p>
        </p:txBody>
      </p:sp>
      <p:sp>
        <p:nvSpPr>
          <p:cNvPr id="540" name="Google Shape;540;p22"/>
          <p:cNvSpPr/>
          <p:nvPr/>
        </p:nvSpPr>
        <p:spPr>
          <a:xfrm>
            <a:off x="6750050" y="54102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২০২৫</a:t>
            </a:r>
            <a:endParaRPr b="0" i="0" sz="1200" u="none" cap="none" strike="noStrike">
              <a:solidFill>
                <a:schemeClr val="dk1"/>
              </a:solidFill>
              <a:latin typeface="Tiro Bangla"/>
              <a:ea typeface="Tiro Bangla"/>
              <a:cs typeface="Tiro Bangla"/>
              <a:sym typeface="Tiro Bangla"/>
            </a:endParaRPr>
          </a:p>
        </p:txBody>
      </p:sp>
      <p:sp>
        <p:nvSpPr>
          <p:cNvPr id="541" name="Google Shape;541;p22"/>
          <p:cNvSpPr/>
          <p:nvPr/>
        </p:nvSpPr>
        <p:spPr>
          <a:xfrm>
            <a:off x="6686550" y="2838450"/>
            <a:ext cx="812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২৭৮</a:t>
            </a:r>
            <a:endParaRPr b="0" i="0" sz="1200" u="none" cap="none" strike="noStrike">
              <a:solidFill>
                <a:schemeClr val="dk1"/>
              </a:solidFill>
              <a:latin typeface="Tiro Bangla"/>
              <a:ea typeface="Tiro Bangla"/>
              <a:cs typeface="Tiro Bangla"/>
              <a:sym typeface="Tiro Bangla"/>
            </a:endParaRPr>
          </a:p>
        </p:txBody>
      </p:sp>
      <p:sp>
        <p:nvSpPr>
          <p:cNvPr id="542" name="Google Shape;542;p22"/>
          <p:cNvSpPr/>
          <p:nvPr/>
        </p:nvSpPr>
        <p:spPr>
          <a:xfrm>
            <a:off x="7397750" y="54102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২০২৬</a:t>
            </a:r>
            <a:endParaRPr b="0" i="0" sz="1200" u="none" cap="none" strike="noStrike">
              <a:solidFill>
                <a:schemeClr val="dk1"/>
              </a:solidFill>
              <a:latin typeface="Tiro Bangla"/>
              <a:ea typeface="Tiro Bangla"/>
              <a:cs typeface="Tiro Bangla"/>
              <a:sym typeface="Tiro Bangla"/>
            </a:endParaRPr>
          </a:p>
        </p:txBody>
      </p:sp>
      <p:sp>
        <p:nvSpPr>
          <p:cNvPr id="543" name="Google Shape;543;p22"/>
          <p:cNvSpPr/>
          <p:nvPr/>
        </p:nvSpPr>
        <p:spPr>
          <a:xfrm>
            <a:off x="7334250" y="3016250"/>
            <a:ext cx="812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384D86"/>
              </a:buClr>
              <a:buSzPts val="1200"/>
              <a:buFont typeface="Tiro Bangla"/>
              <a:buNone/>
            </a:pPr>
            <a:r>
              <a:rPr b="1" i="0" lang="en-US" sz="1200" u="none" cap="none" strike="noStrike">
                <a:solidFill>
                  <a:srgbClr val="384D86"/>
                </a:solidFill>
                <a:latin typeface="Tiro Bangla"/>
                <a:ea typeface="Tiro Bangla"/>
                <a:cs typeface="Tiro Bangla"/>
                <a:sym typeface="Tiro Bangla"/>
              </a:rPr>
              <a:t>২৫৫</a:t>
            </a:r>
            <a:endParaRPr b="0" i="0" sz="1200" u="none" cap="none" strike="noStrike">
              <a:solidFill>
                <a:schemeClr val="dk1"/>
              </a:solidFill>
              <a:latin typeface="Tiro Bangla"/>
              <a:ea typeface="Tiro Bangla"/>
              <a:cs typeface="Tiro Bangla"/>
              <a:sym typeface="Tiro Bangla"/>
            </a:endParaRPr>
          </a:p>
        </p:txBody>
      </p:sp>
      <p:sp>
        <p:nvSpPr>
          <p:cNvPr id="544" name="Google Shape;544;p22"/>
          <p:cNvSpPr/>
          <p:nvPr/>
        </p:nvSpPr>
        <p:spPr>
          <a:xfrm>
            <a:off x="8509000" y="2603500"/>
            <a:ext cx="2956306" cy="612114"/>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C8501A"/>
              </a:buClr>
              <a:buSzPts val="4400"/>
              <a:buFont typeface="Tiro Bangla"/>
              <a:buNone/>
            </a:pPr>
            <a:r>
              <a:rPr b="0" i="0" lang="en-US" sz="4400" u="none" cap="none" strike="noStrike">
                <a:solidFill>
                  <a:srgbClr val="C8501A"/>
                </a:solidFill>
                <a:latin typeface="Tiro Bangla"/>
                <a:ea typeface="Tiro Bangla"/>
                <a:cs typeface="Tiro Bangla"/>
                <a:sym typeface="Tiro Bangla"/>
              </a:rPr>
              <a:t>−৫%</a:t>
            </a:r>
            <a:endParaRPr b="0" i="0" sz="4400" u="none" cap="none" strike="noStrike">
              <a:solidFill>
                <a:schemeClr val="dk1"/>
              </a:solidFill>
              <a:latin typeface="Tiro Bangla"/>
              <a:ea typeface="Tiro Bangla"/>
              <a:cs typeface="Tiro Bangla"/>
              <a:sym typeface="Tiro Bangla"/>
            </a:endParaRPr>
          </a:p>
        </p:txBody>
      </p:sp>
      <p:sp>
        <p:nvSpPr>
          <p:cNvPr id="545" name="Google Shape;545;p22"/>
          <p:cNvSpPr/>
          <p:nvPr/>
        </p:nvSpPr>
        <p:spPr>
          <a:xfrm>
            <a:off x="8509000" y="3215618"/>
            <a:ext cx="2956306" cy="421614"/>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২০২৪ → ২০২৬: ২৬৯ → ২৫৫ জন; ২০১৯ সালে ছিলেন ২২৪ জন</a:t>
            </a:r>
            <a:endParaRPr b="0" i="0" sz="1200" u="none" cap="none" strike="noStrike">
              <a:solidFill>
                <a:schemeClr val="dk1"/>
              </a:solidFill>
              <a:latin typeface="Tiro Bangla"/>
              <a:ea typeface="Tiro Bangla"/>
              <a:cs typeface="Tiro Bangla"/>
              <a:sym typeface="Tiro Bangla"/>
            </a:endParaRPr>
          </a:p>
        </p:txBody>
      </p:sp>
      <p:sp>
        <p:nvSpPr>
          <p:cNvPr id="546" name="Google Shape;546;p22"/>
          <p:cNvSpPr/>
          <p:nvPr/>
        </p:nvSpPr>
        <p:spPr>
          <a:xfrm>
            <a:off x="8509000" y="3815035"/>
            <a:ext cx="2956306" cy="27305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384D86"/>
              </a:buClr>
              <a:buSzPts val="1500"/>
              <a:buFont typeface="Tiro Bangla"/>
              <a:buNone/>
            </a:pPr>
            <a:r>
              <a:rPr b="1" i="0" lang="en-US" sz="1500" u="none" cap="none" strike="noStrike">
                <a:solidFill>
                  <a:srgbClr val="384D86"/>
                </a:solidFill>
                <a:latin typeface="Tiro Bangla"/>
                <a:ea typeface="Tiro Bangla"/>
                <a:cs typeface="Tiro Bangla"/>
                <a:sym typeface="Tiro Bangla"/>
              </a:rPr>
              <a:t>হিন্দিতে একই সময়ে −৪৪%</a:t>
            </a:r>
            <a:endParaRPr b="0" i="0" sz="1500" u="none" cap="none" strike="noStrike">
              <a:solidFill>
                <a:schemeClr val="dk1"/>
              </a:solidFill>
              <a:latin typeface="Tiro Bangla"/>
              <a:ea typeface="Tiro Bangla"/>
              <a:cs typeface="Tiro Bangla"/>
              <a:sym typeface="Tiro Bangla"/>
            </a:endParaRPr>
          </a:p>
        </p:txBody>
      </p:sp>
      <p:sp>
        <p:nvSpPr>
          <p:cNvPr id="547" name="Google Shape;547;p22"/>
          <p:cNvSpPr/>
          <p:nvPr/>
        </p:nvSpPr>
        <p:spPr>
          <a:xfrm>
            <a:off x="8509000" y="4088085"/>
            <a:ext cx="2956306" cy="22350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১৬২ → ৯২ জন</a:t>
            </a:r>
            <a:endParaRPr b="0" i="0" sz="1200" u="none" cap="none" strike="noStrike">
              <a:solidFill>
                <a:schemeClr val="dk1"/>
              </a:solidFill>
              <a:latin typeface="Tiro Bangla"/>
              <a:ea typeface="Tiro Bangla"/>
              <a:cs typeface="Tiro Bangla"/>
              <a:sym typeface="Tiro Bangla"/>
            </a:endParaRPr>
          </a:p>
        </p:txBody>
      </p:sp>
      <p:sp>
        <p:nvSpPr>
          <p:cNvPr id="548" name="Google Shape;548;p22"/>
          <p:cNvSpPr/>
          <p:nvPr/>
        </p:nvSpPr>
        <p:spPr>
          <a:xfrm>
            <a:off x="8509000" y="4489388"/>
            <a:ext cx="3444240" cy="27305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384D86"/>
              </a:buClr>
              <a:buSzPts val="1500"/>
              <a:buFont typeface="Tiro Bangla"/>
              <a:buNone/>
            </a:pPr>
            <a:r>
              <a:rPr b="1" i="0" lang="en-US" sz="1500" u="none" cap="none" strike="noStrike">
                <a:solidFill>
                  <a:srgbClr val="384D86"/>
                </a:solidFill>
                <a:latin typeface="Tiro Bangla"/>
                <a:ea typeface="Tiro Bangla"/>
                <a:cs typeface="Tiro Bangla"/>
                <a:sym typeface="Tiro Bangla"/>
              </a:rPr>
              <a:t>মাসে ১০০+ সম্পাদনা: ৪১ → ৪৪ জন</a:t>
            </a:r>
            <a:endParaRPr b="0" i="0" sz="1500" u="none" cap="none" strike="noStrike">
              <a:solidFill>
                <a:schemeClr val="dk1"/>
              </a:solidFill>
              <a:latin typeface="Tiro Bangla"/>
              <a:ea typeface="Tiro Bangla"/>
              <a:cs typeface="Tiro Bangla"/>
              <a:sym typeface="Tiro Bangla"/>
            </a:endParaRPr>
          </a:p>
        </p:txBody>
      </p:sp>
      <p:sp>
        <p:nvSpPr>
          <p:cNvPr id="549" name="Google Shape;549;p22"/>
          <p:cNvSpPr/>
          <p:nvPr/>
        </p:nvSpPr>
        <p:spPr>
          <a:xfrm>
            <a:off x="8509000" y="4762438"/>
            <a:ext cx="2956306" cy="22350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খুব সক্রিয় সম্পাদক, ২০১৯ → ২০২৬</a:t>
            </a:r>
            <a:endParaRPr b="0" i="0" sz="1200" u="none" cap="none" strike="noStrike">
              <a:solidFill>
                <a:schemeClr val="dk1"/>
              </a:solidFill>
              <a:latin typeface="Tiro Bangla"/>
              <a:ea typeface="Tiro Bangla"/>
              <a:cs typeface="Tiro Bangla"/>
              <a:sym typeface="Tiro Bangla"/>
            </a:endParaRPr>
          </a:p>
        </p:txBody>
      </p:sp>
      <p:sp>
        <p:nvSpPr>
          <p:cNvPr id="550" name="Google Shape;550;p22"/>
          <p:cNvSpPr/>
          <p:nvPr/>
        </p:nvSpPr>
        <p:spPr>
          <a:xfrm>
            <a:off x="812800" y="6236965"/>
            <a:ext cx="6694567"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নিবন্ধিত মানুষ, কনটেন্ট পাতা · জানুয়ারি–সেপ্টেম্বর গড় · উৎস: উইকিমিডিয়া অ্যানালিটিক্স API</a:t>
            </a:r>
            <a:endParaRPr b="0" i="0" sz="1200" u="none" cap="none" strike="noStrike">
              <a:solidFill>
                <a:schemeClr val="dk1"/>
              </a:solidFill>
              <a:latin typeface="Tiro Bangla"/>
              <a:ea typeface="Tiro Bangla"/>
              <a:cs typeface="Tiro Bangla"/>
              <a:sym typeface="Tiro Bangla"/>
            </a:endParaRPr>
          </a:p>
        </p:txBody>
      </p:sp>
      <p:sp>
        <p:nvSpPr>
          <p:cNvPr id="551" name="Google Shape;551;p22"/>
          <p:cNvSpPr/>
          <p:nvPr/>
        </p:nvSpPr>
        <p:spPr>
          <a:xfrm>
            <a:off x="10882313" y="6236965"/>
            <a:ext cx="547688"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১২ / ১৯</a:t>
            </a:r>
            <a:endParaRPr b="0" i="0" sz="1200" u="none" cap="none" strike="noStrike">
              <a:solidFill>
                <a:schemeClr val="dk1"/>
              </a:solidFill>
              <a:latin typeface="Tiro Bangla"/>
              <a:ea typeface="Tiro Bangla"/>
              <a:cs typeface="Tiro Bangla"/>
              <a:sym typeface="Tiro Bangla"/>
            </a:endParaRPr>
          </a:p>
        </p:txBody>
      </p:sp>
      <p:pic>
        <p:nvPicPr>
          <p:cNvPr descr="বাংলা উইকিসম্মেলন ২০২৬ লোগো" id="552" name="Google Shape;552;p22"/>
          <p:cNvPicPr preferRelativeResize="0"/>
          <p:nvPr/>
        </p:nvPicPr>
        <p:blipFill rotWithShape="1">
          <a:blip r:embed="rId4">
            <a:alphaModFix/>
          </a:blip>
          <a:srcRect b="0" l="0" r="0" t="0"/>
          <a:stretch/>
        </p:blipFill>
        <p:spPr>
          <a:xfrm>
            <a:off x="10314432" y="365760"/>
            <a:ext cx="1115568" cy="666862"/>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8DA"/>
        </a:solidFill>
      </p:bgPr>
    </p:bg>
    <p:spTree>
      <p:nvGrpSpPr>
        <p:cNvPr id="557" name="Shape 557"/>
        <p:cNvGrpSpPr/>
        <p:nvPr/>
      </p:nvGrpSpPr>
      <p:grpSpPr>
        <a:xfrm>
          <a:off x="0" y="0"/>
          <a:ext cx="0" cy="0"/>
          <a:chOff x="0" y="0"/>
          <a:chExt cx="0" cy="0"/>
        </a:xfrm>
      </p:grpSpPr>
      <p:sp>
        <p:nvSpPr>
          <p:cNvPr id="558" name="Google Shape;558;p23"/>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8501A"/>
              </a:buClr>
              <a:buSzPts val="1200"/>
              <a:buFont typeface="Tiro Bangla"/>
              <a:buNone/>
            </a:pPr>
            <a:r>
              <a:rPr b="1" i="0" lang="en-US" sz="1200" u="none" cap="none" strike="noStrike">
                <a:solidFill>
                  <a:srgbClr val="C8501A"/>
                </a:solidFill>
                <a:latin typeface="Tiro Bangla"/>
                <a:ea typeface="Tiro Bangla"/>
                <a:cs typeface="Tiro Bangla"/>
                <a:sym typeface="Tiro Bangla"/>
              </a:rPr>
              <a:t>মানুষ · ৩</a:t>
            </a:r>
            <a:endParaRPr b="0" i="0" sz="1200" u="none" cap="none" strike="noStrike">
              <a:solidFill>
                <a:schemeClr val="dk1"/>
              </a:solidFill>
              <a:latin typeface="Tiro Bangla"/>
              <a:ea typeface="Tiro Bangla"/>
              <a:cs typeface="Tiro Bangla"/>
              <a:sym typeface="Tiro Bangla"/>
            </a:endParaRPr>
          </a:p>
        </p:txBody>
      </p:sp>
      <p:sp>
        <p:nvSpPr>
          <p:cNvPr id="559" name="Google Shape;559;p23"/>
          <p:cNvSpPr/>
          <p:nvPr/>
        </p:nvSpPr>
        <p:spPr>
          <a:xfrm>
            <a:off x="812800" y="1127720"/>
            <a:ext cx="9810750" cy="49272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84D86"/>
              </a:buClr>
              <a:buSzPts val="3200"/>
              <a:buFont typeface="Tiro Bangla"/>
              <a:buNone/>
            </a:pPr>
            <a:r>
              <a:rPr lang="en-US" sz="3200">
                <a:solidFill>
                  <a:srgbClr val="384D86"/>
                </a:solidFill>
                <a:latin typeface="Tiro Bangla"/>
                <a:ea typeface="Tiro Bangla"/>
                <a:cs typeface="Tiro Bangla"/>
                <a:sym typeface="Tiro Bangla"/>
              </a:rPr>
              <a:t>“a smaller club working harder”</a:t>
            </a:r>
            <a:endParaRPr b="0" i="0" sz="3200" u="none" cap="none" strike="noStrike">
              <a:solidFill>
                <a:schemeClr val="dk1"/>
              </a:solidFill>
              <a:latin typeface="Tiro Bangla"/>
              <a:ea typeface="Tiro Bangla"/>
              <a:cs typeface="Tiro Bangla"/>
              <a:sym typeface="Tiro Bangla"/>
            </a:endParaRPr>
          </a:p>
        </p:txBody>
      </p:sp>
      <p:sp>
        <p:nvSpPr>
          <p:cNvPr id="560" name="Google Shape;560;p23"/>
          <p:cNvSpPr/>
          <p:nvPr/>
        </p:nvSpPr>
        <p:spPr>
          <a:xfrm>
            <a:off x="1016000" y="2425700"/>
            <a:ext cx="7194550" cy="22350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F6A8A"/>
              </a:buClr>
              <a:buSzPts val="1200"/>
              <a:buFont typeface="Tiro Bangla"/>
              <a:buNone/>
            </a:pPr>
            <a:r>
              <a:rPr b="1" i="0" lang="en-US" sz="1200" u="none" cap="none" strike="noStrike">
                <a:solidFill>
                  <a:srgbClr val="5F6A8A"/>
                </a:solidFill>
                <a:latin typeface="Tiro Bangla"/>
                <a:ea typeface="Tiro Bangla"/>
                <a:cs typeface="Tiro Bangla"/>
                <a:sym typeface="Tiro Bangla"/>
              </a:rPr>
              <a:t>মাসে নতুন অ্যাকাউন্ট, মাসিক গড়</a:t>
            </a:r>
            <a:endParaRPr b="0" i="0" sz="1200" u="none" cap="none" strike="noStrike">
              <a:solidFill>
                <a:schemeClr val="dk1"/>
              </a:solidFill>
              <a:latin typeface="Tiro Bangla"/>
              <a:ea typeface="Tiro Bangla"/>
              <a:cs typeface="Tiro Bangla"/>
              <a:sym typeface="Tiro Bangla"/>
            </a:endParaRPr>
          </a:p>
        </p:txBody>
      </p:sp>
      <p:pic>
        <p:nvPicPr>
          <p:cNvPr descr="বাংলা উইকিপিডিয়ায় মাসে নতুন অ্যাকাউন্ট, ২০১৬–২০২৬" id="561" name="Google Shape;561;p23"/>
          <p:cNvPicPr preferRelativeResize="0"/>
          <p:nvPr/>
        </p:nvPicPr>
        <p:blipFill rotWithShape="1">
          <a:blip r:embed="rId3">
            <a:alphaModFix/>
          </a:blip>
          <a:srcRect b="0" l="-2" r="-2" t="0"/>
          <a:stretch/>
        </p:blipFill>
        <p:spPr>
          <a:xfrm>
            <a:off x="1016000" y="2667000"/>
            <a:ext cx="6985000" cy="2667000"/>
          </a:xfrm>
          <a:prstGeom prst="rect">
            <a:avLst/>
          </a:prstGeom>
          <a:noFill/>
          <a:ln>
            <a:noFill/>
          </a:ln>
        </p:spPr>
      </p:pic>
      <p:sp>
        <p:nvSpPr>
          <p:cNvPr id="562" name="Google Shape;562;p23"/>
          <p:cNvSpPr/>
          <p:nvPr/>
        </p:nvSpPr>
        <p:spPr>
          <a:xfrm>
            <a:off x="933450" y="54102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২০১৬</a:t>
            </a:r>
            <a:endParaRPr b="0" i="0" sz="1200" u="none" cap="none" strike="noStrike">
              <a:solidFill>
                <a:schemeClr val="dk1"/>
              </a:solidFill>
              <a:latin typeface="Tiro Bangla"/>
              <a:ea typeface="Tiro Bangla"/>
              <a:cs typeface="Tiro Bangla"/>
              <a:sym typeface="Tiro Bangla"/>
            </a:endParaRPr>
          </a:p>
        </p:txBody>
      </p:sp>
      <p:sp>
        <p:nvSpPr>
          <p:cNvPr id="563" name="Google Shape;563;p23"/>
          <p:cNvSpPr/>
          <p:nvPr/>
        </p:nvSpPr>
        <p:spPr>
          <a:xfrm>
            <a:off x="869950" y="3892550"/>
            <a:ext cx="812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১,০৭১</a:t>
            </a:r>
            <a:endParaRPr b="0" i="0" sz="1200" u="none" cap="none" strike="noStrike">
              <a:solidFill>
                <a:schemeClr val="dk1"/>
              </a:solidFill>
              <a:latin typeface="Tiro Bangla"/>
              <a:ea typeface="Tiro Bangla"/>
              <a:cs typeface="Tiro Bangla"/>
              <a:sym typeface="Tiro Bangla"/>
            </a:endParaRPr>
          </a:p>
        </p:txBody>
      </p:sp>
      <p:sp>
        <p:nvSpPr>
          <p:cNvPr id="564" name="Google Shape;564;p23"/>
          <p:cNvSpPr/>
          <p:nvPr/>
        </p:nvSpPr>
        <p:spPr>
          <a:xfrm>
            <a:off x="1581150" y="54102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২০১৭</a:t>
            </a:r>
            <a:endParaRPr b="0" i="0" sz="1200" u="none" cap="none" strike="noStrike">
              <a:solidFill>
                <a:schemeClr val="dk1"/>
              </a:solidFill>
              <a:latin typeface="Tiro Bangla"/>
              <a:ea typeface="Tiro Bangla"/>
              <a:cs typeface="Tiro Bangla"/>
              <a:sym typeface="Tiro Bangla"/>
            </a:endParaRPr>
          </a:p>
        </p:txBody>
      </p:sp>
      <p:sp>
        <p:nvSpPr>
          <p:cNvPr id="565" name="Google Shape;565;p23"/>
          <p:cNvSpPr/>
          <p:nvPr/>
        </p:nvSpPr>
        <p:spPr>
          <a:xfrm>
            <a:off x="1517650" y="3556000"/>
            <a:ext cx="812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১,৩৭৩</a:t>
            </a:r>
            <a:endParaRPr b="0" i="0" sz="1200" u="none" cap="none" strike="noStrike">
              <a:solidFill>
                <a:schemeClr val="dk1"/>
              </a:solidFill>
              <a:latin typeface="Tiro Bangla"/>
              <a:ea typeface="Tiro Bangla"/>
              <a:cs typeface="Tiro Bangla"/>
              <a:sym typeface="Tiro Bangla"/>
            </a:endParaRPr>
          </a:p>
        </p:txBody>
      </p:sp>
      <p:sp>
        <p:nvSpPr>
          <p:cNvPr id="566" name="Google Shape;566;p23"/>
          <p:cNvSpPr/>
          <p:nvPr/>
        </p:nvSpPr>
        <p:spPr>
          <a:xfrm>
            <a:off x="2228850" y="54102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২০১৮</a:t>
            </a:r>
            <a:endParaRPr b="0" i="0" sz="1200" u="none" cap="none" strike="noStrike">
              <a:solidFill>
                <a:schemeClr val="dk1"/>
              </a:solidFill>
              <a:latin typeface="Tiro Bangla"/>
              <a:ea typeface="Tiro Bangla"/>
              <a:cs typeface="Tiro Bangla"/>
              <a:sym typeface="Tiro Bangla"/>
            </a:endParaRPr>
          </a:p>
        </p:txBody>
      </p:sp>
      <p:sp>
        <p:nvSpPr>
          <p:cNvPr id="567" name="Google Shape;567;p23"/>
          <p:cNvSpPr/>
          <p:nvPr/>
        </p:nvSpPr>
        <p:spPr>
          <a:xfrm>
            <a:off x="2165350" y="3143250"/>
            <a:ext cx="812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১,৭৪২</a:t>
            </a:r>
            <a:endParaRPr b="0" i="0" sz="1200" u="none" cap="none" strike="noStrike">
              <a:solidFill>
                <a:schemeClr val="dk1"/>
              </a:solidFill>
              <a:latin typeface="Tiro Bangla"/>
              <a:ea typeface="Tiro Bangla"/>
              <a:cs typeface="Tiro Bangla"/>
              <a:sym typeface="Tiro Bangla"/>
            </a:endParaRPr>
          </a:p>
        </p:txBody>
      </p:sp>
      <p:sp>
        <p:nvSpPr>
          <p:cNvPr id="568" name="Google Shape;568;p23"/>
          <p:cNvSpPr/>
          <p:nvPr/>
        </p:nvSpPr>
        <p:spPr>
          <a:xfrm>
            <a:off x="2870200" y="54102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২০১৯</a:t>
            </a:r>
            <a:endParaRPr b="0" i="0" sz="1200" u="none" cap="none" strike="noStrike">
              <a:solidFill>
                <a:schemeClr val="dk1"/>
              </a:solidFill>
              <a:latin typeface="Tiro Bangla"/>
              <a:ea typeface="Tiro Bangla"/>
              <a:cs typeface="Tiro Bangla"/>
              <a:sym typeface="Tiro Bangla"/>
            </a:endParaRPr>
          </a:p>
        </p:txBody>
      </p:sp>
      <p:sp>
        <p:nvSpPr>
          <p:cNvPr id="569" name="Google Shape;569;p23"/>
          <p:cNvSpPr/>
          <p:nvPr/>
        </p:nvSpPr>
        <p:spPr>
          <a:xfrm>
            <a:off x="2806700" y="2889250"/>
            <a:ext cx="812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384D86"/>
              </a:buClr>
              <a:buSzPts val="1200"/>
              <a:buFont typeface="Tiro Bangla"/>
              <a:buNone/>
            </a:pPr>
            <a:r>
              <a:rPr b="1" i="0" lang="en-US" sz="1200" u="none" cap="none" strike="noStrike">
                <a:solidFill>
                  <a:srgbClr val="384D86"/>
                </a:solidFill>
                <a:latin typeface="Tiro Bangla"/>
                <a:ea typeface="Tiro Bangla"/>
                <a:cs typeface="Tiro Bangla"/>
                <a:sym typeface="Tiro Bangla"/>
              </a:rPr>
              <a:t>১,৯৭৪</a:t>
            </a:r>
            <a:endParaRPr b="0" i="0" sz="1200" u="none" cap="none" strike="noStrike">
              <a:solidFill>
                <a:schemeClr val="dk1"/>
              </a:solidFill>
              <a:latin typeface="Tiro Bangla"/>
              <a:ea typeface="Tiro Bangla"/>
              <a:cs typeface="Tiro Bangla"/>
              <a:sym typeface="Tiro Bangla"/>
            </a:endParaRPr>
          </a:p>
        </p:txBody>
      </p:sp>
      <p:sp>
        <p:nvSpPr>
          <p:cNvPr id="570" name="Google Shape;570;p23"/>
          <p:cNvSpPr/>
          <p:nvPr/>
        </p:nvSpPr>
        <p:spPr>
          <a:xfrm>
            <a:off x="3517900" y="54102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২০২০</a:t>
            </a:r>
            <a:endParaRPr b="0" i="0" sz="1200" u="none" cap="none" strike="noStrike">
              <a:solidFill>
                <a:schemeClr val="dk1"/>
              </a:solidFill>
              <a:latin typeface="Tiro Bangla"/>
              <a:ea typeface="Tiro Bangla"/>
              <a:cs typeface="Tiro Bangla"/>
              <a:sym typeface="Tiro Bangla"/>
            </a:endParaRPr>
          </a:p>
        </p:txBody>
      </p:sp>
      <p:sp>
        <p:nvSpPr>
          <p:cNvPr id="571" name="Google Shape;571;p23"/>
          <p:cNvSpPr/>
          <p:nvPr/>
        </p:nvSpPr>
        <p:spPr>
          <a:xfrm>
            <a:off x="3454400" y="2781300"/>
            <a:ext cx="812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২,০৭০</a:t>
            </a:r>
            <a:endParaRPr b="0" i="0" sz="1200" u="none" cap="none" strike="noStrike">
              <a:solidFill>
                <a:schemeClr val="dk1"/>
              </a:solidFill>
              <a:latin typeface="Tiro Bangla"/>
              <a:ea typeface="Tiro Bangla"/>
              <a:cs typeface="Tiro Bangla"/>
              <a:sym typeface="Tiro Bangla"/>
            </a:endParaRPr>
          </a:p>
        </p:txBody>
      </p:sp>
      <p:sp>
        <p:nvSpPr>
          <p:cNvPr id="572" name="Google Shape;572;p23"/>
          <p:cNvSpPr/>
          <p:nvPr/>
        </p:nvSpPr>
        <p:spPr>
          <a:xfrm>
            <a:off x="4165600" y="54102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২০২১</a:t>
            </a:r>
            <a:endParaRPr b="0" i="0" sz="1200" u="none" cap="none" strike="noStrike">
              <a:solidFill>
                <a:schemeClr val="dk1"/>
              </a:solidFill>
              <a:latin typeface="Tiro Bangla"/>
              <a:ea typeface="Tiro Bangla"/>
              <a:cs typeface="Tiro Bangla"/>
              <a:sym typeface="Tiro Bangla"/>
            </a:endParaRPr>
          </a:p>
        </p:txBody>
      </p:sp>
      <p:sp>
        <p:nvSpPr>
          <p:cNvPr id="573" name="Google Shape;573;p23"/>
          <p:cNvSpPr/>
          <p:nvPr/>
        </p:nvSpPr>
        <p:spPr>
          <a:xfrm>
            <a:off x="4102100" y="3155950"/>
            <a:ext cx="812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১,৭৩৪</a:t>
            </a:r>
            <a:endParaRPr b="0" i="0" sz="1200" u="none" cap="none" strike="noStrike">
              <a:solidFill>
                <a:schemeClr val="dk1"/>
              </a:solidFill>
              <a:latin typeface="Tiro Bangla"/>
              <a:ea typeface="Tiro Bangla"/>
              <a:cs typeface="Tiro Bangla"/>
              <a:sym typeface="Tiro Bangla"/>
            </a:endParaRPr>
          </a:p>
        </p:txBody>
      </p:sp>
      <p:sp>
        <p:nvSpPr>
          <p:cNvPr id="574" name="Google Shape;574;p23"/>
          <p:cNvSpPr/>
          <p:nvPr/>
        </p:nvSpPr>
        <p:spPr>
          <a:xfrm>
            <a:off x="4813300" y="54102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২০২২</a:t>
            </a:r>
            <a:endParaRPr b="0" i="0" sz="1200" u="none" cap="none" strike="noStrike">
              <a:solidFill>
                <a:schemeClr val="dk1"/>
              </a:solidFill>
              <a:latin typeface="Tiro Bangla"/>
              <a:ea typeface="Tiro Bangla"/>
              <a:cs typeface="Tiro Bangla"/>
              <a:sym typeface="Tiro Bangla"/>
            </a:endParaRPr>
          </a:p>
        </p:txBody>
      </p:sp>
      <p:sp>
        <p:nvSpPr>
          <p:cNvPr id="575" name="Google Shape;575;p23"/>
          <p:cNvSpPr/>
          <p:nvPr/>
        </p:nvSpPr>
        <p:spPr>
          <a:xfrm>
            <a:off x="4749800" y="3035300"/>
            <a:ext cx="812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১,৮৪১</a:t>
            </a:r>
            <a:endParaRPr b="0" i="0" sz="1200" u="none" cap="none" strike="noStrike">
              <a:solidFill>
                <a:schemeClr val="dk1"/>
              </a:solidFill>
              <a:latin typeface="Tiro Bangla"/>
              <a:ea typeface="Tiro Bangla"/>
              <a:cs typeface="Tiro Bangla"/>
              <a:sym typeface="Tiro Bangla"/>
            </a:endParaRPr>
          </a:p>
        </p:txBody>
      </p:sp>
      <p:sp>
        <p:nvSpPr>
          <p:cNvPr id="576" name="Google Shape;576;p23"/>
          <p:cNvSpPr/>
          <p:nvPr/>
        </p:nvSpPr>
        <p:spPr>
          <a:xfrm>
            <a:off x="5461000" y="54102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২০২৩</a:t>
            </a:r>
            <a:endParaRPr b="0" i="0" sz="1200" u="none" cap="none" strike="noStrike">
              <a:solidFill>
                <a:schemeClr val="dk1"/>
              </a:solidFill>
              <a:latin typeface="Tiro Bangla"/>
              <a:ea typeface="Tiro Bangla"/>
              <a:cs typeface="Tiro Bangla"/>
              <a:sym typeface="Tiro Bangla"/>
            </a:endParaRPr>
          </a:p>
        </p:txBody>
      </p:sp>
      <p:sp>
        <p:nvSpPr>
          <p:cNvPr id="577" name="Google Shape;577;p23"/>
          <p:cNvSpPr/>
          <p:nvPr/>
        </p:nvSpPr>
        <p:spPr>
          <a:xfrm>
            <a:off x="5397500" y="3289300"/>
            <a:ext cx="812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১,৬১৩</a:t>
            </a:r>
            <a:endParaRPr b="0" i="0" sz="1200" u="none" cap="none" strike="noStrike">
              <a:solidFill>
                <a:schemeClr val="dk1"/>
              </a:solidFill>
              <a:latin typeface="Tiro Bangla"/>
              <a:ea typeface="Tiro Bangla"/>
              <a:cs typeface="Tiro Bangla"/>
              <a:sym typeface="Tiro Bangla"/>
            </a:endParaRPr>
          </a:p>
        </p:txBody>
      </p:sp>
      <p:sp>
        <p:nvSpPr>
          <p:cNvPr id="578" name="Google Shape;578;p23"/>
          <p:cNvSpPr/>
          <p:nvPr/>
        </p:nvSpPr>
        <p:spPr>
          <a:xfrm>
            <a:off x="6102350" y="54102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২০২৪</a:t>
            </a:r>
            <a:endParaRPr b="0" i="0" sz="1200" u="none" cap="none" strike="noStrike">
              <a:solidFill>
                <a:schemeClr val="dk1"/>
              </a:solidFill>
              <a:latin typeface="Tiro Bangla"/>
              <a:ea typeface="Tiro Bangla"/>
              <a:cs typeface="Tiro Bangla"/>
              <a:sym typeface="Tiro Bangla"/>
            </a:endParaRPr>
          </a:p>
        </p:txBody>
      </p:sp>
      <p:sp>
        <p:nvSpPr>
          <p:cNvPr id="579" name="Google Shape;579;p23"/>
          <p:cNvSpPr/>
          <p:nvPr/>
        </p:nvSpPr>
        <p:spPr>
          <a:xfrm>
            <a:off x="6038850" y="3733800"/>
            <a:ext cx="812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১,২১৪</a:t>
            </a:r>
            <a:endParaRPr b="0" i="0" sz="1200" u="none" cap="none" strike="noStrike">
              <a:solidFill>
                <a:schemeClr val="dk1"/>
              </a:solidFill>
              <a:latin typeface="Tiro Bangla"/>
              <a:ea typeface="Tiro Bangla"/>
              <a:cs typeface="Tiro Bangla"/>
              <a:sym typeface="Tiro Bangla"/>
            </a:endParaRPr>
          </a:p>
        </p:txBody>
      </p:sp>
      <p:sp>
        <p:nvSpPr>
          <p:cNvPr id="580" name="Google Shape;580;p23"/>
          <p:cNvSpPr/>
          <p:nvPr/>
        </p:nvSpPr>
        <p:spPr>
          <a:xfrm>
            <a:off x="6750050" y="54102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২০২৫</a:t>
            </a:r>
            <a:endParaRPr b="0" i="0" sz="1200" u="none" cap="none" strike="noStrike">
              <a:solidFill>
                <a:schemeClr val="dk1"/>
              </a:solidFill>
              <a:latin typeface="Tiro Bangla"/>
              <a:ea typeface="Tiro Bangla"/>
              <a:cs typeface="Tiro Bangla"/>
              <a:sym typeface="Tiro Bangla"/>
            </a:endParaRPr>
          </a:p>
        </p:txBody>
      </p:sp>
      <p:sp>
        <p:nvSpPr>
          <p:cNvPr id="581" name="Google Shape;581;p23"/>
          <p:cNvSpPr/>
          <p:nvPr/>
        </p:nvSpPr>
        <p:spPr>
          <a:xfrm>
            <a:off x="6686550" y="3937000"/>
            <a:ext cx="812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১,০২৭</a:t>
            </a:r>
            <a:endParaRPr b="0" i="0" sz="1200" u="none" cap="none" strike="noStrike">
              <a:solidFill>
                <a:schemeClr val="dk1"/>
              </a:solidFill>
              <a:latin typeface="Tiro Bangla"/>
              <a:ea typeface="Tiro Bangla"/>
              <a:cs typeface="Tiro Bangla"/>
              <a:sym typeface="Tiro Bangla"/>
            </a:endParaRPr>
          </a:p>
        </p:txBody>
      </p:sp>
      <p:sp>
        <p:nvSpPr>
          <p:cNvPr id="582" name="Google Shape;582;p23"/>
          <p:cNvSpPr/>
          <p:nvPr/>
        </p:nvSpPr>
        <p:spPr>
          <a:xfrm>
            <a:off x="7397750" y="54102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২০২৬</a:t>
            </a:r>
            <a:endParaRPr b="0" i="0" sz="1200" u="none" cap="none" strike="noStrike">
              <a:solidFill>
                <a:schemeClr val="dk1"/>
              </a:solidFill>
              <a:latin typeface="Tiro Bangla"/>
              <a:ea typeface="Tiro Bangla"/>
              <a:cs typeface="Tiro Bangla"/>
              <a:sym typeface="Tiro Bangla"/>
            </a:endParaRPr>
          </a:p>
        </p:txBody>
      </p:sp>
      <p:sp>
        <p:nvSpPr>
          <p:cNvPr id="583" name="Google Shape;583;p23"/>
          <p:cNvSpPr/>
          <p:nvPr/>
        </p:nvSpPr>
        <p:spPr>
          <a:xfrm>
            <a:off x="7334250" y="3854450"/>
            <a:ext cx="812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384D86"/>
              </a:buClr>
              <a:buSzPts val="1200"/>
              <a:buFont typeface="Tiro Bangla"/>
              <a:buNone/>
            </a:pPr>
            <a:r>
              <a:rPr b="1" i="0" lang="en-US" sz="1200" u="none" cap="none" strike="noStrike">
                <a:solidFill>
                  <a:srgbClr val="384D86"/>
                </a:solidFill>
                <a:latin typeface="Tiro Bangla"/>
                <a:ea typeface="Tiro Bangla"/>
                <a:cs typeface="Tiro Bangla"/>
                <a:sym typeface="Tiro Bangla"/>
              </a:rPr>
              <a:t>১,১০৩</a:t>
            </a:r>
            <a:endParaRPr b="0" i="0" sz="1200" u="none" cap="none" strike="noStrike">
              <a:solidFill>
                <a:schemeClr val="dk1"/>
              </a:solidFill>
              <a:latin typeface="Tiro Bangla"/>
              <a:ea typeface="Tiro Bangla"/>
              <a:cs typeface="Tiro Bangla"/>
              <a:sym typeface="Tiro Bangla"/>
            </a:endParaRPr>
          </a:p>
        </p:txBody>
      </p:sp>
      <p:sp>
        <p:nvSpPr>
          <p:cNvPr id="584" name="Google Shape;584;p23"/>
          <p:cNvSpPr/>
          <p:nvPr/>
        </p:nvSpPr>
        <p:spPr>
          <a:xfrm>
            <a:off x="8509000" y="2603500"/>
            <a:ext cx="2956306" cy="612114"/>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C8501A"/>
              </a:buClr>
              <a:buSzPts val="4400"/>
              <a:buFont typeface="Tiro Bangla"/>
              <a:buNone/>
            </a:pPr>
            <a:r>
              <a:rPr b="0" i="0" lang="en-US" sz="4400" u="none" cap="none" strike="noStrike">
                <a:solidFill>
                  <a:srgbClr val="C8501A"/>
                </a:solidFill>
                <a:latin typeface="Tiro Bangla"/>
                <a:ea typeface="Tiro Bangla"/>
                <a:cs typeface="Tiro Bangla"/>
                <a:sym typeface="Tiro Bangla"/>
              </a:rPr>
              <a:t>−৪৪%</a:t>
            </a:r>
            <a:endParaRPr b="0" i="0" sz="4400" u="none" cap="none" strike="noStrike">
              <a:solidFill>
                <a:schemeClr val="dk1"/>
              </a:solidFill>
              <a:latin typeface="Tiro Bangla"/>
              <a:ea typeface="Tiro Bangla"/>
              <a:cs typeface="Tiro Bangla"/>
              <a:sym typeface="Tiro Bangla"/>
            </a:endParaRPr>
          </a:p>
        </p:txBody>
      </p:sp>
      <p:sp>
        <p:nvSpPr>
          <p:cNvPr id="585" name="Google Shape;585;p23"/>
          <p:cNvSpPr/>
          <p:nvPr/>
        </p:nvSpPr>
        <p:spPr>
          <a:xfrm>
            <a:off x="8509000" y="3215618"/>
            <a:ext cx="2956306" cy="22350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মাসে নতুন অ্যাকাউন্ট, ২০১৯ → ২০২৬</a:t>
            </a:r>
            <a:endParaRPr b="0" i="0" sz="1200" u="none" cap="none" strike="noStrike">
              <a:solidFill>
                <a:schemeClr val="dk1"/>
              </a:solidFill>
              <a:latin typeface="Tiro Bangla"/>
              <a:ea typeface="Tiro Bangla"/>
              <a:cs typeface="Tiro Bangla"/>
              <a:sym typeface="Tiro Bangla"/>
            </a:endParaRPr>
          </a:p>
        </p:txBody>
      </p:sp>
      <p:sp>
        <p:nvSpPr>
          <p:cNvPr id="586" name="Google Shape;586;p23"/>
          <p:cNvSpPr/>
          <p:nvPr/>
        </p:nvSpPr>
        <p:spPr>
          <a:xfrm>
            <a:off x="8509000" y="3591520"/>
            <a:ext cx="2956306" cy="27305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384D86"/>
              </a:buClr>
              <a:buSzPts val="1500"/>
              <a:buFont typeface="Tiro Bangla"/>
              <a:buNone/>
            </a:pPr>
            <a:r>
              <a:rPr b="1" i="0" lang="en-US" sz="1500" u="none" cap="none" strike="noStrike">
                <a:solidFill>
                  <a:srgbClr val="384D86"/>
                </a:solidFill>
                <a:latin typeface="Tiro Bangla"/>
                <a:ea typeface="Tiro Bangla"/>
                <a:cs typeface="Tiro Bangla"/>
                <a:sym typeface="Tiro Bangla"/>
              </a:rPr>
              <a:t>সম্পাদনা: ১০ → ২৪</a:t>
            </a:r>
            <a:endParaRPr b="0" i="0" sz="1500" u="none" cap="none" strike="noStrike">
              <a:solidFill>
                <a:schemeClr val="dk1"/>
              </a:solidFill>
              <a:latin typeface="Tiro Bangla"/>
              <a:ea typeface="Tiro Bangla"/>
              <a:cs typeface="Tiro Bangla"/>
              <a:sym typeface="Tiro Bangla"/>
            </a:endParaRPr>
          </a:p>
        </p:txBody>
      </p:sp>
      <p:sp>
        <p:nvSpPr>
          <p:cNvPr id="587" name="Google Shape;587;p23"/>
          <p:cNvSpPr/>
          <p:nvPr/>
        </p:nvSpPr>
        <p:spPr>
          <a:xfrm>
            <a:off x="8509000" y="3864570"/>
            <a:ext cx="2956306" cy="421614"/>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প্রতিটি নতুন অ্যাকাউন্টের বিপরীতে সম্পাদনা; অল্প কয়েকজনের ওপর চাপ বাড়ছে</a:t>
            </a:r>
            <a:endParaRPr b="0" i="0" sz="1200" u="none" cap="none" strike="noStrike">
              <a:solidFill>
                <a:schemeClr val="dk1"/>
              </a:solidFill>
              <a:latin typeface="Tiro Bangla"/>
              <a:ea typeface="Tiro Bangla"/>
              <a:cs typeface="Tiro Bangla"/>
              <a:sym typeface="Tiro Bangla"/>
            </a:endParaRPr>
          </a:p>
        </p:txBody>
      </p:sp>
      <p:sp>
        <p:nvSpPr>
          <p:cNvPr id="588" name="Google Shape;588;p23"/>
          <p:cNvSpPr/>
          <p:nvPr/>
        </p:nvSpPr>
        <p:spPr>
          <a:xfrm>
            <a:off x="8509000" y="4438588"/>
            <a:ext cx="2870200" cy="974064"/>
          </a:xfrm>
          <a:prstGeom prst="roundRect">
            <a:avLst>
              <a:gd fmla="val 7823" name="adj"/>
            </a:avLst>
          </a:prstGeom>
          <a:solidFill>
            <a:srgbClr val="FBEE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9" name="Google Shape;589;p23"/>
          <p:cNvSpPr/>
          <p:nvPr/>
        </p:nvSpPr>
        <p:spPr>
          <a:xfrm>
            <a:off x="8661400" y="4590988"/>
            <a:ext cx="2642362" cy="27305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384D86"/>
              </a:buClr>
              <a:buSzPts val="1500"/>
              <a:buFont typeface="Tiro Bangla"/>
              <a:buNone/>
            </a:pPr>
            <a:r>
              <a:rPr b="1" i="0" lang="en-US" sz="1500" u="none" cap="none" strike="noStrike">
                <a:solidFill>
                  <a:srgbClr val="384D86"/>
                </a:solidFill>
                <a:latin typeface="Tiro Bangla"/>
                <a:ea typeface="Tiro Bangla"/>
                <a:cs typeface="Tiro Bangla"/>
                <a:sym typeface="Tiro Bangla"/>
              </a:rPr>
              <a:t>Growth মেন্টর: ২৩ জন</a:t>
            </a:r>
            <a:endParaRPr b="0" i="0" sz="1500" u="none" cap="none" strike="noStrike">
              <a:solidFill>
                <a:schemeClr val="dk1"/>
              </a:solidFill>
              <a:latin typeface="Tiro Bangla"/>
              <a:ea typeface="Tiro Bangla"/>
              <a:cs typeface="Tiro Bangla"/>
              <a:sym typeface="Tiro Bangla"/>
            </a:endParaRPr>
          </a:p>
        </p:txBody>
      </p:sp>
      <p:sp>
        <p:nvSpPr>
          <p:cNvPr id="590" name="Google Shape;590;p23"/>
          <p:cNvSpPr/>
          <p:nvPr/>
        </p:nvSpPr>
        <p:spPr>
          <a:xfrm>
            <a:off x="8661400" y="4864038"/>
            <a:ext cx="2642362" cy="421614"/>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প্রতি মেন্টরের ভাগে মাসে</a:t>
            </a:r>
            <a:endParaRPr b="0" i="0" sz="1200" u="none" cap="none" strike="noStrike">
              <a:solidFill>
                <a:schemeClr val="dk1"/>
              </a:solidFill>
              <a:latin typeface="Tiro Bangla"/>
              <a:ea typeface="Tiro Bangla"/>
              <a:cs typeface="Tiro Bangla"/>
              <a:sym typeface="Tiro Bangla"/>
            </a:endParaRPr>
          </a:p>
          <a:p>
            <a:pPr indent="0" lvl="0" marL="0" marR="0" rtl="0" algn="l">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প্রায় ৪৮ জন নতুন</a:t>
            </a:r>
            <a:endParaRPr b="0" i="0" sz="1200" u="none" cap="none" strike="noStrike">
              <a:solidFill>
                <a:schemeClr val="dk1"/>
              </a:solidFill>
              <a:latin typeface="Tiro Bangla"/>
              <a:ea typeface="Tiro Bangla"/>
              <a:cs typeface="Tiro Bangla"/>
              <a:sym typeface="Tiro Bangla"/>
            </a:endParaRPr>
          </a:p>
        </p:txBody>
      </p:sp>
      <p:sp>
        <p:nvSpPr>
          <p:cNvPr id="591" name="Google Shape;591;p23"/>
          <p:cNvSpPr/>
          <p:nvPr/>
        </p:nvSpPr>
        <p:spPr>
          <a:xfrm>
            <a:off x="812800" y="6236965"/>
            <a:ext cx="761444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জানুয়ারি–সেপ্টেম্বর গড় · মেন্টর: GrowthMentors তালিকা, ২৬ অক্টোবর ২০২৬ · উৎস: উইকিমিডিয়া API</a:t>
            </a:r>
            <a:endParaRPr b="0" i="0" sz="1200" u="none" cap="none" strike="noStrike">
              <a:solidFill>
                <a:schemeClr val="dk1"/>
              </a:solidFill>
              <a:latin typeface="Tiro Bangla"/>
              <a:ea typeface="Tiro Bangla"/>
              <a:cs typeface="Tiro Bangla"/>
              <a:sym typeface="Tiro Bangla"/>
            </a:endParaRPr>
          </a:p>
        </p:txBody>
      </p:sp>
      <p:sp>
        <p:nvSpPr>
          <p:cNvPr id="592" name="Google Shape;592;p23"/>
          <p:cNvSpPr/>
          <p:nvPr/>
        </p:nvSpPr>
        <p:spPr>
          <a:xfrm>
            <a:off x="10882313" y="6236965"/>
            <a:ext cx="547688"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১৩ / ১৯</a:t>
            </a:r>
            <a:endParaRPr b="0" i="0" sz="1200" u="none" cap="none" strike="noStrike">
              <a:solidFill>
                <a:schemeClr val="dk1"/>
              </a:solidFill>
              <a:latin typeface="Tiro Bangla"/>
              <a:ea typeface="Tiro Bangla"/>
              <a:cs typeface="Tiro Bangla"/>
              <a:sym typeface="Tiro Bangla"/>
            </a:endParaRPr>
          </a:p>
        </p:txBody>
      </p:sp>
      <p:pic>
        <p:nvPicPr>
          <p:cNvPr descr="বাংলা উইকিসম্মেলন ২০২৬ লোগো" id="593" name="Google Shape;593;p23"/>
          <p:cNvPicPr preferRelativeResize="0"/>
          <p:nvPr/>
        </p:nvPicPr>
        <p:blipFill rotWithShape="1">
          <a:blip r:embed="rId4">
            <a:alphaModFix/>
          </a:blip>
          <a:srcRect b="0" l="0" r="0" t="0"/>
          <a:stretch/>
        </p:blipFill>
        <p:spPr>
          <a:xfrm>
            <a:off x="10314432" y="365760"/>
            <a:ext cx="1115568" cy="666862"/>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8DA"/>
        </a:solidFill>
      </p:bgPr>
    </p:bg>
    <p:spTree>
      <p:nvGrpSpPr>
        <p:cNvPr id="598" name="Shape 598"/>
        <p:cNvGrpSpPr/>
        <p:nvPr/>
      </p:nvGrpSpPr>
      <p:grpSpPr>
        <a:xfrm>
          <a:off x="0" y="0"/>
          <a:ext cx="0" cy="0"/>
          <a:chOff x="0" y="0"/>
          <a:chExt cx="0" cy="0"/>
        </a:xfrm>
      </p:grpSpPr>
      <p:sp>
        <p:nvSpPr>
          <p:cNvPr id="599" name="Google Shape;599;p24"/>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8501A"/>
              </a:buClr>
              <a:buSzPts val="1200"/>
              <a:buFont typeface="Tiro Bangla"/>
              <a:buNone/>
            </a:pPr>
            <a:r>
              <a:rPr b="1" i="0" lang="en-US" sz="1200" u="none" cap="none" strike="noStrike">
                <a:solidFill>
                  <a:srgbClr val="C8501A"/>
                </a:solidFill>
                <a:latin typeface="Tiro Bangla"/>
                <a:ea typeface="Tiro Bangla"/>
                <a:cs typeface="Tiro Bangla"/>
                <a:sym typeface="Tiro Bangla"/>
              </a:rPr>
              <a:t>মানুষ · ৪</a:t>
            </a:r>
            <a:endParaRPr b="0" i="0" sz="1200" u="none" cap="none" strike="noStrike">
              <a:solidFill>
                <a:schemeClr val="dk1"/>
              </a:solidFill>
              <a:latin typeface="Tiro Bangla"/>
              <a:ea typeface="Tiro Bangla"/>
              <a:cs typeface="Tiro Bangla"/>
              <a:sym typeface="Tiro Bangla"/>
            </a:endParaRPr>
          </a:p>
        </p:txBody>
      </p:sp>
      <p:sp>
        <p:nvSpPr>
          <p:cNvPr id="600" name="Google Shape;600;p24"/>
          <p:cNvSpPr/>
          <p:nvPr/>
        </p:nvSpPr>
        <p:spPr>
          <a:xfrm>
            <a:off x="812800" y="1127720"/>
            <a:ext cx="9810750" cy="49272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84D86"/>
              </a:buClr>
              <a:buSzPts val="3200"/>
              <a:buFont typeface="Tiro Bangla"/>
              <a:buNone/>
            </a:pPr>
            <a:r>
              <a:rPr b="0" i="0" lang="en-US" sz="3200" u="none" cap="none" strike="noStrike">
                <a:solidFill>
                  <a:srgbClr val="384D86"/>
                </a:solidFill>
                <a:latin typeface="Tiro Bangla"/>
                <a:ea typeface="Tiro Bangla"/>
                <a:cs typeface="Tiro Bangla"/>
                <a:sym typeface="Tiro Bangla"/>
              </a:rPr>
              <a:t>সহপ্রকল্পে ‘পাঠক’ বাড়ছে শুধু ডেস্কটপে</a:t>
            </a:r>
            <a:endParaRPr b="0" i="0" sz="3200" u="none" cap="none" strike="noStrike">
              <a:solidFill>
                <a:schemeClr val="dk1"/>
              </a:solidFill>
              <a:latin typeface="Tiro Bangla"/>
              <a:ea typeface="Tiro Bangla"/>
              <a:cs typeface="Tiro Bangla"/>
              <a:sym typeface="Tiro Bangla"/>
            </a:endParaRPr>
          </a:p>
        </p:txBody>
      </p:sp>
      <p:graphicFrame>
        <p:nvGraphicFramePr>
          <p:cNvPr id="601" name="Google Shape;601;p24"/>
          <p:cNvGraphicFramePr/>
          <p:nvPr/>
        </p:nvGraphicFramePr>
        <p:xfrm>
          <a:off x="825500" y="2173560"/>
          <a:ext cx="3000000" cy="3000000"/>
        </p:xfrm>
        <a:graphic>
          <a:graphicData uri="http://schemas.openxmlformats.org/drawingml/2006/table">
            <a:tbl>
              <a:tblPr>
                <a:noFill/>
                <a:tableStyleId>{90B60647-9D0A-40BD-AF51-562D823FFA68}</a:tableStyleId>
              </a:tblPr>
              <a:tblGrid>
                <a:gridCol w="2532900"/>
                <a:gridCol w="2321825"/>
                <a:gridCol w="1899675"/>
                <a:gridCol w="1899675"/>
                <a:gridCol w="1899675"/>
              </a:tblGrid>
              <a:tr h="412750">
                <a:tc>
                  <a:txBody>
                    <a:bodyPr/>
                    <a:lstStyle/>
                    <a:p>
                      <a:pPr indent="0" lvl="0" marL="0" marR="0" rtl="0" algn="l">
                        <a:lnSpc>
                          <a:spcPct val="140000"/>
                        </a:lnSpc>
                        <a:spcBef>
                          <a:spcPts val="0"/>
                        </a:spcBef>
                        <a:spcAft>
                          <a:spcPts val="0"/>
                        </a:spcAft>
                        <a:buClr>
                          <a:srgbClr val="384D86"/>
                        </a:buClr>
                        <a:buSzPts val="1500"/>
                        <a:buFont typeface="Tiro Bangla"/>
                        <a:buNone/>
                      </a:pPr>
                      <a:r>
                        <a:rPr b="1" lang="en-US" sz="1500" u="none" cap="none" strike="noStrike">
                          <a:solidFill>
                            <a:srgbClr val="384D86"/>
                          </a:solidFill>
                          <a:latin typeface="Tiro Bangla"/>
                          <a:ea typeface="Tiro Bangla"/>
                          <a:cs typeface="Tiro Bangla"/>
                          <a:sym typeface="Tiro Bangla"/>
                        </a:rPr>
                        <a:t>প্রকল্প</a:t>
                      </a:r>
                      <a:endParaRPr sz="1500" u="none" cap="none" strike="noStrike">
                        <a:latin typeface="Tiro Bangla"/>
                        <a:ea typeface="Tiro Bangla"/>
                        <a:cs typeface="Tiro Bangla"/>
                        <a:sym typeface="Tiro Bangla"/>
                      </a:endParaRPr>
                    </a:p>
                  </a:txBody>
                  <a:tcPr marT="66675" marB="66675" marR="66675" marL="66675">
                    <a:lnL cap="flat" cmpd="sng" w="12700">
                      <a:solidFill>
                        <a:srgbClr val="C3BFB8"/>
                      </a:solidFill>
                      <a:prstDash val="solid"/>
                      <a:round/>
                      <a:headEnd len="sm" w="sm" type="none"/>
                      <a:tailEnd len="sm" w="sm" type="none"/>
                    </a:lnL>
                    <a:lnR cap="flat" cmpd="sng" w="12700">
                      <a:solidFill>
                        <a:srgbClr val="BBB2A3"/>
                      </a:solidFill>
                      <a:prstDash val="solid"/>
                      <a:round/>
                      <a:headEnd len="sm" w="sm" type="none"/>
                      <a:tailEnd len="sm" w="sm" type="none"/>
                    </a:lnR>
                    <a:lnT cap="flat" cmpd="sng" w="12700">
                      <a:solidFill>
                        <a:srgbClr val="C3BFB8"/>
                      </a:solidFill>
                      <a:prstDash val="solid"/>
                      <a:round/>
                      <a:headEnd len="sm" w="sm" type="none"/>
                      <a:tailEnd len="sm" w="sm" type="none"/>
                    </a:lnT>
                    <a:lnB cap="flat" cmpd="sng" w="12700">
                      <a:solidFill>
                        <a:srgbClr val="BBB2A3"/>
                      </a:solidFill>
                      <a:prstDash val="solid"/>
                      <a:round/>
                      <a:headEnd len="sm" w="sm" type="none"/>
                      <a:tailEnd len="sm" w="sm" type="none"/>
                    </a:lnB>
                    <a:solidFill>
                      <a:srgbClr val="FBEEBF"/>
                    </a:solidFill>
                  </a:tcPr>
                </a:tc>
                <a:tc>
                  <a:txBody>
                    <a:bodyPr/>
                    <a:lstStyle/>
                    <a:p>
                      <a:pPr indent="0" lvl="0" marL="0" marR="0" rtl="0" algn="r">
                        <a:lnSpc>
                          <a:spcPct val="140000"/>
                        </a:lnSpc>
                        <a:spcBef>
                          <a:spcPts val="0"/>
                        </a:spcBef>
                        <a:spcAft>
                          <a:spcPts val="0"/>
                        </a:spcAft>
                        <a:buClr>
                          <a:srgbClr val="384D86"/>
                        </a:buClr>
                        <a:buSzPts val="1500"/>
                        <a:buFont typeface="Tiro Bangla"/>
                        <a:buNone/>
                      </a:pPr>
                      <a:r>
                        <a:rPr b="1" lang="en-US" sz="1500" u="none" cap="none" strike="noStrike">
                          <a:solidFill>
                            <a:srgbClr val="384D86"/>
                          </a:solidFill>
                          <a:latin typeface="Tiro Bangla"/>
                          <a:ea typeface="Tiro Bangla"/>
                          <a:cs typeface="Tiro Bangla"/>
                          <a:sym typeface="Tiro Bangla"/>
                        </a:rPr>
                        <a:t>মানুষের পেজভিউ, মাসে</a:t>
                      </a:r>
                      <a:endParaRPr sz="1500" u="none" cap="none" strike="noStrike">
                        <a:latin typeface="Tiro Bangla"/>
                        <a:ea typeface="Tiro Bangla"/>
                        <a:cs typeface="Tiro Bangla"/>
                        <a:sym typeface="Tiro Bangla"/>
                      </a:endParaRPr>
                    </a:p>
                  </a:txBody>
                  <a:tcPr marT="66675" marB="66675" marR="66675" marL="66675">
                    <a:lnL cap="flat" cmpd="sng" w="12700">
                      <a:solidFill>
                        <a:srgbClr val="BBB2A3"/>
                      </a:solidFill>
                      <a:prstDash val="solid"/>
                      <a:round/>
                      <a:headEnd len="sm" w="sm" type="none"/>
                      <a:tailEnd len="sm" w="sm" type="none"/>
                    </a:lnL>
                    <a:lnR cap="flat" cmpd="sng" w="12700">
                      <a:solidFill>
                        <a:srgbClr val="BBB2A3"/>
                      </a:solidFill>
                      <a:prstDash val="solid"/>
                      <a:round/>
                      <a:headEnd len="sm" w="sm" type="none"/>
                      <a:tailEnd len="sm" w="sm" type="none"/>
                    </a:lnR>
                    <a:lnT cap="flat" cmpd="sng" w="12700">
                      <a:solidFill>
                        <a:srgbClr val="C3BFB8"/>
                      </a:solidFill>
                      <a:prstDash val="solid"/>
                      <a:round/>
                      <a:headEnd len="sm" w="sm" type="none"/>
                      <a:tailEnd len="sm" w="sm" type="none"/>
                    </a:lnT>
                    <a:lnB cap="flat" cmpd="sng" w="12700">
                      <a:solidFill>
                        <a:srgbClr val="BBB2A3"/>
                      </a:solidFill>
                      <a:prstDash val="solid"/>
                      <a:round/>
                      <a:headEnd len="sm" w="sm" type="none"/>
                      <a:tailEnd len="sm" w="sm" type="none"/>
                    </a:lnB>
                    <a:solidFill>
                      <a:srgbClr val="FBEEBF"/>
                    </a:solidFill>
                  </a:tcPr>
                </a:tc>
                <a:tc>
                  <a:txBody>
                    <a:bodyPr/>
                    <a:lstStyle/>
                    <a:p>
                      <a:pPr indent="0" lvl="0" marL="0" marR="0" rtl="0" algn="r">
                        <a:lnSpc>
                          <a:spcPct val="140000"/>
                        </a:lnSpc>
                        <a:spcBef>
                          <a:spcPts val="0"/>
                        </a:spcBef>
                        <a:spcAft>
                          <a:spcPts val="0"/>
                        </a:spcAft>
                        <a:buClr>
                          <a:srgbClr val="384D86"/>
                        </a:buClr>
                        <a:buSzPts val="1500"/>
                        <a:buFont typeface="Tiro Bangla"/>
                        <a:buNone/>
                      </a:pPr>
                      <a:r>
                        <a:rPr b="1" lang="en-US" sz="1500" u="none" cap="none" strike="noStrike">
                          <a:solidFill>
                            <a:srgbClr val="384D86"/>
                          </a:solidFill>
                          <a:latin typeface="Tiro Bangla"/>
                          <a:ea typeface="Tiro Bangla"/>
                          <a:cs typeface="Tiro Bangla"/>
                          <a:sym typeface="Tiro Bangla"/>
                        </a:rPr>
                        <a:t>পেজভিউ</a:t>
                      </a:r>
                      <a:endParaRPr sz="1500" u="none" cap="none" strike="noStrike">
                        <a:latin typeface="Tiro Bangla"/>
                        <a:ea typeface="Tiro Bangla"/>
                        <a:cs typeface="Tiro Bangla"/>
                        <a:sym typeface="Tiro Bangla"/>
                      </a:endParaRPr>
                    </a:p>
                  </a:txBody>
                  <a:tcPr marT="66675" marB="66675" marR="66675" marL="66675">
                    <a:lnL cap="flat" cmpd="sng" w="12700">
                      <a:solidFill>
                        <a:srgbClr val="BBB2A3"/>
                      </a:solidFill>
                      <a:prstDash val="solid"/>
                      <a:round/>
                      <a:headEnd len="sm" w="sm" type="none"/>
                      <a:tailEnd len="sm" w="sm" type="none"/>
                    </a:lnL>
                    <a:lnR cap="flat" cmpd="sng" w="12700">
                      <a:solidFill>
                        <a:srgbClr val="BBB2A3"/>
                      </a:solidFill>
                      <a:prstDash val="solid"/>
                      <a:round/>
                      <a:headEnd len="sm" w="sm" type="none"/>
                      <a:tailEnd len="sm" w="sm" type="none"/>
                    </a:lnR>
                    <a:lnT cap="flat" cmpd="sng" w="12700">
                      <a:solidFill>
                        <a:srgbClr val="C3BFB8"/>
                      </a:solidFill>
                      <a:prstDash val="solid"/>
                      <a:round/>
                      <a:headEnd len="sm" w="sm" type="none"/>
                      <a:tailEnd len="sm" w="sm" type="none"/>
                    </a:lnT>
                    <a:lnB cap="flat" cmpd="sng" w="12700">
                      <a:solidFill>
                        <a:srgbClr val="BBB2A3"/>
                      </a:solidFill>
                      <a:prstDash val="solid"/>
                      <a:round/>
                      <a:headEnd len="sm" w="sm" type="none"/>
                      <a:tailEnd len="sm" w="sm" type="none"/>
                    </a:lnB>
                    <a:solidFill>
                      <a:srgbClr val="FBEEBF"/>
                    </a:solidFill>
                  </a:tcPr>
                </a:tc>
                <a:tc>
                  <a:txBody>
                    <a:bodyPr/>
                    <a:lstStyle/>
                    <a:p>
                      <a:pPr indent="0" lvl="0" marL="0" marR="0" rtl="0" algn="r">
                        <a:lnSpc>
                          <a:spcPct val="140000"/>
                        </a:lnSpc>
                        <a:spcBef>
                          <a:spcPts val="0"/>
                        </a:spcBef>
                        <a:spcAft>
                          <a:spcPts val="0"/>
                        </a:spcAft>
                        <a:buClr>
                          <a:srgbClr val="384D86"/>
                        </a:buClr>
                        <a:buSzPts val="1500"/>
                        <a:buFont typeface="Tiro Bangla"/>
                        <a:buNone/>
                      </a:pPr>
                      <a:r>
                        <a:rPr b="1" lang="en-US" sz="1500" u="none" cap="none" strike="noStrike">
                          <a:solidFill>
                            <a:srgbClr val="384D86"/>
                          </a:solidFill>
                          <a:latin typeface="Tiro Bangla"/>
                          <a:ea typeface="Tiro Bangla"/>
                          <a:cs typeface="Tiro Bangla"/>
                          <a:sym typeface="Tiro Bangla"/>
                        </a:rPr>
                        <a:t>ডিভাইস</a:t>
                      </a:r>
                      <a:endParaRPr sz="1500" u="none" cap="none" strike="noStrike">
                        <a:latin typeface="Tiro Bangla"/>
                        <a:ea typeface="Tiro Bangla"/>
                        <a:cs typeface="Tiro Bangla"/>
                        <a:sym typeface="Tiro Bangla"/>
                      </a:endParaRPr>
                    </a:p>
                  </a:txBody>
                  <a:tcPr marT="66675" marB="66675" marR="66675" marL="66675">
                    <a:lnL cap="flat" cmpd="sng" w="12700">
                      <a:solidFill>
                        <a:srgbClr val="BBB2A3"/>
                      </a:solidFill>
                      <a:prstDash val="solid"/>
                      <a:round/>
                      <a:headEnd len="sm" w="sm" type="none"/>
                      <a:tailEnd len="sm" w="sm" type="none"/>
                    </a:lnL>
                    <a:lnR cap="flat" cmpd="sng" w="12700">
                      <a:solidFill>
                        <a:srgbClr val="BBB2A3"/>
                      </a:solidFill>
                      <a:prstDash val="solid"/>
                      <a:round/>
                      <a:headEnd len="sm" w="sm" type="none"/>
                      <a:tailEnd len="sm" w="sm" type="none"/>
                    </a:lnR>
                    <a:lnT cap="flat" cmpd="sng" w="12700">
                      <a:solidFill>
                        <a:srgbClr val="C3BFB8"/>
                      </a:solidFill>
                      <a:prstDash val="solid"/>
                      <a:round/>
                      <a:headEnd len="sm" w="sm" type="none"/>
                      <a:tailEnd len="sm" w="sm" type="none"/>
                    </a:lnT>
                    <a:lnB cap="flat" cmpd="sng" w="12700">
                      <a:solidFill>
                        <a:srgbClr val="BBB2A3"/>
                      </a:solidFill>
                      <a:prstDash val="solid"/>
                      <a:round/>
                      <a:headEnd len="sm" w="sm" type="none"/>
                      <a:tailEnd len="sm" w="sm" type="none"/>
                    </a:lnB>
                    <a:solidFill>
                      <a:srgbClr val="FBEEBF"/>
                    </a:solidFill>
                  </a:tcPr>
                </a:tc>
                <a:tc>
                  <a:txBody>
                    <a:bodyPr/>
                    <a:lstStyle/>
                    <a:p>
                      <a:pPr indent="0" lvl="0" marL="0" marR="0" rtl="0" algn="r">
                        <a:lnSpc>
                          <a:spcPct val="140000"/>
                        </a:lnSpc>
                        <a:spcBef>
                          <a:spcPts val="0"/>
                        </a:spcBef>
                        <a:spcAft>
                          <a:spcPts val="0"/>
                        </a:spcAft>
                        <a:buClr>
                          <a:srgbClr val="384D86"/>
                        </a:buClr>
                        <a:buSzPts val="1500"/>
                        <a:buFont typeface="Tiro Bangla"/>
                        <a:buNone/>
                      </a:pPr>
                      <a:r>
                        <a:rPr b="1" lang="en-US" sz="1500" u="none" cap="none" strike="noStrike">
                          <a:solidFill>
                            <a:srgbClr val="384D86"/>
                          </a:solidFill>
                          <a:latin typeface="Tiro Bangla"/>
                          <a:ea typeface="Tiro Bangla"/>
                          <a:cs typeface="Tiro Bangla"/>
                          <a:sym typeface="Tiro Bangla"/>
                        </a:rPr>
                        <a:t>যন্ত্রের </a:t>
                      </a:r>
                      <a:r>
                        <a:rPr b="1" lang="en-US" sz="1500">
                          <a:solidFill>
                            <a:srgbClr val="384D86"/>
                          </a:solidFill>
                          <a:latin typeface="Tiro Bangla"/>
                          <a:ea typeface="Tiro Bangla"/>
                          <a:cs typeface="Tiro Bangla"/>
                          <a:sym typeface="Tiro Bangla"/>
                        </a:rPr>
                        <a:t>অংশ</a:t>
                      </a:r>
                      <a:endParaRPr sz="1500" u="none" cap="none" strike="noStrike">
                        <a:latin typeface="Tiro Bangla"/>
                        <a:ea typeface="Tiro Bangla"/>
                        <a:cs typeface="Tiro Bangla"/>
                        <a:sym typeface="Tiro Bangla"/>
                      </a:endParaRPr>
                    </a:p>
                  </a:txBody>
                  <a:tcPr marT="66675" marB="66675" marR="66675" marL="66675">
                    <a:lnL cap="flat" cmpd="sng" w="12700">
                      <a:solidFill>
                        <a:srgbClr val="BBB2A3"/>
                      </a:solidFill>
                      <a:prstDash val="solid"/>
                      <a:round/>
                      <a:headEnd len="sm" w="sm" type="none"/>
                      <a:tailEnd len="sm" w="sm" type="none"/>
                    </a:lnL>
                    <a:lnR cap="flat" cmpd="sng" w="12700">
                      <a:solidFill>
                        <a:srgbClr val="BBB2A3"/>
                      </a:solidFill>
                      <a:prstDash val="solid"/>
                      <a:round/>
                      <a:headEnd len="sm" w="sm" type="none"/>
                      <a:tailEnd len="sm" w="sm" type="none"/>
                    </a:lnR>
                    <a:lnT cap="flat" cmpd="sng" w="12700">
                      <a:solidFill>
                        <a:srgbClr val="C3BFB8"/>
                      </a:solidFill>
                      <a:prstDash val="solid"/>
                      <a:round/>
                      <a:headEnd len="sm" w="sm" type="none"/>
                      <a:tailEnd len="sm" w="sm" type="none"/>
                    </a:lnT>
                    <a:lnB cap="flat" cmpd="sng" w="12700">
                      <a:solidFill>
                        <a:srgbClr val="BBB2A3"/>
                      </a:solidFill>
                      <a:prstDash val="solid"/>
                      <a:round/>
                      <a:headEnd len="sm" w="sm" type="none"/>
                      <a:tailEnd len="sm" w="sm" type="none"/>
                    </a:lnB>
                    <a:solidFill>
                      <a:srgbClr val="FBEEBF"/>
                    </a:solidFill>
                  </a:tcPr>
                </a:tc>
              </a:tr>
              <a:tr h="412750">
                <a:tc>
                  <a:txBody>
                    <a:bodyPr/>
                    <a:lstStyle/>
                    <a:p>
                      <a:pPr indent="0" lvl="0" marL="0" marR="0" rtl="0" algn="l">
                        <a:lnSpc>
                          <a:spcPct val="140000"/>
                        </a:lnSpc>
                        <a:spcBef>
                          <a:spcPts val="0"/>
                        </a:spcBef>
                        <a:spcAft>
                          <a:spcPts val="0"/>
                        </a:spcAft>
                        <a:buClr>
                          <a:srgbClr val="384D86"/>
                        </a:buClr>
                        <a:buSzPts val="1500"/>
                        <a:buFont typeface="Tiro Bangla"/>
                        <a:buNone/>
                      </a:pPr>
                      <a:r>
                        <a:rPr lang="en-US" sz="1500" u="none" cap="none" strike="noStrike">
                          <a:solidFill>
                            <a:srgbClr val="384D86"/>
                          </a:solidFill>
                          <a:latin typeface="Tiro Bangla"/>
                          <a:ea typeface="Tiro Bangla"/>
                          <a:cs typeface="Tiro Bangla"/>
                          <a:sym typeface="Tiro Bangla"/>
                        </a:rPr>
                        <a:t>উইকিসংকলন</a:t>
                      </a:r>
                      <a:endParaRPr sz="1500" u="none" cap="none" strike="noStrike">
                        <a:latin typeface="Tiro Bangla"/>
                        <a:ea typeface="Tiro Bangla"/>
                        <a:cs typeface="Tiro Bangla"/>
                        <a:sym typeface="Tiro Bangla"/>
                      </a:endParaRPr>
                    </a:p>
                  </a:txBody>
                  <a:tcPr marT="66675" marB="66675" marR="66675" marL="66675">
                    <a:lnL cap="flat" cmpd="sng" w="12700">
                      <a:solidFill>
                        <a:srgbClr val="C3BFB8"/>
                      </a:solidFill>
                      <a:prstDash val="solid"/>
                      <a:round/>
                      <a:headEnd len="sm" w="sm" type="none"/>
                      <a:tailEnd len="sm" w="sm" type="none"/>
                    </a:lnL>
                    <a:lnR cap="flat" cmpd="sng" w="12700">
                      <a:solidFill>
                        <a:srgbClr val="C3BFB8"/>
                      </a:solidFill>
                      <a:prstDash val="solid"/>
                      <a:round/>
                      <a:headEnd len="sm" w="sm" type="none"/>
                      <a:tailEnd len="sm" w="sm" type="none"/>
                    </a:lnR>
                    <a:lnT cap="flat" cmpd="sng" w="12700">
                      <a:solidFill>
                        <a:srgbClr val="BBB2A3"/>
                      </a:solidFill>
                      <a:prstDash val="solid"/>
                      <a:round/>
                      <a:headEnd len="sm" w="sm" type="none"/>
                      <a:tailEnd len="sm" w="sm" type="none"/>
                    </a:lnT>
                    <a:lnB cap="flat" cmpd="sng" w="12700">
                      <a:solidFill>
                        <a:srgbClr val="C3BFB8"/>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384D86"/>
                        </a:buClr>
                        <a:buSzPts val="1500"/>
                        <a:buFont typeface="Tiro Bangla"/>
                        <a:buNone/>
                      </a:pPr>
                      <a:r>
                        <a:rPr lang="en-US" sz="1500" u="none" cap="none" strike="noStrike">
                          <a:solidFill>
                            <a:srgbClr val="384D86"/>
                          </a:solidFill>
                          <a:latin typeface="Tiro Bangla"/>
                          <a:ea typeface="Tiro Bangla"/>
                          <a:cs typeface="Tiro Bangla"/>
                          <a:sym typeface="Tiro Bangla"/>
                        </a:rPr>
                        <a:t>৯.৮ লাখ</a:t>
                      </a:r>
                      <a:endParaRPr sz="1500" u="none" cap="none" strike="noStrike">
                        <a:latin typeface="Tiro Bangla"/>
                        <a:ea typeface="Tiro Bangla"/>
                        <a:cs typeface="Tiro Bangla"/>
                        <a:sym typeface="Tiro Bangla"/>
                      </a:endParaRPr>
                    </a:p>
                  </a:txBody>
                  <a:tcPr marT="66675" marB="66675" marR="66675" marL="66675">
                    <a:lnL cap="flat" cmpd="sng" w="12700">
                      <a:solidFill>
                        <a:srgbClr val="C3BFB8"/>
                      </a:solidFill>
                      <a:prstDash val="solid"/>
                      <a:round/>
                      <a:headEnd len="sm" w="sm" type="none"/>
                      <a:tailEnd len="sm" w="sm" type="none"/>
                    </a:lnL>
                    <a:lnR cap="flat" cmpd="sng" w="12700">
                      <a:solidFill>
                        <a:srgbClr val="C3BFB8"/>
                      </a:solidFill>
                      <a:prstDash val="solid"/>
                      <a:round/>
                      <a:headEnd len="sm" w="sm" type="none"/>
                      <a:tailEnd len="sm" w="sm" type="none"/>
                    </a:lnR>
                    <a:lnT cap="flat" cmpd="sng" w="12700">
                      <a:solidFill>
                        <a:srgbClr val="BBB2A3"/>
                      </a:solidFill>
                      <a:prstDash val="solid"/>
                      <a:round/>
                      <a:headEnd len="sm" w="sm" type="none"/>
                      <a:tailEnd len="sm" w="sm" type="none"/>
                    </a:lnT>
                    <a:lnB cap="flat" cmpd="sng" w="12700">
                      <a:solidFill>
                        <a:srgbClr val="C3BFB8"/>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384D86"/>
                        </a:buClr>
                        <a:buSzPts val="1500"/>
                        <a:buFont typeface="Tiro Bangla"/>
                        <a:buNone/>
                      </a:pPr>
                      <a:r>
                        <a:rPr lang="en-US" sz="1500" u="none" cap="none" strike="noStrike">
                          <a:solidFill>
                            <a:srgbClr val="384D86"/>
                          </a:solidFill>
                          <a:latin typeface="Tiro Bangla"/>
                          <a:ea typeface="Tiro Bangla"/>
                          <a:cs typeface="Tiro Bangla"/>
                          <a:sym typeface="Tiro Bangla"/>
                        </a:rPr>
                        <a:t>+২০%</a:t>
                      </a:r>
                      <a:endParaRPr sz="1500" u="none" cap="none" strike="noStrike">
                        <a:latin typeface="Tiro Bangla"/>
                        <a:ea typeface="Tiro Bangla"/>
                        <a:cs typeface="Tiro Bangla"/>
                        <a:sym typeface="Tiro Bangla"/>
                      </a:endParaRPr>
                    </a:p>
                  </a:txBody>
                  <a:tcPr marT="66675" marB="66675" marR="66675" marL="66675">
                    <a:lnL cap="flat" cmpd="sng" w="12700">
                      <a:solidFill>
                        <a:srgbClr val="C3BFB8"/>
                      </a:solidFill>
                      <a:prstDash val="solid"/>
                      <a:round/>
                      <a:headEnd len="sm" w="sm" type="none"/>
                      <a:tailEnd len="sm" w="sm" type="none"/>
                    </a:lnL>
                    <a:lnR cap="flat" cmpd="sng" w="12700">
                      <a:solidFill>
                        <a:srgbClr val="C3BFB8"/>
                      </a:solidFill>
                      <a:prstDash val="solid"/>
                      <a:round/>
                      <a:headEnd len="sm" w="sm" type="none"/>
                      <a:tailEnd len="sm" w="sm" type="none"/>
                    </a:lnR>
                    <a:lnT cap="flat" cmpd="sng" w="12700">
                      <a:solidFill>
                        <a:srgbClr val="BBB2A3"/>
                      </a:solidFill>
                      <a:prstDash val="solid"/>
                      <a:round/>
                      <a:headEnd len="sm" w="sm" type="none"/>
                      <a:tailEnd len="sm" w="sm" type="none"/>
                    </a:lnT>
                    <a:lnB cap="flat" cmpd="sng" w="12700">
                      <a:solidFill>
                        <a:srgbClr val="C3BFB8"/>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384D86"/>
                        </a:buClr>
                        <a:buSzPts val="1500"/>
                        <a:buFont typeface="Tiro Bangla"/>
                        <a:buNone/>
                      </a:pPr>
                      <a:r>
                        <a:rPr lang="en-US" sz="1500" u="none" cap="none" strike="noStrike">
                          <a:solidFill>
                            <a:srgbClr val="384D86"/>
                          </a:solidFill>
                          <a:latin typeface="Tiro Bangla"/>
                          <a:ea typeface="Tiro Bangla"/>
                          <a:cs typeface="Tiro Bangla"/>
                          <a:sym typeface="Tiro Bangla"/>
                        </a:rPr>
                        <a:t>+২৮%</a:t>
                      </a:r>
                      <a:endParaRPr sz="1500" u="none" cap="none" strike="noStrike">
                        <a:latin typeface="Tiro Bangla"/>
                        <a:ea typeface="Tiro Bangla"/>
                        <a:cs typeface="Tiro Bangla"/>
                        <a:sym typeface="Tiro Bangla"/>
                      </a:endParaRPr>
                    </a:p>
                  </a:txBody>
                  <a:tcPr marT="66675" marB="66675" marR="66675" marL="66675">
                    <a:lnL cap="flat" cmpd="sng" w="12700">
                      <a:solidFill>
                        <a:srgbClr val="C3BFB8"/>
                      </a:solidFill>
                      <a:prstDash val="solid"/>
                      <a:round/>
                      <a:headEnd len="sm" w="sm" type="none"/>
                      <a:tailEnd len="sm" w="sm" type="none"/>
                    </a:lnL>
                    <a:lnR cap="flat" cmpd="sng" w="12700">
                      <a:solidFill>
                        <a:srgbClr val="C3BFB8"/>
                      </a:solidFill>
                      <a:prstDash val="solid"/>
                      <a:round/>
                      <a:headEnd len="sm" w="sm" type="none"/>
                      <a:tailEnd len="sm" w="sm" type="none"/>
                    </a:lnR>
                    <a:lnT cap="flat" cmpd="sng" w="12700">
                      <a:solidFill>
                        <a:srgbClr val="BBB2A3"/>
                      </a:solidFill>
                      <a:prstDash val="solid"/>
                      <a:round/>
                      <a:headEnd len="sm" w="sm" type="none"/>
                      <a:tailEnd len="sm" w="sm" type="none"/>
                    </a:lnT>
                    <a:lnB cap="flat" cmpd="sng" w="12700">
                      <a:solidFill>
                        <a:srgbClr val="C3BFB8"/>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5F6A8A"/>
                        </a:buClr>
                        <a:buSzPts val="1500"/>
                        <a:buFont typeface="Tiro Bangla"/>
                        <a:buNone/>
                      </a:pPr>
                      <a:r>
                        <a:rPr lang="en-US" sz="1500" u="none" cap="none" strike="noStrike">
                          <a:solidFill>
                            <a:srgbClr val="5F6A8A"/>
                          </a:solidFill>
                          <a:latin typeface="Tiro Bangla"/>
                          <a:ea typeface="Tiro Bangla"/>
                          <a:cs typeface="Tiro Bangla"/>
                          <a:sym typeface="Tiro Bangla"/>
                        </a:rPr>
                        <a:t>৮৪%</a:t>
                      </a:r>
                      <a:endParaRPr sz="1500" u="none" cap="none" strike="noStrike">
                        <a:latin typeface="Tiro Bangla"/>
                        <a:ea typeface="Tiro Bangla"/>
                        <a:cs typeface="Tiro Bangla"/>
                        <a:sym typeface="Tiro Bangla"/>
                      </a:endParaRPr>
                    </a:p>
                  </a:txBody>
                  <a:tcPr marT="66675" marB="66675" marR="66675" marL="66675">
                    <a:lnL cap="flat" cmpd="sng" w="12700">
                      <a:solidFill>
                        <a:srgbClr val="C3BFB8"/>
                      </a:solidFill>
                      <a:prstDash val="solid"/>
                      <a:round/>
                      <a:headEnd len="sm" w="sm" type="none"/>
                      <a:tailEnd len="sm" w="sm" type="none"/>
                    </a:lnL>
                    <a:lnR cap="flat" cmpd="sng" w="12700">
                      <a:solidFill>
                        <a:srgbClr val="C3BFB8"/>
                      </a:solidFill>
                      <a:prstDash val="solid"/>
                      <a:round/>
                      <a:headEnd len="sm" w="sm" type="none"/>
                      <a:tailEnd len="sm" w="sm" type="none"/>
                    </a:lnR>
                    <a:lnT cap="flat" cmpd="sng" w="12700">
                      <a:solidFill>
                        <a:srgbClr val="BBB2A3"/>
                      </a:solidFill>
                      <a:prstDash val="solid"/>
                      <a:round/>
                      <a:headEnd len="sm" w="sm" type="none"/>
                      <a:tailEnd len="sm" w="sm" type="none"/>
                    </a:lnT>
                    <a:lnB cap="flat" cmpd="sng" w="12700">
                      <a:solidFill>
                        <a:srgbClr val="C3BFB8"/>
                      </a:solidFill>
                      <a:prstDash val="solid"/>
                      <a:round/>
                      <a:headEnd len="sm" w="sm" type="none"/>
                      <a:tailEnd len="sm" w="sm" type="none"/>
                    </a:lnB>
                  </a:tcPr>
                </a:tc>
              </a:tr>
              <a:tr h="412750">
                <a:tc>
                  <a:txBody>
                    <a:bodyPr/>
                    <a:lstStyle/>
                    <a:p>
                      <a:pPr indent="0" lvl="0" marL="0" marR="0" rtl="0" algn="l">
                        <a:lnSpc>
                          <a:spcPct val="140000"/>
                        </a:lnSpc>
                        <a:spcBef>
                          <a:spcPts val="0"/>
                        </a:spcBef>
                        <a:spcAft>
                          <a:spcPts val="0"/>
                        </a:spcAft>
                        <a:buClr>
                          <a:srgbClr val="384D86"/>
                        </a:buClr>
                        <a:buSzPts val="1500"/>
                        <a:buFont typeface="Tiro Bangla"/>
                        <a:buNone/>
                      </a:pPr>
                      <a:r>
                        <a:rPr lang="en-US" sz="1500" u="none" cap="none" strike="noStrike">
                          <a:solidFill>
                            <a:srgbClr val="384D86"/>
                          </a:solidFill>
                          <a:latin typeface="Tiro Bangla"/>
                          <a:ea typeface="Tiro Bangla"/>
                          <a:cs typeface="Tiro Bangla"/>
                          <a:sym typeface="Tiro Bangla"/>
                        </a:rPr>
                        <a:t>উইকিঅভিধান</a:t>
                      </a:r>
                      <a:endParaRPr sz="1500" u="none" cap="none" strike="noStrike">
                        <a:latin typeface="Tiro Bangla"/>
                        <a:ea typeface="Tiro Bangla"/>
                        <a:cs typeface="Tiro Bangla"/>
                        <a:sym typeface="Tiro Bangla"/>
                      </a:endParaRPr>
                    </a:p>
                  </a:txBody>
                  <a:tcPr marT="66675" marB="66675" marR="66675" marL="66675">
                    <a:lnL cap="flat" cmpd="sng" w="12700">
                      <a:solidFill>
                        <a:srgbClr val="C3BFB8"/>
                      </a:solidFill>
                      <a:prstDash val="solid"/>
                      <a:round/>
                      <a:headEnd len="sm" w="sm" type="none"/>
                      <a:tailEnd len="sm" w="sm" type="none"/>
                    </a:lnL>
                    <a:lnR cap="flat" cmpd="sng" w="12700">
                      <a:solidFill>
                        <a:srgbClr val="C3BFB8"/>
                      </a:solidFill>
                      <a:prstDash val="solid"/>
                      <a:round/>
                      <a:headEnd len="sm" w="sm" type="none"/>
                      <a:tailEnd len="sm" w="sm" type="none"/>
                    </a:lnR>
                    <a:lnT cap="flat" cmpd="sng" w="12700">
                      <a:solidFill>
                        <a:srgbClr val="C3BFB8"/>
                      </a:solidFill>
                      <a:prstDash val="solid"/>
                      <a:round/>
                      <a:headEnd len="sm" w="sm" type="none"/>
                      <a:tailEnd len="sm" w="sm" type="none"/>
                    </a:lnT>
                    <a:lnB cap="flat" cmpd="sng" w="12700">
                      <a:solidFill>
                        <a:srgbClr val="C3BFB8"/>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384D86"/>
                        </a:buClr>
                        <a:buSzPts val="1500"/>
                        <a:buFont typeface="Tiro Bangla"/>
                        <a:buNone/>
                      </a:pPr>
                      <a:r>
                        <a:rPr lang="en-US" sz="1500" u="none" cap="none" strike="noStrike">
                          <a:solidFill>
                            <a:srgbClr val="384D86"/>
                          </a:solidFill>
                          <a:latin typeface="Tiro Bangla"/>
                          <a:ea typeface="Tiro Bangla"/>
                          <a:cs typeface="Tiro Bangla"/>
                          <a:sym typeface="Tiro Bangla"/>
                        </a:rPr>
                        <a:t>৪.৯ লাখ</a:t>
                      </a:r>
                      <a:endParaRPr sz="1500" u="none" cap="none" strike="noStrike">
                        <a:latin typeface="Tiro Bangla"/>
                        <a:ea typeface="Tiro Bangla"/>
                        <a:cs typeface="Tiro Bangla"/>
                        <a:sym typeface="Tiro Bangla"/>
                      </a:endParaRPr>
                    </a:p>
                  </a:txBody>
                  <a:tcPr marT="66675" marB="66675" marR="66675" marL="66675">
                    <a:lnL cap="flat" cmpd="sng" w="12700">
                      <a:solidFill>
                        <a:srgbClr val="C3BFB8"/>
                      </a:solidFill>
                      <a:prstDash val="solid"/>
                      <a:round/>
                      <a:headEnd len="sm" w="sm" type="none"/>
                      <a:tailEnd len="sm" w="sm" type="none"/>
                    </a:lnL>
                    <a:lnR cap="flat" cmpd="sng" w="12700">
                      <a:solidFill>
                        <a:srgbClr val="C3BFB8"/>
                      </a:solidFill>
                      <a:prstDash val="solid"/>
                      <a:round/>
                      <a:headEnd len="sm" w="sm" type="none"/>
                      <a:tailEnd len="sm" w="sm" type="none"/>
                    </a:lnR>
                    <a:lnT cap="flat" cmpd="sng" w="12700">
                      <a:solidFill>
                        <a:srgbClr val="C3BFB8"/>
                      </a:solidFill>
                      <a:prstDash val="solid"/>
                      <a:round/>
                      <a:headEnd len="sm" w="sm" type="none"/>
                      <a:tailEnd len="sm" w="sm" type="none"/>
                    </a:lnT>
                    <a:lnB cap="flat" cmpd="sng" w="12700">
                      <a:solidFill>
                        <a:srgbClr val="C3BFB8"/>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384D86"/>
                        </a:buClr>
                        <a:buSzPts val="1500"/>
                        <a:buFont typeface="Tiro Bangla"/>
                        <a:buNone/>
                      </a:pPr>
                      <a:r>
                        <a:rPr lang="en-US" sz="1500" u="none" cap="none" strike="noStrike">
                          <a:solidFill>
                            <a:srgbClr val="384D86"/>
                          </a:solidFill>
                          <a:latin typeface="Tiro Bangla"/>
                          <a:ea typeface="Tiro Bangla"/>
                          <a:cs typeface="Tiro Bangla"/>
                          <a:sym typeface="Tiro Bangla"/>
                        </a:rPr>
                        <a:t>+১১%</a:t>
                      </a:r>
                      <a:endParaRPr sz="1500" u="none" cap="none" strike="noStrike">
                        <a:latin typeface="Tiro Bangla"/>
                        <a:ea typeface="Tiro Bangla"/>
                        <a:cs typeface="Tiro Bangla"/>
                        <a:sym typeface="Tiro Bangla"/>
                      </a:endParaRPr>
                    </a:p>
                  </a:txBody>
                  <a:tcPr marT="66675" marB="66675" marR="66675" marL="66675">
                    <a:lnL cap="flat" cmpd="sng" w="12700">
                      <a:solidFill>
                        <a:srgbClr val="C3BFB8"/>
                      </a:solidFill>
                      <a:prstDash val="solid"/>
                      <a:round/>
                      <a:headEnd len="sm" w="sm" type="none"/>
                      <a:tailEnd len="sm" w="sm" type="none"/>
                    </a:lnL>
                    <a:lnR cap="flat" cmpd="sng" w="12700">
                      <a:solidFill>
                        <a:srgbClr val="C3BFB8"/>
                      </a:solidFill>
                      <a:prstDash val="solid"/>
                      <a:round/>
                      <a:headEnd len="sm" w="sm" type="none"/>
                      <a:tailEnd len="sm" w="sm" type="none"/>
                    </a:lnR>
                    <a:lnT cap="flat" cmpd="sng" w="12700">
                      <a:solidFill>
                        <a:srgbClr val="C3BFB8"/>
                      </a:solidFill>
                      <a:prstDash val="solid"/>
                      <a:round/>
                      <a:headEnd len="sm" w="sm" type="none"/>
                      <a:tailEnd len="sm" w="sm" type="none"/>
                    </a:lnT>
                    <a:lnB cap="flat" cmpd="sng" w="12700">
                      <a:solidFill>
                        <a:srgbClr val="C3BFB8"/>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384D86"/>
                        </a:buClr>
                        <a:buSzPts val="1500"/>
                        <a:buFont typeface="Tiro Bangla"/>
                        <a:buNone/>
                      </a:pPr>
                      <a:r>
                        <a:rPr lang="en-US" sz="1500" u="none" cap="none" strike="noStrike">
                          <a:solidFill>
                            <a:srgbClr val="384D86"/>
                          </a:solidFill>
                          <a:latin typeface="Tiro Bangla"/>
                          <a:ea typeface="Tiro Bangla"/>
                          <a:cs typeface="Tiro Bangla"/>
                          <a:sym typeface="Tiro Bangla"/>
                        </a:rPr>
                        <a:t>+২৮%</a:t>
                      </a:r>
                      <a:endParaRPr sz="1500" u="none" cap="none" strike="noStrike">
                        <a:latin typeface="Tiro Bangla"/>
                        <a:ea typeface="Tiro Bangla"/>
                        <a:cs typeface="Tiro Bangla"/>
                        <a:sym typeface="Tiro Bangla"/>
                      </a:endParaRPr>
                    </a:p>
                  </a:txBody>
                  <a:tcPr marT="66675" marB="66675" marR="66675" marL="66675">
                    <a:lnL cap="flat" cmpd="sng" w="12700">
                      <a:solidFill>
                        <a:srgbClr val="C3BFB8"/>
                      </a:solidFill>
                      <a:prstDash val="solid"/>
                      <a:round/>
                      <a:headEnd len="sm" w="sm" type="none"/>
                      <a:tailEnd len="sm" w="sm" type="none"/>
                    </a:lnL>
                    <a:lnR cap="flat" cmpd="sng" w="12700">
                      <a:solidFill>
                        <a:srgbClr val="C3BFB8"/>
                      </a:solidFill>
                      <a:prstDash val="solid"/>
                      <a:round/>
                      <a:headEnd len="sm" w="sm" type="none"/>
                      <a:tailEnd len="sm" w="sm" type="none"/>
                    </a:lnR>
                    <a:lnT cap="flat" cmpd="sng" w="12700">
                      <a:solidFill>
                        <a:srgbClr val="C3BFB8"/>
                      </a:solidFill>
                      <a:prstDash val="solid"/>
                      <a:round/>
                      <a:headEnd len="sm" w="sm" type="none"/>
                      <a:tailEnd len="sm" w="sm" type="none"/>
                    </a:lnT>
                    <a:lnB cap="flat" cmpd="sng" w="12700">
                      <a:solidFill>
                        <a:srgbClr val="C3BFB8"/>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5F6A8A"/>
                        </a:buClr>
                        <a:buSzPts val="1500"/>
                        <a:buFont typeface="Tiro Bangla"/>
                        <a:buNone/>
                      </a:pPr>
                      <a:r>
                        <a:rPr lang="en-US" sz="1500" u="none" cap="none" strike="noStrike">
                          <a:solidFill>
                            <a:srgbClr val="5F6A8A"/>
                          </a:solidFill>
                          <a:latin typeface="Tiro Bangla"/>
                          <a:ea typeface="Tiro Bangla"/>
                          <a:cs typeface="Tiro Bangla"/>
                          <a:sym typeface="Tiro Bangla"/>
                        </a:rPr>
                        <a:t>৮৭%</a:t>
                      </a:r>
                      <a:endParaRPr sz="1500" u="none" cap="none" strike="noStrike">
                        <a:latin typeface="Tiro Bangla"/>
                        <a:ea typeface="Tiro Bangla"/>
                        <a:cs typeface="Tiro Bangla"/>
                        <a:sym typeface="Tiro Bangla"/>
                      </a:endParaRPr>
                    </a:p>
                  </a:txBody>
                  <a:tcPr marT="66675" marB="66675" marR="66675" marL="66675">
                    <a:lnL cap="flat" cmpd="sng" w="12700">
                      <a:solidFill>
                        <a:srgbClr val="C3BFB8"/>
                      </a:solidFill>
                      <a:prstDash val="solid"/>
                      <a:round/>
                      <a:headEnd len="sm" w="sm" type="none"/>
                      <a:tailEnd len="sm" w="sm" type="none"/>
                    </a:lnL>
                    <a:lnR cap="flat" cmpd="sng" w="12700">
                      <a:solidFill>
                        <a:srgbClr val="C3BFB8"/>
                      </a:solidFill>
                      <a:prstDash val="solid"/>
                      <a:round/>
                      <a:headEnd len="sm" w="sm" type="none"/>
                      <a:tailEnd len="sm" w="sm" type="none"/>
                    </a:lnR>
                    <a:lnT cap="flat" cmpd="sng" w="12700">
                      <a:solidFill>
                        <a:srgbClr val="C3BFB8"/>
                      </a:solidFill>
                      <a:prstDash val="solid"/>
                      <a:round/>
                      <a:headEnd len="sm" w="sm" type="none"/>
                      <a:tailEnd len="sm" w="sm" type="none"/>
                    </a:lnT>
                    <a:lnB cap="flat" cmpd="sng" w="12700">
                      <a:solidFill>
                        <a:srgbClr val="C3BFB8"/>
                      </a:solidFill>
                      <a:prstDash val="solid"/>
                      <a:round/>
                      <a:headEnd len="sm" w="sm" type="none"/>
                      <a:tailEnd len="sm" w="sm" type="none"/>
                    </a:lnB>
                  </a:tcPr>
                </a:tc>
              </a:tr>
              <a:tr h="412750">
                <a:tc>
                  <a:txBody>
                    <a:bodyPr/>
                    <a:lstStyle/>
                    <a:p>
                      <a:pPr indent="0" lvl="0" marL="0" marR="0" rtl="0" algn="l">
                        <a:lnSpc>
                          <a:spcPct val="140000"/>
                        </a:lnSpc>
                        <a:spcBef>
                          <a:spcPts val="0"/>
                        </a:spcBef>
                        <a:spcAft>
                          <a:spcPts val="0"/>
                        </a:spcAft>
                        <a:buClr>
                          <a:srgbClr val="384D86"/>
                        </a:buClr>
                        <a:buSzPts val="1500"/>
                        <a:buFont typeface="Tiro Bangla"/>
                        <a:buNone/>
                      </a:pPr>
                      <a:r>
                        <a:rPr lang="en-US" sz="1500" u="none" cap="none" strike="noStrike">
                          <a:solidFill>
                            <a:srgbClr val="384D86"/>
                          </a:solidFill>
                          <a:latin typeface="Tiro Bangla"/>
                          <a:ea typeface="Tiro Bangla"/>
                          <a:cs typeface="Tiro Bangla"/>
                          <a:sym typeface="Tiro Bangla"/>
                        </a:rPr>
                        <a:t>উইকিবই</a:t>
                      </a:r>
                      <a:endParaRPr sz="1500" u="none" cap="none" strike="noStrike">
                        <a:latin typeface="Tiro Bangla"/>
                        <a:ea typeface="Tiro Bangla"/>
                        <a:cs typeface="Tiro Bangla"/>
                        <a:sym typeface="Tiro Bangla"/>
                      </a:endParaRPr>
                    </a:p>
                  </a:txBody>
                  <a:tcPr marT="66675" marB="66675" marR="66675" marL="66675">
                    <a:lnL cap="flat" cmpd="sng" w="12700">
                      <a:solidFill>
                        <a:srgbClr val="C3BFB8"/>
                      </a:solidFill>
                      <a:prstDash val="solid"/>
                      <a:round/>
                      <a:headEnd len="sm" w="sm" type="none"/>
                      <a:tailEnd len="sm" w="sm" type="none"/>
                    </a:lnL>
                    <a:lnR cap="flat" cmpd="sng" w="12700">
                      <a:solidFill>
                        <a:srgbClr val="C3BFB8"/>
                      </a:solidFill>
                      <a:prstDash val="solid"/>
                      <a:round/>
                      <a:headEnd len="sm" w="sm" type="none"/>
                      <a:tailEnd len="sm" w="sm" type="none"/>
                    </a:lnR>
                    <a:lnT cap="flat" cmpd="sng" w="12700">
                      <a:solidFill>
                        <a:srgbClr val="C3BFB8"/>
                      </a:solidFill>
                      <a:prstDash val="solid"/>
                      <a:round/>
                      <a:headEnd len="sm" w="sm" type="none"/>
                      <a:tailEnd len="sm" w="sm" type="none"/>
                    </a:lnT>
                    <a:lnB cap="flat" cmpd="sng" w="12700">
                      <a:solidFill>
                        <a:srgbClr val="C3BFB8"/>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384D86"/>
                        </a:buClr>
                        <a:buSzPts val="1500"/>
                        <a:buFont typeface="Tiro Bangla"/>
                        <a:buNone/>
                      </a:pPr>
                      <a:r>
                        <a:rPr lang="en-US" sz="1500" u="none" cap="none" strike="noStrike">
                          <a:solidFill>
                            <a:srgbClr val="384D86"/>
                          </a:solidFill>
                          <a:latin typeface="Tiro Bangla"/>
                          <a:ea typeface="Tiro Bangla"/>
                          <a:cs typeface="Tiro Bangla"/>
                          <a:sym typeface="Tiro Bangla"/>
                        </a:rPr>
                        <a:t>২.৬ লাখ</a:t>
                      </a:r>
                      <a:endParaRPr sz="1500" u="none" cap="none" strike="noStrike">
                        <a:latin typeface="Tiro Bangla"/>
                        <a:ea typeface="Tiro Bangla"/>
                        <a:cs typeface="Tiro Bangla"/>
                        <a:sym typeface="Tiro Bangla"/>
                      </a:endParaRPr>
                    </a:p>
                  </a:txBody>
                  <a:tcPr marT="66675" marB="66675" marR="66675" marL="66675">
                    <a:lnL cap="flat" cmpd="sng" w="12700">
                      <a:solidFill>
                        <a:srgbClr val="C3BFB8"/>
                      </a:solidFill>
                      <a:prstDash val="solid"/>
                      <a:round/>
                      <a:headEnd len="sm" w="sm" type="none"/>
                      <a:tailEnd len="sm" w="sm" type="none"/>
                    </a:lnL>
                    <a:lnR cap="flat" cmpd="sng" w="12700">
                      <a:solidFill>
                        <a:srgbClr val="C3BFB8"/>
                      </a:solidFill>
                      <a:prstDash val="solid"/>
                      <a:round/>
                      <a:headEnd len="sm" w="sm" type="none"/>
                      <a:tailEnd len="sm" w="sm" type="none"/>
                    </a:lnR>
                    <a:lnT cap="flat" cmpd="sng" w="12700">
                      <a:solidFill>
                        <a:srgbClr val="C3BFB8"/>
                      </a:solidFill>
                      <a:prstDash val="solid"/>
                      <a:round/>
                      <a:headEnd len="sm" w="sm" type="none"/>
                      <a:tailEnd len="sm" w="sm" type="none"/>
                    </a:lnT>
                    <a:lnB cap="flat" cmpd="sng" w="12700">
                      <a:solidFill>
                        <a:srgbClr val="C3BFB8"/>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384D86"/>
                        </a:buClr>
                        <a:buSzPts val="1500"/>
                        <a:buFont typeface="Tiro Bangla"/>
                        <a:buNone/>
                      </a:pPr>
                      <a:r>
                        <a:rPr lang="en-US" sz="1500" u="none" cap="none" strike="noStrike">
                          <a:solidFill>
                            <a:srgbClr val="384D86"/>
                          </a:solidFill>
                          <a:latin typeface="Tiro Bangla"/>
                          <a:ea typeface="Tiro Bangla"/>
                          <a:cs typeface="Tiro Bangla"/>
                          <a:sym typeface="Tiro Bangla"/>
                        </a:rPr>
                        <a:t>+১০%</a:t>
                      </a:r>
                      <a:endParaRPr sz="1500" u="none" cap="none" strike="noStrike">
                        <a:latin typeface="Tiro Bangla"/>
                        <a:ea typeface="Tiro Bangla"/>
                        <a:cs typeface="Tiro Bangla"/>
                        <a:sym typeface="Tiro Bangla"/>
                      </a:endParaRPr>
                    </a:p>
                  </a:txBody>
                  <a:tcPr marT="66675" marB="66675" marR="66675" marL="66675">
                    <a:lnL cap="flat" cmpd="sng" w="12700">
                      <a:solidFill>
                        <a:srgbClr val="C3BFB8"/>
                      </a:solidFill>
                      <a:prstDash val="solid"/>
                      <a:round/>
                      <a:headEnd len="sm" w="sm" type="none"/>
                      <a:tailEnd len="sm" w="sm" type="none"/>
                    </a:lnL>
                    <a:lnR cap="flat" cmpd="sng" w="12700">
                      <a:solidFill>
                        <a:srgbClr val="C3BFB8"/>
                      </a:solidFill>
                      <a:prstDash val="solid"/>
                      <a:round/>
                      <a:headEnd len="sm" w="sm" type="none"/>
                      <a:tailEnd len="sm" w="sm" type="none"/>
                    </a:lnR>
                    <a:lnT cap="flat" cmpd="sng" w="12700">
                      <a:solidFill>
                        <a:srgbClr val="C3BFB8"/>
                      </a:solidFill>
                      <a:prstDash val="solid"/>
                      <a:round/>
                      <a:headEnd len="sm" w="sm" type="none"/>
                      <a:tailEnd len="sm" w="sm" type="none"/>
                    </a:lnT>
                    <a:lnB cap="flat" cmpd="sng" w="12700">
                      <a:solidFill>
                        <a:srgbClr val="C3BFB8"/>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384D86"/>
                        </a:buClr>
                        <a:buSzPts val="1500"/>
                        <a:buFont typeface="Tiro Bangla"/>
                        <a:buNone/>
                      </a:pPr>
                      <a:r>
                        <a:rPr lang="en-US" sz="1500" u="none" cap="none" strike="noStrike">
                          <a:solidFill>
                            <a:srgbClr val="384D86"/>
                          </a:solidFill>
                          <a:latin typeface="Tiro Bangla"/>
                          <a:ea typeface="Tiro Bangla"/>
                          <a:cs typeface="Tiro Bangla"/>
                          <a:sym typeface="Tiro Bangla"/>
                        </a:rPr>
                        <a:t>+২৬%</a:t>
                      </a:r>
                      <a:endParaRPr sz="1500" u="none" cap="none" strike="noStrike">
                        <a:latin typeface="Tiro Bangla"/>
                        <a:ea typeface="Tiro Bangla"/>
                        <a:cs typeface="Tiro Bangla"/>
                        <a:sym typeface="Tiro Bangla"/>
                      </a:endParaRPr>
                    </a:p>
                  </a:txBody>
                  <a:tcPr marT="66675" marB="66675" marR="66675" marL="66675">
                    <a:lnL cap="flat" cmpd="sng" w="12700">
                      <a:solidFill>
                        <a:srgbClr val="C3BFB8"/>
                      </a:solidFill>
                      <a:prstDash val="solid"/>
                      <a:round/>
                      <a:headEnd len="sm" w="sm" type="none"/>
                      <a:tailEnd len="sm" w="sm" type="none"/>
                    </a:lnL>
                    <a:lnR cap="flat" cmpd="sng" w="12700">
                      <a:solidFill>
                        <a:srgbClr val="C3BFB8"/>
                      </a:solidFill>
                      <a:prstDash val="solid"/>
                      <a:round/>
                      <a:headEnd len="sm" w="sm" type="none"/>
                      <a:tailEnd len="sm" w="sm" type="none"/>
                    </a:lnR>
                    <a:lnT cap="flat" cmpd="sng" w="12700">
                      <a:solidFill>
                        <a:srgbClr val="C3BFB8"/>
                      </a:solidFill>
                      <a:prstDash val="solid"/>
                      <a:round/>
                      <a:headEnd len="sm" w="sm" type="none"/>
                      <a:tailEnd len="sm" w="sm" type="none"/>
                    </a:lnT>
                    <a:lnB cap="flat" cmpd="sng" w="12700">
                      <a:solidFill>
                        <a:srgbClr val="C3BFB8"/>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5F6A8A"/>
                        </a:buClr>
                        <a:buSzPts val="1500"/>
                        <a:buFont typeface="Tiro Bangla"/>
                        <a:buNone/>
                      </a:pPr>
                      <a:r>
                        <a:rPr lang="en-US" sz="1500" u="none" cap="none" strike="noStrike">
                          <a:solidFill>
                            <a:srgbClr val="5F6A8A"/>
                          </a:solidFill>
                          <a:latin typeface="Tiro Bangla"/>
                          <a:ea typeface="Tiro Bangla"/>
                          <a:cs typeface="Tiro Bangla"/>
                          <a:sym typeface="Tiro Bangla"/>
                        </a:rPr>
                        <a:t>৮৩%</a:t>
                      </a:r>
                      <a:endParaRPr sz="1500" u="none" cap="none" strike="noStrike">
                        <a:latin typeface="Tiro Bangla"/>
                        <a:ea typeface="Tiro Bangla"/>
                        <a:cs typeface="Tiro Bangla"/>
                        <a:sym typeface="Tiro Bangla"/>
                      </a:endParaRPr>
                    </a:p>
                  </a:txBody>
                  <a:tcPr marT="66675" marB="66675" marR="66675" marL="66675">
                    <a:lnL cap="flat" cmpd="sng" w="12700">
                      <a:solidFill>
                        <a:srgbClr val="C3BFB8"/>
                      </a:solidFill>
                      <a:prstDash val="solid"/>
                      <a:round/>
                      <a:headEnd len="sm" w="sm" type="none"/>
                      <a:tailEnd len="sm" w="sm" type="none"/>
                    </a:lnL>
                    <a:lnR cap="flat" cmpd="sng" w="12700">
                      <a:solidFill>
                        <a:srgbClr val="C3BFB8"/>
                      </a:solidFill>
                      <a:prstDash val="solid"/>
                      <a:round/>
                      <a:headEnd len="sm" w="sm" type="none"/>
                      <a:tailEnd len="sm" w="sm" type="none"/>
                    </a:lnR>
                    <a:lnT cap="flat" cmpd="sng" w="12700">
                      <a:solidFill>
                        <a:srgbClr val="C3BFB8"/>
                      </a:solidFill>
                      <a:prstDash val="solid"/>
                      <a:round/>
                      <a:headEnd len="sm" w="sm" type="none"/>
                      <a:tailEnd len="sm" w="sm" type="none"/>
                    </a:lnT>
                    <a:lnB cap="flat" cmpd="sng" w="12700">
                      <a:solidFill>
                        <a:srgbClr val="C3BFB8"/>
                      </a:solidFill>
                      <a:prstDash val="solid"/>
                      <a:round/>
                      <a:headEnd len="sm" w="sm" type="none"/>
                      <a:tailEnd len="sm" w="sm" type="none"/>
                    </a:lnB>
                  </a:tcPr>
                </a:tc>
              </a:tr>
              <a:tr h="412750">
                <a:tc>
                  <a:txBody>
                    <a:bodyPr/>
                    <a:lstStyle/>
                    <a:p>
                      <a:pPr indent="0" lvl="0" marL="0" marR="0" rtl="0" algn="l">
                        <a:lnSpc>
                          <a:spcPct val="140000"/>
                        </a:lnSpc>
                        <a:spcBef>
                          <a:spcPts val="0"/>
                        </a:spcBef>
                        <a:spcAft>
                          <a:spcPts val="0"/>
                        </a:spcAft>
                        <a:buClr>
                          <a:srgbClr val="384D86"/>
                        </a:buClr>
                        <a:buSzPts val="1500"/>
                        <a:buFont typeface="Tiro Bangla"/>
                        <a:buNone/>
                      </a:pPr>
                      <a:r>
                        <a:rPr lang="en-US" sz="1500" u="none" cap="none" strike="noStrike">
                          <a:solidFill>
                            <a:srgbClr val="384D86"/>
                          </a:solidFill>
                          <a:latin typeface="Tiro Bangla"/>
                          <a:ea typeface="Tiro Bangla"/>
                          <a:cs typeface="Tiro Bangla"/>
                          <a:sym typeface="Tiro Bangla"/>
                        </a:rPr>
                        <a:t>উইকিউক্তি</a:t>
                      </a:r>
                      <a:endParaRPr sz="1500" u="none" cap="none" strike="noStrike">
                        <a:latin typeface="Tiro Bangla"/>
                        <a:ea typeface="Tiro Bangla"/>
                        <a:cs typeface="Tiro Bangla"/>
                        <a:sym typeface="Tiro Bangla"/>
                      </a:endParaRPr>
                    </a:p>
                  </a:txBody>
                  <a:tcPr marT="66675" marB="66675" marR="66675" marL="66675">
                    <a:lnL cap="flat" cmpd="sng" w="12700">
                      <a:solidFill>
                        <a:srgbClr val="C3BFB8"/>
                      </a:solidFill>
                      <a:prstDash val="solid"/>
                      <a:round/>
                      <a:headEnd len="sm" w="sm" type="none"/>
                      <a:tailEnd len="sm" w="sm" type="none"/>
                    </a:lnL>
                    <a:lnR cap="flat" cmpd="sng" w="12700">
                      <a:solidFill>
                        <a:srgbClr val="C3BFB8"/>
                      </a:solidFill>
                      <a:prstDash val="solid"/>
                      <a:round/>
                      <a:headEnd len="sm" w="sm" type="none"/>
                      <a:tailEnd len="sm" w="sm" type="none"/>
                    </a:lnR>
                    <a:lnT cap="flat" cmpd="sng" w="12700">
                      <a:solidFill>
                        <a:srgbClr val="C3BFB8"/>
                      </a:solidFill>
                      <a:prstDash val="solid"/>
                      <a:round/>
                      <a:headEnd len="sm" w="sm" type="none"/>
                      <a:tailEnd len="sm" w="sm" type="none"/>
                    </a:lnT>
                    <a:lnB cap="flat" cmpd="sng" w="12700">
                      <a:solidFill>
                        <a:srgbClr val="C3BFB8"/>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384D86"/>
                        </a:buClr>
                        <a:buSzPts val="1500"/>
                        <a:buFont typeface="Tiro Bangla"/>
                        <a:buNone/>
                      </a:pPr>
                      <a:r>
                        <a:rPr lang="en-US" sz="1500" u="none" cap="none" strike="noStrike">
                          <a:solidFill>
                            <a:srgbClr val="384D86"/>
                          </a:solidFill>
                          <a:latin typeface="Tiro Bangla"/>
                          <a:ea typeface="Tiro Bangla"/>
                          <a:cs typeface="Tiro Bangla"/>
                          <a:sym typeface="Tiro Bangla"/>
                        </a:rPr>
                        <a:t>২.৫ লাখ</a:t>
                      </a:r>
                      <a:endParaRPr sz="1500" u="none" cap="none" strike="noStrike">
                        <a:latin typeface="Tiro Bangla"/>
                        <a:ea typeface="Tiro Bangla"/>
                        <a:cs typeface="Tiro Bangla"/>
                        <a:sym typeface="Tiro Bangla"/>
                      </a:endParaRPr>
                    </a:p>
                  </a:txBody>
                  <a:tcPr marT="66675" marB="66675" marR="66675" marL="66675">
                    <a:lnL cap="flat" cmpd="sng" w="12700">
                      <a:solidFill>
                        <a:srgbClr val="C3BFB8"/>
                      </a:solidFill>
                      <a:prstDash val="solid"/>
                      <a:round/>
                      <a:headEnd len="sm" w="sm" type="none"/>
                      <a:tailEnd len="sm" w="sm" type="none"/>
                    </a:lnL>
                    <a:lnR cap="flat" cmpd="sng" w="12700">
                      <a:solidFill>
                        <a:srgbClr val="C3BFB8"/>
                      </a:solidFill>
                      <a:prstDash val="solid"/>
                      <a:round/>
                      <a:headEnd len="sm" w="sm" type="none"/>
                      <a:tailEnd len="sm" w="sm" type="none"/>
                    </a:lnR>
                    <a:lnT cap="flat" cmpd="sng" w="12700">
                      <a:solidFill>
                        <a:srgbClr val="C3BFB8"/>
                      </a:solidFill>
                      <a:prstDash val="solid"/>
                      <a:round/>
                      <a:headEnd len="sm" w="sm" type="none"/>
                      <a:tailEnd len="sm" w="sm" type="none"/>
                    </a:lnT>
                    <a:lnB cap="flat" cmpd="sng" w="12700">
                      <a:solidFill>
                        <a:srgbClr val="C3BFB8"/>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384D86"/>
                        </a:buClr>
                        <a:buSzPts val="1500"/>
                        <a:buFont typeface="Tiro Bangla"/>
                        <a:buNone/>
                      </a:pPr>
                      <a:r>
                        <a:rPr lang="en-US" sz="1500" u="none" cap="none" strike="noStrike">
                          <a:solidFill>
                            <a:srgbClr val="384D86"/>
                          </a:solidFill>
                          <a:latin typeface="Tiro Bangla"/>
                          <a:ea typeface="Tiro Bangla"/>
                          <a:cs typeface="Tiro Bangla"/>
                          <a:sym typeface="Tiro Bangla"/>
                        </a:rPr>
                        <a:t>+১৫৭%</a:t>
                      </a:r>
                      <a:endParaRPr sz="1500" u="none" cap="none" strike="noStrike">
                        <a:latin typeface="Tiro Bangla"/>
                        <a:ea typeface="Tiro Bangla"/>
                        <a:cs typeface="Tiro Bangla"/>
                        <a:sym typeface="Tiro Bangla"/>
                      </a:endParaRPr>
                    </a:p>
                  </a:txBody>
                  <a:tcPr marT="66675" marB="66675" marR="66675" marL="66675">
                    <a:lnL cap="flat" cmpd="sng" w="12700">
                      <a:solidFill>
                        <a:srgbClr val="C3BFB8"/>
                      </a:solidFill>
                      <a:prstDash val="solid"/>
                      <a:round/>
                      <a:headEnd len="sm" w="sm" type="none"/>
                      <a:tailEnd len="sm" w="sm" type="none"/>
                    </a:lnL>
                    <a:lnR cap="flat" cmpd="sng" w="12700">
                      <a:solidFill>
                        <a:srgbClr val="C3BFB8"/>
                      </a:solidFill>
                      <a:prstDash val="solid"/>
                      <a:round/>
                      <a:headEnd len="sm" w="sm" type="none"/>
                      <a:tailEnd len="sm" w="sm" type="none"/>
                    </a:lnR>
                    <a:lnT cap="flat" cmpd="sng" w="12700">
                      <a:solidFill>
                        <a:srgbClr val="C3BFB8"/>
                      </a:solidFill>
                      <a:prstDash val="solid"/>
                      <a:round/>
                      <a:headEnd len="sm" w="sm" type="none"/>
                      <a:tailEnd len="sm" w="sm" type="none"/>
                    </a:lnT>
                    <a:lnB cap="flat" cmpd="sng" w="12700">
                      <a:solidFill>
                        <a:srgbClr val="C3BFB8"/>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384D86"/>
                        </a:buClr>
                        <a:buSzPts val="1500"/>
                        <a:buFont typeface="Tiro Bangla"/>
                        <a:buNone/>
                      </a:pPr>
                      <a:r>
                        <a:rPr lang="en-US" sz="1500" u="none" cap="none" strike="noStrike">
                          <a:solidFill>
                            <a:srgbClr val="384D86"/>
                          </a:solidFill>
                          <a:latin typeface="Tiro Bangla"/>
                          <a:ea typeface="Tiro Bangla"/>
                          <a:cs typeface="Tiro Bangla"/>
                          <a:sym typeface="Tiro Bangla"/>
                        </a:rPr>
                        <a:t>+৬৮%</a:t>
                      </a:r>
                      <a:endParaRPr sz="1500" u="none" cap="none" strike="noStrike">
                        <a:latin typeface="Tiro Bangla"/>
                        <a:ea typeface="Tiro Bangla"/>
                        <a:cs typeface="Tiro Bangla"/>
                        <a:sym typeface="Tiro Bangla"/>
                      </a:endParaRPr>
                    </a:p>
                  </a:txBody>
                  <a:tcPr marT="66675" marB="66675" marR="66675" marL="66675">
                    <a:lnL cap="flat" cmpd="sng" w="12700">
                      <a:solidFill>
                        <a:srgbClr val="C3BFB8"/>
                      </a:solidFill>
                      <a:prstDash val="solid"/>
                      <a:round/>
                      <a:headEnd len="sm" w="sm" type="none"/>
                      <a:tailEnd len="sm" w="sm" type="none"/>
                    </a:lnL>
                    <a:lnR cap="flat" cmpd="sng" w="12700">
                      <a:solidFill>
                        <a:srgbClr val="C3BFB8"/>
                      </a:solidFill>
                      <a:prstDash val="solid"/>
                      <a:round/>
                      <a:headEnd len="sm" w="sm" type="none"/>
                      <a:tailEnd len="sm" w="sm" type="none"/>
                    </a:lnR>
                    <a:lnT cap="flat" cmpd="sng" w="12700">
                      <a:solidFill>
                        <a:srgbClr val="C3BFB8"/>
                      </a:solidFill>
                      <a:prstDash val="solid"/>
                      <a:round/>
                      <a:headEnd len="sm" w="sm" type="none"/>
                      <a:tailEnd len="sm" w="sm" type="none"/>
                    </a:lnT>
                    <a:lnB cap="flat" cmpd="sng" w="12700">
                      <a:solidFill>
                        <a:srgbClr val="C3BFB8"/>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5F6A8A"/>
                        </a:buClr>
                        <a:buSzPts val="1500"/>
                        <a:buFont typeface="Tiro Bangla"/>
                        <a:buNone/>
                      </a:pPr>
                      <a:r>
                        <a:rPr lang="en-US" sz="1500" u="none" cap="none" strike="noStrike">
                          <a:solidFill>
                            <a:srgbClr val="5F6A8A"/>
                          </a:solidFill>
                          <a:latin typeface="Tiro Bangla"/>
                          <a:ea typeface="Tiro Bangla"/>
                          <a:cs typeface="Tiro Bangla"/>
                          <a:sym typeface="Tiro Bangla"/>
                        </a:rPr>
                        <a:t>৮১%</a:t>
                      </a:r>
                      <a:endParaRPr sz="1500" u="none" cap="none" strike="noStrike">
                        <a:latin typeface="Tiro Bangla"/>
                        <a:ea typeface="Tiro Bangla"/>
                        <a:cs typeface="Tiro Bangla"/>
                        <a:sym typeface="Tiro Bangla"/>
                      </a:endParaRPr>
                    </a:p>
                  </a:txBody>
                  <a:tcPr marT="66675" marB="66675" marR="66675" marL="66675">
                    <a:lnL cap="flat" cmpd="sng" w="12700">
                      <a:solidFill>
                        <a:srgbClr val="C3BFB8"/>
                      </a:solidFill>
                      <a:prstDash val="solid"/>
                      <a:round/>
                      <a:headEnd len="sm" w="sm" type="none"/>
                      <a:tailEnd len="sm" w="sm" type="none"/>
                    </a:lnL>
                    <a:lnR cap="flat" cmpd="sng" w="12700">
                      <a:solidFill>
                        <a:srgbClr val="C3BFB8"/>
                      </a:solidFill>
                      <a:prstDash val="solid"/>
                      <a:round/>
                      <a:headEnd len="sm" w="sm" type="none"/>
                      <a:tailEnd len="sm" w="sm" type="none"/>
                    </a:lnR>
                    <a:lnT cap="flat" cmpd="sng" w="12700">
                      <a:solidFill>
                        <a:srgbClr val="C3BFB8"/>
                      </a:solidFill>
                      <a:prstDash val="solid"/>
                      <a:round/>
                      <a:headEnd len="sm" w="sm" type="none"/>
                      <a:tailEnd len="sm" w="sm" type="none"/>
                    </a:lnT>
                    <a:lnB cap="flat" cmpd="sng" w="12700">
                      <a:solidFill>
                        <a:srgbClr val="C3BFB8"/>
                      </a:solidFill>
                      <a:prstDash val="solid"/>
                      <a:round/>
                      <a:headEnd len="sm" w="sm" type="none"/>
                      <a:tailEnd len="sm" w="sm" type="none"/>
                    </a:lnB>
                  </a:tcPr>
                </a:tc>
              </a:tr>
              <a:tr h="412750">
                <a:tc>
                  <a:txBody>
                    <a:bodyPr/>
                    <a:lstStyle/>
                    <a:p>
                      <a:pPr indent="0" lvl="0" marL="0" marR="0" rtl="0" algn="l">
                        <a:lnSpc>
                          <a:spcPct val="140000"/>
                        </a:lnSpc>
                        <a:spcBef>
                          <a:spcPts val="0"/>
                        </a:spcBef>
                        <a:spcAft>
                          <a:spcPts val="0"/>
                        </a:spcAft>
                        <a:buClr>
                          <a:srgbClr val="384D86"/>
                        </a:buClr>
                        <a:buSzPts val="1500"/>
                        <a:buFont typeface="Tiro Bangla"/>
                        <a:buNone/>
                      </a:pPr>
                      <a:r>
                        <a:rPr lang="en-US" sz="1500" u="none" cap="none" strike="noStrike">
                          <a:solidFill>
                            <a:srgbClr val="384D86"/>
                          </a:solidFill>
                          <a:latin typeface="Tiro Bangla"/>
                          <a:ea typeface="Tiro Bangla"/>
                          <a:cs typeface="Tiro Bangla"/>
                          <a:sym typeface="Tiro Bangla"/>
                        </a:rPr>
                        <a:t>উইকিভ্রমণ</a:t>
                      </a:r>
                      <a:endParaRPr sz="1500" u="none" cap="none" strike="noStrike">
                        <a:latin typeface="Tiro Bangla"/>
                        <a:ea typeface="Tiro Bangla"/>
                        <a:cs typeface="Tiro Bangla"/>
                        <a:sym typeface="Tiro Bangla"/>
                      </a:endParaRPr>
                    </a:p>
                  </a:txBody>
                  <a:tcPr marT="66675" marB="66675" marR="66675" marL="66675">
                    <a:lnL cap="flat" cmpd="sng" w="12700">
                      <a:solidFill>
                        <a:srgbClr val="C3BFB8"/>
                      </a:solidFill>
                      <a:prstDash val="solid"/>
                      <a:round/>
                      <a:headEnd len="sm" w="sm" type="none"/>
                      <a:tailEnd len="sm" w="sm" type="none"/>
                    </a:lnL>
                    <a:lnR cap="flat" cmpd="sng" w="12700">
                      <a:solidFill>
                        <a:srgbClr val="C3BFB8"/>
                      </a:solidFill>
                      <a:prstDash val="solid"/>
                      <a:round/>
                      <a:headEnd len="sm" w="sm" type="none"/>
                      <a:tailEnd len="sm" w="sm" type="none"/>
                    </a:lnR>
                    <a:lnT cap="flat" cmpd="sng" w="12700">
                      <a:solidFill>
                        <a:srgbClr val="C3BFB8"/>
                      </a:solidFill>
                      <a:prstDash val="solid"/>
                      <a:round/>
                      <a:headEnd len="sm" w="sm" type="none"/>
                      <a:tailEnd len="sm" w="sm" type="none"/>
                    </a:lnT>
                    <a:lnB cap="flat" cmpd="sng" w="12700">
                      <a:solidFill>
                        <a:srgbClr val="C3BFB8"/>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384D86"/>
                        </a:buClr>
                        <a:buSzPts val="1500"/>
                        <a:buFont typeface="Tiro Bangla"/>
                        <a:buNone/>
                      </a:pPr>
                      <a:r>
                        <a:rPr lang="en-US" sz="1500" u="none" cap="none" strike="noStrike">
                          <a:solidFill>
                            <a:srgbClr val="384D86"/>
                          </a:solidFill>
                          <a:latin typeface="Tiro Bangla"/>
                          <a:ea typeface="Tiro Bangla"/>
                          <a:cs typeface="Tiro Bangla"/>
                          <a:sym typeface="Tiro Bangla"/>
                        </a:rPr>
                        <a:t>১.৩ লাখ</a:t>
                      </a:r>
                      <a:endParaRPr sz="1500" u="none" cap="none" strike="noStrike">
                        <a:latin typeface="Tiro Bangla"/>
                        <a:ea typeface="Tiro Bangla"/>
                        <a:cs typeface="Tiro Bangla"/>
                        <a:sym typeface="Tiro Bangla"/>
                      </a:endParaRPr>
                    </a:p>
                  </a:txBody>
                  <a:tcPr marT="66675" marB="66675" marR="66675" marL="66675">
                    <a:lnL cap="flat" cmpd="sng" w="12700">
                      <a:solidFill>
                        <a:srgbClr val="C3BFB8"/>
                      </a:solidFill>
                      <a:prstDash val="solid"/>
                      <a:round/>
                      <a:headEnd len="sm" w="sm" type="none"/>
                      <a:tailEnd len="sm" w="sm" type="none"/>
                    </a:lnL>
                    <a:lnR cap="flat" cmpd="sng" w="12700">
                      <a:solidFill>
                        <a:srgbClr val="C3BFB8"/>
                      </a:solidFill>
                      <a:prstDash val="solid"/>
                      <a:round/>
                      <a:headEnd len="sm" w="sm" type="none"/>
                      <a:tailEnd len="sm" w="sm" type="none"/>
                    </a:lnR>
                    <a:lnT cap="flat" cmpd="sng" w="12700">
                      <a:solidFill>
                        <a:srgbClr val="C3BFB8"/>
                      </a:solidFill>
                      <a:prstDash val="solid"/>
                      <a:round/>
                      <a:headEnd len="sm" w="sm" type="none"/>
                      <a:tailEnd len="sm" w="sm" type="none"/>
                    </a:lnT>
                    <a:lnB cap="flat" cmpd="sng" w="12700">
                      <a:solidFill>
                        <a:srgbClr val="C3BFB8"/>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384D86"/>
                        </a:buClr>
                        <a:buSzPts val="1500"/>
                        <a:buFont typeface="Tiro Bangla"/>
                        <a:buNone/>
                      </a:pPr>
                      <a:r>
                        <a:rPr lang="en-US" sz="1500" u="none" cap="none" strike="noStrike">
                          <a:solidFill>
                            <a:srgbClr val="384D86"/>
                          </a:solidFill>
                          <a:latin typeface="Tiro Bangla"/>
                          <a:ea typeface="Tiro Bangla"/>
                          <a:cs typeface="Tiro Bangla"/>
                          <a:sym typeface="Tiro Bangla"/>
                        </a:rPr>
                        <a:t>+৩%</a:t>
                      </a:r>
                      <a:endParaRPr sz="1500" u="none" cap="none" strike="noStrike">
                        <a:latin typeface="Tiro Bangla"/>
                        <a:ea typeface="Tiro Bangla"/>
                        <a:cs typeface="Tiro Bangla"/>
                        <a:sym typeface="Tiro Bangla"/>
                      </a:endParaRPr>
                    </a:p>
                  </a:txBody>
                  <a:tcPr marT="66675" marB="66675" marR="66675" marL="66675">
                    <a:lnL cap="flat" cmpd="sng" w="12700">
                      <a:solidFill>
                        <a:srgbClr val="C3BFB8"/>
                      </a:solidFill>
                      <a:prstDash val="solid"/>
                      <a:round/>
                      <a:headEnd len="sm" w="sm" type="none"/>
                      <a:tailEnd len="sm" w="sm" type="none"/>
                    </a:lnL>
                    <a:lnR cap="flat" cmpd="sng" w="12700">
                      <a:solidFill>
                        <a:srgbClr val="C3BFB8"/>
                      </a:solidFill>
                      <a:prstDash val="solid"/>
                      <a:round/>
                      <a:headEnd len="sm" w="sm" type="none"/>
                      <a:tailEnd len="sm" w="sm" type="none"/>
                    </a:lnR>
                    <a:lnT cap="flat" cmpd="sng" w="12700">
                      <a:solidFill>
                        <a:srgbClr val="C3BFB8"/>
                      </a:solidFill>
                      <a:prstDash val="solid"/>
                      <a:round/>
                      <a:headEnd len="sm" w="sm" type="none"/>
                      <a:tailEnd len="sm" w="sm" type="none"/>
                    </a:lnT>
                    <a:lnB cap="flat" cmpd="sng" w="12700">
                      <a:solidFill>
                        <a:srgbClr val="C3BFB8"/>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384D86"/>
                        </a:buClr>
                        <a:buSzPts val="1500"/>
                        <a:buFont typeface="Tiro Bangla"/>
                        <a:buNone/>
                      </a:pPr>
                      <a:r>
                        <a:rPr lang="en-US" sz="1500" u="none" cap="none" strike="noStrike">
                          <a:solidFill>
                            <a:srgbClr val="384D86"/>
                          </a:solidFill>
                          <a:latin typeface="Tiro Bangla"/>
                          <a:ea typeface="Tiro Bangla"/>
                          <a:cs typeface="Tiro Bangla"/>
                          <a:sym typeface="Tiro Bangla"/>
                        </a:rPr>
                        <a:t>+৩৭%</a:t>
                      </a:r>
                      <a:endParaRPr sz="1500" u="none" cap="none" strike="noStrike">
                        <a:latin typeface="Tiro Bangla"/>
                        <a:ea typeface="Tiro Bangla"/>
                        <a:cs typeface="Tiro Bangla"/>
                        <a:sym typeface="Tiro Bangla"/>
                      </a:endParaRPr>
                    </a:p>
                  </a:txBody>
                  <a:tcPr marT="66675" marB="66675" marR="66675" marL="66675">
                    <a:lnL cap="flat" cmpd="sng" w="12700">
                      <a:solidFill>
                        <a:srgbClr val="C3BFB8"/>
                      </a:solidFill>
                      <a:prstDash val="solid"/>
                      <a:round/>
                      <a:headEnd len="sm" w="sm" type="none"/>
                      <a:tailEnd len="sm" w="sm" type="none"/>
                    </a:lnL>
                    <a:lnR cap="flat" cmpd="sng" w="12700">
                      <a:solidFill>
                        <a:srgbClr val="C3BFB8"/>
                      </a:solidFill>
                      <a:prstDash val="solid"/>
                      <a:round/>
                      <a:headEnd len="sm" w="sm" type="none"/>
                      <a:tailEnd len="sm" w="sm" type="none"/>
                    </a:lnR>
                    <a:lnT cap="flat" cmpd="sng" w="12700">
                      <a:solidFill>
                        <a:srgbClr val="C3BFB8"/>
                      </a:solidFill>
                      <a:prstDash val="solid"/>
                      <a:round/>
                      <a:headEnd len="sm" w="sm" type="none"/>
                      <a:tailEnd len="sm" w="sm" type="none"/>
                    </a:lnT>
                    <a:lnB cap="flat" cmpd="sng" w="12700">
                      <a:solidFill>
                        <a:srgbClr val="C3BFB8"/>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5F6A8A"/>
                        </a:buClr>
                        <a:buSzPts val="1500"/>
                        <a:buFont typeface="Tiro Bangla"/>
                        <a:buNone/>
                      </a:pPr>
                      <a:r>
                        <a:rPr lang="en-US" sz="1500" u="none" cap="none" strike="noStrike">
                          <a:solidFill>
                            <a:srgbClr val="5F6A8A"/>
                          </a:solidFill>
                          <a:latin typeface="Tiro Bangla"/>
                          <a:ea typeface="Tiro Bangla"/>
                          <a:cs typeface="Tiro Bangla"/>
                          <a:sym typeface="Tiro Bangla"/>
                        </a:rPr>
                        <a:t>৮৫%</a:t>
                      </a:r>
                      <a:endParaRPr sz="1500" u="none" cap="none" strike="noStrike">
                        <a:latin typeface="Tiro Bangla"/>
                        <a:ea typeface="Tiro Bangla"/>
                        <a:cs typeface="Tiro Bangla"/>
                        <a:sym typeface="Tiro Bangla"/>
                      </a:endParaRPr>
                    </a:p>
                  </a:txBody>
                  <a:tcPr marT="66675" marB="66675" marR="66675" marL="66675">
                    <a:lnL cap="flat" cmpd="sng" w="12700">
                      <a:solidFill>
                        <a:srgbClr val="C3BFB8"/>
                      </a:solidFill>
                      <a:prstDash val="solid"/>
                      <a:round/>
                      <a:headEnd len="sm" w="sm" type="none"/>
                      <a:tailEnd len="sm" w="sm" type="none"/>
                    </a:lnL>
                    <a:lnR cap="flat" cmpd="sng" w="12700">
                      <a:solidFill>
                        <a:srgbClr val="C3BFB8"/>
                      </a:solidFill>
                      <a:prstDash val="solid"/>
                      <a:round/>
                      <a:headEnd len="sm" w="sm" type="none"/>
                      <a:tailEnd len="sm" w="sm" type="none"/>
                    </a:lnR>
                    <a:lnT cap="flat" cmpd="sng" w="12700">
                      <a:solidFill>
                        <a:srgbClr val="C3BFB8"/>
                      </a:solidFill>
                      <a:prstDash val="solid"/>
                      <a:round/>
                      <a:headEnd len="sm" w="sm" type="none"/>
                      <a:tailEnd len="sm" w="sm" type="none"/>
                    </a:lnT>
                    <a:lnB cap="flat" cmpd="sng" w="12700">
                      <a:solidFill>
                        <a:srgbClr val="C3BFB8"/>
                      </a:solidFill>
                      <a:prstDash val="solid"/>
                      <a:round/>
                      <a:headEnd len="sm" w="sm" type="none"/>
                      <a:tailEnd len="sm" w="sm" type="none"/>
                    </a:lnB>
                  </a:tcPr>
                </a:tc>
              </a:tr>
              <a:tr h="412750">
                <a:tc>
                  <a:txBody>
                    <a:bodyPr/>
                    <a:lstStyle/>
                    <a:p>
                      <a:pPr indent="0" lvl="0" marL="0" marR="0" rtl="0" algn="l">
                        <a:lnSpc>
                          <a:spcPct val="140000"/>
                        </a:lnSpc>
                        <a:spcBef>
                          <a:spcPts val="0"/>
                        </a:spcBef>
                        <a:spcAft>
                          <a:spcPts val="0"/>
                        </a:spcAft>
                        <a:buClr>
                          <a:srgbClr val="384D86"/>
                        </a:buClr>
                        <a:buSzPts val="1500"/>
                        <a:buFont typeface="Tiro Bangla"/>
                        <a:buNone/>
                      </a:pPr>
                      <a:r>
                        <a:rPr lang="en-US" sz="1500" u="none" cap="none" strike="noStrike">
                          <a:solidFill>
                            <a:srgbClr val="384D86"/>
                          </a:solidFill>
                          <a:latin typeface="Tiro Bangla"/>
                          <a:ea typeface="Tiro Bangla"/>
                          <a:cs typeface="Tiro Bangla"/>
                          <a:sym typeface="Tiro Bangla"/>
                        </a:rPr>
                        <a:t>উইকিপিডিয়া (তুলনা)</a:t>
                      </a:r>
                      <a:endParaRPr sz="1500" u="none" cap="none" strike="noStrike">
                        <a:latin typeface="Tiro Bangla"/>
                        <a:ea typeface="Tiro Bangla"/>
                        <a:cs typeface="Tiro Bangla"/>
                        <a:sym typeface="Tiro Bangla"/>
                      </a:endParaRPr>
                    </a:p>
                  </a:txBody>
                  <a:tcPr marT="66675" marB="66675" marR="66675" marL="66675">
                    <a:lnL cap="flat" cmpd="sng" w="12700">
                      <a:solidFill>
                        <a:srgbClr val="C3BFB8"/>
                      </a:solidFill>
                      <a:prstDash val="solid"/>
                      <a:round/>
                      <a:headEnd len="sm" w="sm" type="none"/>
                      <a:tailEnd len="sm" w="sm" type="none"/>
                    </a:lnL>
                    <a:lnR cap="flat" cmpd="sng" w="12700">
                      <a:solidFill>
                        <a:srgbClr val="BBB2A3"/>
                      </a:solidFill>
                      <a:prstDash val="solid"/>
                      <a:round/>
                      <a:headEnd len="sm" w="sm" type="none"/>
                      <a:tailEnd len="sm" w="sm" type="none"/>
                    </a:lnR>
                    <a:lnT cap="flat" cmpd="sng" w="12700">
                      <a:solidFill>
                        <a:srgbClr val="C3BFB8"/>
                      </a:solidFill>
                      <a:prstDash val="solid"/>
                      <a:round/>
                      <a:headEnd len="sm" w="sm" type="none"/>
                      <a:tailEnd len="sm" w="sm" type="none"/>
                    </a:lnT>
                    <a:lnB cap="flat" cmpd="sng" w="12700">
                      <a:solidFill>
                        <a:srgbClr val="BBB2A3"/>
                      </a:solidFill>
                      <a:prstDash val="solid"/>
                      <a:round/>
                      <a:headEnd len="sm" w="sm" type="none"/>
                      <a:tailEnd len="sm" w="sm" type="none"/>
                    </a:lnB>
                    <a:solidFill>
                      <a:srgbClr val="FBEEBF"/>
                    </a:solidFill>
                  </a:tcPr>
                </a:tc>
                <a:tc>
                  <a:txBody>
                    <a:bodyPr/>
                    <a:lstStyle/>
                    <a:p>
                      <a:pPr indent="0" lvl="0" marL="0" marR="0" rtl="0" algn="r">
                        <a:lnSpc>
                          <a:spcPct val="140000"/>
                        </a:lnSpc>
                        <a:spcBef>
                          <a:spcPts val="0"/>
                        </a:spcBef>
                        <a:spcAft>
                          <a:spcPts val="0"/>
                        </a:spcAft>
                        <a:buClr>
                          <a:srgbClr val="384D86"/>
                        </a:buClr>
                        <a:buSzPts val="1500"/>
                        <a:buFont typeface="Tiro Bangla"/>
                        <a:buNone/>
                      </a:pPr>
                      <a:r>
                        <a:rPr lang="en-US" sz="1500" u="none" cap="none" strike="noStrike">
                          <a:solidFill>
                            <a:srgbClr val="384D86"/>
                          </a:solidFill>
                          <a:latin typeface="Tiro Bangla"/>
                          <a:ea typeface="Tiro Bangla"/>
                          <a:cs typeface="Tiro Bangla"/>
                          <a:sym typeface="Tiro Bangla"/>
                        </a:rPr>
                        <a:t>৯০ লাখ</a:t>
                      </a:r>
                      <a:endParaRPr sz="1500" u="none" cap="none" strike="noStrike">
                        <a:latin typeface="Tiro Bangla"/>
                        <a:ea typeface="Tiro Bangla"/>
                        <a:cs typeface="Tiro Bangla"/>
                        <a:sym typeface="Tiro Bangla"/>
                      </a:endParaRPr>
                    </a:p>
                  </a:txBody>
                  <a:tcPr marT="66675" marB="66675" marR="66675" marL="66675">
                    <a:lnL cap="flat" cmpd="sng" w="12700">
                      <a:solidFill>
                        <a:srgbClr val="BBB2A3"/>
                      </a:solidFill>
                      <a:prstDash val="solid"/>
                      <a:round/>
                      <a:headEnd len="sm" w="sm" type="none"/>
                      <a:tailEnd len="sm" w="sm" type="none"/>
                    </a:lnL>
                    <a:lnR cap="flat" cmpd="sng" w="12700">
                      <a:solidFill>
                        <a:srgbClr val="BBB2A3"/>
                      </a:solidFill>
                      <a:prstDash val="solid"/>
                      <a:round/>
                      <a:headEnd len="sm" w="sm" type="none"/>
                      <a:tailEnd len="sm" w="sm" type="none"/>
                    </a:lnR>
                    <a:lnT cap="flat" cmpd="sng" w="12700">
                      <a:solidFill>
                        <a:srgbClr val="C3BFB8"/>
                      </a:solidFill>
                      <a:prstDash val="solid"/>
                      <a:round/>
                      <a:headEnd len="sm" w="sm" type="none"/>
                      <a:tailEnd len="sm" w="sm" type="none"/>
                    </a:lnT>
                    <a:lnB cap="flat" cmpd="sng" w="12700">
                      <a:solidFill>
                        <a:srgbClr val="BBB2A3"/>
                      </a:solidFill>
                      <a:prstDash val="solid"/>
                      <a:round/>
                      <a:headEnd len="sm" w="sm" type="none"/>
                      <a:tailEnd len="sm" w="sm" type="none"/>
                    </a:lnB>
                    <a:solidFill>
                      <a:srgbClr val="FBEEBF"/>
                    </a:solidFill>
                  </a:tcPr>
                </a:tc>
                <a:tc>
                  <a:txBody>
                    <a:bodyPr/>
                    <a:lstStyle/>
                    <a:p>
                      <a:pPr indent="0" lvl="0" marL="0" marR="0" rtl="0" algn="r">
                        <a:lnSpc>
                          <a:spcPct val="140000"/>
                        </a:lnSpc>
                        <a:spcBef>
                          <a:spcPts val="0"/>
                        </a:spcBef>
                        <a:spcAft>
                          <a:spcPts val="0"/>
                        </a:spcAft>
                        <a:buClr>
                          <a:srgbClr val="C8501A"/>
                        </a:buClr>
                        <a:buSzPts val="1500"/>
                        <a:buFont typeface="Tiro Bangla"/>
                        <a:buNone/>
                      </a:pPr>
                      <a:r>
                        <a:rPr lang="en-US" sz="1500" u="none" cap="none" strike="noStrike">
                          <a:solidFill>
                            <a:srgbClr val="C8501A"/>
                          </a:solidFill>
                          <a:latin typeface="Tiro Bangla"/>
                          <a:ea typeface="Tiro Bangla"/>
                          <a:cs typeface="Tiro Bangla"/>
                          <a:sym typeface="Tiro Bangla"/>
                        </a:rPr>
                        <a:t>−৬৪%</a:t>
                      </a:r>
                      <a:endParaRPr sz="1500" u="none" cap="none" strike="noStrike">
                        <a:latin typeface="Tiro Bangla"/>
                        <a:ea typeface="Tiro Bangla"/>
                        <a:cs typeface="Tiro Bangla"/>
                        <a:sym typeface="Tiro Bangla"/>
                      </a:endParaRPr>
                    </a:p>
                  </a:txBody>
                  <a:tcPr marT="66675" marB="66675" marR="66675" marL="66675">
                    <a:lnL cap="flat" cmpd="sng" w="12700">
                      <a:solidFill>
                        <a:srgbClr val="BBB2A3"/>
                      </a:solidFill>
                      <a:prstDash val="solid"/>
                      <a:round/>
                      <a:headEnd len="sm" w="sm" type="none"/>
                      <a:tailEnd len="sm" w="sm" type="none"/>
                    </a:lnL>
                    <a:lnR cap="flat" cmpd="sng" w="12700">
                      <a:solidFill>
                        <a:srgbClr val="BBB2A3"/>
                      </a:solidFill>
                      <a:prstDash val="solid"/>
                      <a:round/>
                      <a:headEnd len="sm" w="sm" type="none"/>
                      <a:tailEnd len="sm" w="sm" type="none"/>
                    </a:lnR>
                    <a:lnT cap="flat" cmpd="sng" w="12700">
                      <a:solidFill>
                        <a:srgbClr val="C3BFB8"/>
                      </a:solidFill>
                      <a:prstDash val="solid"/>
                      <a:round/>
                      <a:headEnd len="sm" w="sm" type="none"/>
                      <a:tailEnd len="sm" w="sm" type="none"/>
                    </a:lnT>
                    <a:lnB cap="flat" cmpd="sng" w="12700">
                      <a:solidFill>
                        <a:srgbClr val="BBB2A3"/>
                      </a:solidFill>
                      <a:prstDash val="solid"/>
                      <a:round/>
                      <a:headEnd len="sm" w="sm" type="none"/>
                      <a:tailEnd len="sm" w="sm" type="none"/>
                    </a:lnB>
                    <a:solidFill>
                      <a:srgbClr val="FBEEBF"/>
                    </a:solidFill>
                  </a:tcPr>
                </a:tc>
                <a:tc>
                  <a:txBody>
                    <a:bodyPr/>
                    <a:lstStyle/>
                    <a:p>
                      <a:pPr indent="0" lvl="0" marL="0" marR="0" rtl="0" algn="r">
                        <a:lnSpc>
                          <a:spcPct val="140000"/>
                        </a:lnSpc>
                        <a:spcBef>
                          <a:spcPts val="0"/>
                        </a:spcBef>
                        <a:spcAft>
                          <a:spcPts val="0"/>
                        </a:spcAft>
                        <a:buClr>
                          <a:srgbClr val="C8501A"/>
                        </a:buClr>
                        <a:buSzPts val="1500"/>
                        <a:buFont typeface="Tiro Bangla"/>
                        <a:buNone/>
                      </a:pPr>
                      <a:r>
                        <a:rPr lang="en-US" sz="1500" u="none" cap="none" strike="noStrike">
                          <a:solidFill>
                            <a:srgbClr val="C8501A"/>
                          </a:solidFill>
                          <a:latin typeface="Tiro Bangla"/>
                          <a:ea typeface="Tiro Bangla"/>
                          <a:cs typeface="Tiro Bangla"/>
                          <a:sym typeface="Tiro Bangla"/>
                        </a:rPr>
                        <a:t>−৪৬%</a:t>
                      </a:r>
                      <a:endParaRPr sz="1500" u="none" cap="none" strike="noStrike">
                        <a:latin typeface="Tiro Bangla"/>
                        <a:ea typeface="Tiro Bangla"/>
                        <a:cs typeface="Tiro Bangla"/>
                        <a:sym typeface="Tiro Bangla"/>
                      </a:endParaRPr>
                    </a:p>
                  </a:txBody>
                  <a:tcPr marT="66675" marB="66675" marR="66675" marL="66675">
                    <a:lnL cap="flat" cmpd="sng" w="12700">
                      <a:solidFill>
                        <a:srgbClr val="BBB2A3"/>
                      </a:solidFill>
                      <a:prstDash val="solid"/>
                      <a:round/>
                      <a:headEnd len="sm" w="sm" type="none"/>
                      <a:tailEnd len="sm" w="sm" type="none"/>
                    </a:lnL>
                    <a:lnR cap="flat" cmpd="sng" w="12700">
                      <a:solidFill>
                        <a:srgbClr val="BBB2A3"/>
                      </a:solidFill>
                      <a:prstDash val="solid"/>
                      <a:round/>
                      <a:headEnd len="sm" w="sm" type="none"/>
                      <a:tailEnd len="sm" w="sm" type="none"/>
                    </a:lnR>
                    <a:lnT cap="flat" cmpd="sng" w="12700">
                      <a:solidFill>
                        <a:srgbClr val="C3BFB8"/>
                      </a:solidFill>
                      <a:prstDash val="solid"/>
                      <a:round/>
                      <a:headEnd len="sm" w="sm" type="none"/>
                      <a:tailEnd len="sm" w="sm" type="none"/>
                    </a:lnT>
                    <a:lnB cap="flat" cmpd="sng" w="12700">
                      <a:solidFill>
                        <a:srgbClr val="BBB2A3"/>
                      </a:solidFill>
                      <a:prstDash val="solid"/>
                      <a:round/>
                      <a:headEnd len="sm" w="sm" type="none"/>
                      <a:tailEnd len="sm" w="sm" type="none"/>
                    </a:lnB>
                    <a:solidFill>
                      <a:srgbClr val="FBEEBF"/>
                    </a:solidFill>
                  </a:tcPr>
                </a:tc>
                <a:tc>
                  <a:txBody>
                    <a:bodyPr/>
                    <a:lstStyle/>
                    <a:p>
                      <a:pPr indent="0" lvl="0" marL="0" marR="0" rtl="0" algn="r">
                        <a:lnSpc>
                          <a:spcPct val="140000"/>
                        </a:lnSpc>
                        <a:spcBef>
                          <a:spcPts val="0"/>
                        </a:spcBef>
                        <a:spcAft>
                          <a:spcPts val="0"/>
                        </a:spcAft>
                        <a:buClr>
                          <a:srgbClr val="5F6A8A"/>
                        </a:buClr>
                        <a:buSzPts val="1500"/>
                        <a:buFont typeface="Tiro Bangla"/>
                        <a:buNone/>
                      </a:pPr>
                      <a:r>
                        <a:rPr lang="en-US" sz="1500" u="none" cap="none" strike="noStrike">
                          <a:solidFill>
                            <a:srgbClr val="5F6A8A"/>
                          </a:solidFill>
                          <a:latin typeface="Tiro Bangla"/>
                          <a:ea typeface="Tiro Bangla"/>
                          <a:cs typeface="Tiro Bangla"/>
                          <a:sym typeface="Tiro Bangla"/>
                        </a:rPr>
                        <a:t>৭১%</a:t>
                      </a:r>
                      <a:endParaRPr sz="1500" u="none" cap="none" strike="noStrike">
                        <a:latin typeface="Tiro Bangla"/>
                        <a:ea typeface="Tiro Bangla"/>
                        <a:cs typeface="Tiro Bangla"/>
                        <a:sym typeface="Tiro Bangla"/>
                      </a:endParaRPr>
                    </a:p>
                  </a:txBody>
                  <a:tcPr marT="66675" marB="66675" marR="66675" marL="66675">
                    <a:lnL cap="flat" cmpd="sng" w="12700">
                      <a:solidFill>
                        <a:srgbClr val="BBB2A3"/>
                      </a:solidFill>
                      <a:prstDash val="solid"/>
                      <a:round/>
                      <a:headEnd len="sm" w="sm" type="none"/>
                      <a:tailEnd len="sm" w="sm" type="none"/>
                    </a:lnL>
                    <a:lnR cap="flat" cmpd="sng" w="12700">
                      <a:solidFill>
                        <a:srgbClr val="BBB2A3"/>
                      </a:solidFill>
                      <a:prstDash val="solid"/>
                      <a:round/>
                      <a:headEnd len="sm" w="sm" type="none"/>
                      <a:tailEnd len="sm" w="sm" type="none"/>
                    </a:lnR>
                    <a:lnT cap="flat" cmpd="sng" w="12700">
                      <a:solidFill>
                        <a:srgbClr val="C3BFB8"/>
                      </a:solidFill>
                      <a:prstDash val="solid"/>
                      <a:round/>
                      <a:headEnd len="sm" w="sm" type="none"/>
                      <a:tailEnd len="sm" w="sm" type="none"/>
                    </a:lnT>
                    <a:lnB cap="flat" cmpd="sng" w="12700">
                      <a:solidFill>
                        <a:srgbClr val="BBB2A3"/>
                      </a:solidFill>
                      <a:prstDash val="solid"/>
                      <a:round/>
                      <a:headEnd len="sm" w="sm" type="none"/>
                      <a:tailEnd len="sm" w="sm" type="none"/>
                    </a:lnB>
                    <a:solidFill>
                      <a:srgbClr val="FBEEBF"/>
                    </a:solidFill>
                  </a:tcPr>
                </a:tc>
              </a:tr>
            </a:tbl>
          </a:graphicData>
        </a:graphic>
      </p:graphicFrame>
      <p:sp>
        <p:nvSpPr>
          <p:cNvPr id="602" name="Google Shape;602;p24"/>
          <p:cNvSpPr/>
          <p:nvPr/>
        </p:nvSpPr>
        <p:spPr>
          <a:xfrm>
            <a:off x="812800" y="516441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F6A8A"/>
              </a:buClr>
              <a:buSzPts val="1200"/>
              <a:buFont typeface="Tiro Bangla"/>
              <a:buNone/>
            </a:pPr>
            <a:r>
              <a:rPr b="0" i="0" lang="en-US" sz="1100" u="none" cap="none" strike="noStrike">
                <a:solidFill>
                  <a:srgbClr val="5F6A8A"/>
                </a:solidFill>
                <a:latin typeface="Tiro Bangla"/>
                <a:ea typeface="Tiro Bangla"/>
                <a:cs typeface="Tiro Bangla"/>
                <a:sym typeface="Tiro Bangla"/>
              </a:rPr>
              <a:t>পেজভিউ ও ডিভাইস কলামে ২০২৪ → ২০২৬ পরিবর্তন। বৃদ্ধি প্রায় পুরোটাই ডেস্কটপে, অথচ মোবাইলে মানুষ প্রায় সবখানেই কমেছে। তাই এর বড় অংশ ধরা না পড়া বট হতে পারে।</a:t>
            </a:r>
            <a:endParaRPr b="0" i="0" sz="1100" u="none" cap="none" strike="noStrike">
              <a:solidFill>
                <a:schemeClr val="dk1"/>
              </a:solidFill>
              <a:latin typeface="Tiro Bangla"/>
              <a:ea typeface="Tiro Bangla"/>
              <a:cs typeface="Tiro Bangla"/>
              <a:sym typeface="Tiro Bangla"/>
            </a:endParaRPr>
          </a:p>
        </p:txBody>
      </p:sp>
      <p:sp>
        <p:nvSpPr>
          <p:cNvPr id="603" name="Google Shape;603;p24"/>
          <p:cNvSpPr/>
          <p:nvPr/>
        </p:nvSpPr>
        <p:spPr>
          <a:xfrm>
            <a:off x="812800" y="6236965"/>
            <a:ext cx="6589951"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জানুয়ারি–সেপ্টেম্বর ২০২৬ মাসিক গড় · উৎস: উইকিমিডিয়া পেজভিউ ও ইউনিক ডিভাইস API</a:t>
            </a:r>
            <a:endParaRPr b="0" i="0" sz="1200" u="none" cap="none" strike="noStrike">
              <a:solidFill>
                <a:schemeClr val="dk1"/>
              </a:solidFill>
              <a:latin typeface="Tiro Bangla"/>
              <a:ea typeface="Tiro Bangla"/>
              <a:cs typeface="Tiro Bangla"/>
              <a:sym typeface="Tiro Bangla"/>
            </a:endParaRPr>
          </a:p>
        </p:txBody>
      </p:sp>
      <p:sp>
        <p:nvSpPr>
          <p:cNvPr id="604" name="Google Shape;604;p24"/>
          <p:cNvSpPr/>
          <p:nvPr/>
        </p:nvSpPr>
        <p:spPr>
          <a:xfrm>
            <a:off x="10882313" y="6236965"/>
            <a:ext cx="547688"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১৪ / ১৯</a:t>
            </a:r>
            <a:endParaRPr b="0" i="0" sz="1200" u="none" cap="none" strike="noStrike">
              <a:solidFill>
                <a:schemeClr val="dk1"/>
              </a:solidFill>
              <a:latin typeface="Tiro Bangla"/>
              <a:ea typeface="Tiro Bangla"/>
              <a:cs typeface="Tiro Bangla"/>
              <a:sym typeface="Tiro Bangla"/>
            </a:endParaRPr>
          </a:p>
        </p:txBody>
      </p:sp>
      <p:pic>
        <p:nvPicPr>
          <p:cNvPr descr="বাংলা উইকিসম্মেলন ২০২৬ লোগো" id="605" name="Google Shape;605;p24"/>
          <p:cNvPicPr preferRelativeResize="0"/>
          <p:nvPr/>
        </p:nvPicPr>
        <p:blipFill rotWithShape="1">
          <a:blip r:embed="rId3">
            <a:alphaModFix/>
          </a:blip>
          <a:srcRect b="0" l="0" r="0" t="0"/>
          <a:stretch/>
        </p:blipFill>
        <p:spPr>
          <a:xfrm>
            <a:off x="10314432" y="365760"/>
            <a:ext cx="1115568" cy="666862"/>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8DA"/>
        </a:solidFill>
      </p:bgPr>
    </p:bg>
    <p:spTree>
      <p:nvGrpSpPr>
        <p:cNvPr id="610" name="Shape 610"/>
        <p:cNvGrpSpPr/>
        <p:nvPr/>
      </p:nvGrpSpPr>
      <p:grpSpPr>
        <a:xfrm>
          <a:off x="0" y="0"/>
          <a:ext cx="0" cy="0"/>
          <a:chOff x="0" y="0"/>
          <a:chExt cx="0" cy="0"/>
        </a:xfrm>
      </p:grpSpPr>
      <p:sp>
        <p:nvSpPr>
          <p:cNvPr id="611" name="Google Shape;611;p25"/>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8501A"/>
              </a:buClr>
              <a:buSzPts val="1200"/>
              <a:buFont typeface="Tiro Bangla"/>
              <a:buNone/>
            </a:pPr>
            <a:r>
              <a:rPr b="1" i="0" lang="en-US" sz="1200" u="none" cap="none" strike="noStrike">
                <a:solidFill>
                  <a:srgbClr val="C8501A"/>
                </a:solidFill>
                <a:latin typeface="Tiro Bangla"/>
                <a:ea typeface="Tiro Bangla"/>
                <a:cs typeface="Tiro Bangla"/>
                <a:sym typeface="Tiro Bangla"/>
              </a:rPr>
              <a:t>মানুষ · ৫</a:t>
            </a:r>
            <a:endParaRPr b="0" i="0" sz="1200" u="none" cap="none" strike="noStrike">
              <a:solidFill>
                <a:schemeClr val="dk1"/>
              </a:solidFill>
              <a:latin typeface="Tiro Bangla"/>
              <a:ea typeface="Tiro Bangla"/>
              <a:cs typeface="Tiro Bangla"/>
              <a:sym typeface="Tiro Bangla"/>
            </a:endParaRPr>
          </a:p>
        </p:txBody>
      </p:sp>
      <p:sp>
        <p:nvSpPr>
          <p:cNvPr id="612" name="Google Shape;612;p25"/>
          <p:cNvSpPr/>
          <p:nvPr/>
        </p:nvSpPr>
        <p:spPr>
          <a:xfrm>
            <a:off x="812800" y="1127720"/>
            <a:ext cx="9810750" cy="49272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84D86"/>
              </a:buClr>
              <a:buSzPts val="3200"/>
              <a:buFont typeface="Tiro Bangla"/>
              <a:buNone/>
            </a:pPr>
            <a:r>
              <a:rPr b="0" i="0" lang="en-US" sz="3200" u="none" cap="none" strike="noStrike">
                <a:solidFill>
                  <a:srgbClr val="384D86"/>
                </a:solidFill>
                <a:latin typeface="Tiro Bangla"/>
                <a:ea typeface="Tiro Bangla"/>
                <a:cs typeface="Tiro Bangla"/>
                <a:sym typeface="Tiro Bangla"/>
              </a:rPr>
              <a:t>অনুবাদে সহায়ক, সম্পূর্ণ এআই-জেনারেটেড লেখায় বিপদ</a:t>
            </a:r>
            <a:endParaRPr b="0" i="0" sz="3200" u="none" cap="none" strike="noStrike">
              <a:solidFill>
                <a:schemeClr val="dk1"/>
              </a:solidFill>
              <a:latin typeface="Tiro Bangla"/>
              <a:ea typeface="Tiro Bangla"/>
              <a:cs typeface="Tiro Bangla"/>
              <a:sym typeface="Tiro Bangla"/>
            </a:endParaRPr>
          </a:p>
        </p:txBody>
      </p:sp>
      <p:sp>
        <p:nvSpPr>
          <p:cNvPr id="613" name="Google Shape;613;p25"/>
          <p:cNvSpPr/>
          <p:nvPr/>
        </p:nvSpPr>
        <p:spPr>
          <a:xfrm>
            <a:off x="1016000" y="2514600"/>
            <a:ext cx="6540500" cy="22350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F6A8A"/>
              </a:buClr>
              <a:buSzPts val="1200"/>
              <a:buFont typeface="Tiro Bangla"/>
              <a:buNone/>
            </a:pPr>
            <a:r>
              <a:rPr b="1" i="0" lang="en-US" sz="1200" u="none" cap="none" strike="noStrike">
                <a:solidFill>
                  <a:srgbClr val="5F6A8A"/>
                </a:solidFill>
                <a:latin typeface="Tiro Bangla"/>
                <a:ea typeface="Tiro Bangla"/>
                <a:cs typeface="Tiro Bangla"/>
                <a:sym typeface="Tiro Bangla"/>
              </a:rPr>
              <a:t>প্রতি বছরের নতুন নিবন্ধের কত শতাংশ ইংরেজি থেকে কনটেন্ট ট্রান্সলেশনে অনুবাদ</a:t>
            </a:r>
            <a:endParaRPr b="0" i="0" sz="1200" u="none" cap="none" strike="noStrike">
              <a:solidFill>
                <a:schemeClr val="dk1"/>
              </a:solidFill>
              <a:latin typeface="Tiro Bangla"/>
              <a:ea typeface="Tiro Bangla"/>
              <a:cs typeface="Tiro Bangla"/>
              <a:sym typeface="Tiro Bangla"/>
            </a:endParaRPr>
          </a:p>
        </p:txBody>
      </p:sp>
      <p:pic>
        <p:nvPicPr>
          <p:cNvPr descr="বাংলা উইকিপিডিয়ার নতুন নিবন্ধের তুলনায় কনটেন্ট ট্রান্সলেশনে প্রকাশিত অনুবাদ, শতাংশ, ২০১৬–২০২৬" id="614" name="Google Shape;614;p25"/>
          <p:cNvPicPr preferRelativeResize="0"/>
          <p:nvPr/>
        </p:nvPicPr>
        <p:blipFill rotWithShape="1">
          <a:blip r:embed="rId3">
            <a:alphaModFix/>
          </a:blip>
          <a:srcRect b="0" l="0" r="0" t="0"/>
          <a:stretch/>
        </p:blipFill>
        <p:spPr>
          <a:xfrm>
            <a:off x="1016000" y="2794000"/>
            <a:ext cx="6350000" cy="2540000"/>
          </a:xfrm>
          <a:prstGeom prst="rect">
            <a:avLst/>
          </a:prstGeom>
          <a:noFill/>
          <a:ln>
            <a:noFill/>
          </a:ln>
        </p:spPr>
      </p:pic>
      <p:sp>
        <p:nvSpPr>
          <p:cNvPr id="615" name="Google Shape;615;p25"/>
          <p:cNvSpPr/>
          <p:nvPr/>
        </p:nvSpPr>
        <p:spPr>
          <a:xfrm>
            <a:off x="901700" y="54102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২০১৬</a:t>
            </a:r>
            <a:endParaRPr b="0" i="0" sz="1200" u="none" cap="none" strike="noStrike">
              <a:solidFill>
                <a:schemeClr val="dk1"/>
              </a:solidFill>
              <a:latin typeface="Tiro Bangla"/>
              <a:ea typeface="Tiro Bangla"/>
              <a:cs typeface="Tiro Bangla"/>
              <a:sym typeface="Tiro Bangla"/>
            </a:endParaRPr>
          </a:p>
        </p:txBody>
      </p:sp>
      <p:sp>
        <p:nvSpPr>
          <p:cNvPr id="616" name="Google Shape;616;p25"/>
          <p:cNvSpPr/>
          <p:nvPr/>
        </p:nvSpPr>
        <p:spPr>
          <a:xfrm>
            <a:off x="838200" y="4686300"/>
            <a:ext cx="812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১২%</a:t>
            </a:r>
            <a:endParaRPr b="0" i="0" sz="1200" u="none" cap="none" strike="noStrike">
              <a:solidFill>
                <a:schemeClr val="dk1"/>
              </a:solidFill>
              <a:latin typeface="Tiro Bangla"/>
              <a:ea typeface="Tiro Bangla"/>
              <a:cs typeface="Tiro Bangla"/>
              <a:sym typeface="Tiro Bangla"/>
            </a:endParaRPr>
          </a:p>
        </p:txBody>
      </p:sp>
      <p:sp>
        <p:nvSpPr>
          <p:cNvPr id="617" name="Google Shape;617;p25"/>
          <p:cNvSpPr/>
          <p:nvPr/>
        </p:nvSpPr>
        <p:spPr>
          <a:xfrm>
            <a:off x="1492250" y="54102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২০১৭</a:t>
            </a:r>
            <a:endParaRPr b="0" i="0" sz="1200" u="none" cap="none" strike="noStrike">
              <a:solidFill>
                <a:schemeClr val="dk1"/>
              </a:solidFill>
              <a:latin typeface="Tiro Bangla"/>
              <a:ea typeface="Tiro Bangla"/>
              <a:cs typeface="Tiro Bangla"/>
              <a:sym typeface="Tiro Bangla"/>
            </a:endParaRPr>
          </a:p>
        </p:txBody>
      </p:sp>
      <p:sp>
        <p:nvSpPr>
          <p:cNvPr id="618" name="Google Shape;618;p25"/>
          <p:cNvSpPr/>
          <p:nvPr/>
        </p:nvSpPr>
        <p:spPr>
          <a:xfrm>
            <a:off x="1428750" y="4730750"/>
            <a:ext cx="812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১০%</a:t>
            </a:r>
            <a:endParaRPr b="0" i="0" sz="1200" u="none" cap="none" strike="noStrike">
              <a:solidFill>
                <a:schemeClr val="dk1"/>
              </a:solidFill>
              <a:latin typeface="Tiro Bangla"/>
              <a:ea typeface="Tiro Bangla"/>
              <a:cs typeface="Tiro Bangla"/>
              <a:sym typeface="Tiro Bangla"/>
            </a:endParaRPr>
          </a:p>
        </p:txBody>
      </p:sp>
      <p:sp>
        <p:nvSpPr>
          <p:cNvPr id="619" name="Google Shape;619;p25"/>
          <p:cNvSpPr/>
          <p:nvPr/>
        </p:nvSpPr>
        <p:spPr>
          <a:xfrm>
            <a:off x="2082800" y="54102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২০১৮</a:t>
            </a:r>
            <a:endParaRPr b="0" i="0" sz="1200" u="none" cap="none" strike="noStrike">
              <a:solidFill>
                <a:schemeClr val="dk1"/>
              </a:solidFill>
              <a:latin typeface="Tiro Bangla"/>
              <a:ea typeface="Tiro Bangla"/>
              <a:cs typeface="Tiro Bangla"/>
              <a:sym typeface="Tiro Bangla"/>
            </a:endParaRPr>
          </a:p>
        </p:txBody>
      </p:sp>
      <p:sp>
        <p:nvSpPr>
          <p:cNvPr id="620" name="Google Shape;620;p25"/>
          <p:cNvSpPr/>
          <p:nvPr/>
        </p:nvSpPr>
        <p:spPr>
          <a:xfrm>
            <a:off x="2019300" y="4762500"/>
            <a:ext cx="812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৯%</a:t>
            </a:r>
            <a:endParaRPr b="0" i="0" sz="1200" u="none" cap="none" strike="noStrike">
              <a:solidFill>
                <a:schemeClr val="dk1"/>
              </a:solidFill>
              <a:latin typeface="Tiro Bangla"/>
              <a:ea typeface="Tiro Bangla"/>
              <a:cs typeface="Tiro Bangla"/>
              <a:sym typeface="Tiro Bangla"/>
            </a:endParaRPr>
          </a:p>
        </p:txBody>
      </p:sp>
      <p:sp>
        <p:nvSpPr>
          <p:cNvPr id="621" name="Google Shape;621;p25"/>
          <p:cNvSpPr/>
          <p:nvPr/>
        </p:nvSpPr>
        <p:spPr>
          <a:xfrm>
            <a:off x="2673350" y="54102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২০১৯</a:t>
            </a:r>
            <a:endParaRPr b="0" i="0" sz="1200" u="none" cap="none" strike="noStrike">
              <a:solidFill>
                <a:schemeClr val="dk1"/>
              </a:solidFill>
              <a:latin typeface="Tiro Bangla"/>
              <a:ea typeface="Tiro Bangla"/>
              <a:cs typeface="Tiro Bangla"/>
              <a:sym typeface="Tiro Bangla"/>
            </a:endParaRPr>
          </a:p>
        </p:txBody>
      </p:sp>
      <p:sp>
        <p:nvSpPr>
          <p:cNvPr id="622" name="Google Shape;622;p25"/>
          <p:cNvSpPr/>
          <p:nvPr/>
        </p:nvSpPr>
        <p:spPr>
          <a:xfrm>
            <a:off x="2609850" y="4305300"/>
            <a:ext cx="812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২৩%</a:t>
            </a:r>
            <a:endParaRPr b="0" i="0" sz="1200" u="none" cap="none" strike="noStrike">
              <a:solidFill>
                <a:schemeClr val="dk1"/>
              </a:solidFill>
              <a:latin typeface="Tiro Bangla"/>
              <a:ea typeface="Tiro Bangla"/>
              <a:cs typeface="Tiro Bangla"/>
              <a:sym typeface="Tiro Bangla"/>
            </a:endParaRPr>
          </a:p>
        </p:txBody>
      </p:sp>
      <p:sp>
        <p:nvSpPr>
          <p:cNvPr id="623" name="Google Shape;623;p25"/>
          <p:cNvSpPr/>
          <p:nvPr/>
        </p:nvSpPr>
        <p:spPr>
          <a:xfrm>
            <a:off x="3257550" y="54102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২০২০</a:t>
            </a:r>
            <a:endParaRPr b="0" i="0" sz="1200" u="none" cap="none" strike="noStrike">
              <a:solidFill>
                <a:schemeClr val="dk1"/>
              </a:solidFill>
              <a:latin typeface="Tiro Bangla"/>
              <a:ea typeface="Tiro Bangla"/>
              <a:cs typeface="Tiro Bangla"/>
              <a:sym typeface="Tiro Bangla"/>
            </a:endParaRPr>
          </a:p>
        </p:txBody>
      </p:sp>
      <p:sp>
        <p:nvSpPr>
          <p:cNvPr id="624" name="Google Shape;624;p25"/>
          <p:cNvSpPr/>
          <p:nvPr/>
        </p:nvSpPr>
        <p:spPr>
          <a:xfrm>
            <a:off x="3194050" y="4222750"/>
            <a:ext cx="812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২৫%</a:t>
            </a:r>
            <a:endParaRPr b="0" i="0" sz="1200" u="none" cap="none" strike="noStrike">
              <a:solidFill>
                <a:schemeClr val="dk1"/>
              </a:solidFill>
              <a:latin typeface="Tiro Bangla"/>
              <a:ea typeface="Tiro Bangla"/>
              <a:cs typeface="Tiro Bangla"/>
              <a:sym typeface="Tiro Bangla"/>
            </a:endParaRPr>
          </a:p>
        </p:txBody>
      </p:sp>
      <p:sp>
        <p:nvSpPr>
          <p:cNvPr id="625" name="Google Shape;625;p25"/>
          <p:cNvSpPr/>
          <p:nvPr/>
        </p:nvSpPr>
        <p:spPr>
          <a:xfrm>
            <a:off x="3848100" y="54102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২০২১</a:t>
            </a:r>
            <a:endParaRPr b="0" i="0" sz="1200" u="none" cap="none" strike="noStrike">
              <a:solidFill>
                <a:schemeClr val="dk1"/>
              </a:solidFill>
              <a:latin typeface="Tiro Bangla"/>
              <a:ea typeface="Tiro Bangla"/>
              <a:cs typeface="Tiro Bangla"/>
              <a:sym typeface="Tiro Bangla"/>
            </a:endParaRPr>
          </a:p>
        </p:txBody>
      </p:sp>
      <p:sp>
        <p:nvSpPr>
          <p:cNvPr id="626" name="Google Shape;626;p25"/>
          <p:cNvSpPr/>
          <p:nvPr/>
        </p:nvSpPr>
        <p:spPr>
          <a:xfrm>
            <a:off x="3784600" y="3594100"/>
            <a:ext cx="812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৪৪%</a:t>
            </a:r>
            <a:endParaRPr b="0" i="0" sz="1200" u="none" cap="none" strike="noStrike">
              <a:solidFill>
                <a:schemeClr val="dk1"/>
              </a:solidFill>
              <a:latin typeface="Tiro Bangla"/>
              <a:ea typeface="Tiro Bangla"/>
              <a:cs typeface="Tiro Bangla"/>
              <a:sym typeface="Tiro Bangla"/>
            </a:endParaRPr>
          </a:p>
        </p:txBody>
      </p:sp>
      <p:sp>
        <p:nvSpPr>
          <p:cNvPr id="627" name="Google Shape;627;p25"/>
          <p:cNvSpPr/>
          <p:nvPr/>
        </p:nvSpPr>
        <p:spPr>
          <a:xfrm>
            <a:off x="4438650" y="54102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২০২২</a:t>
            </a:r>
            <a:endParaRPr b="0" i="0" sz="1200" u="none" cap="none" strike="noStrike">
              <a:solidFill>
                <a:schemeClr val="dk1"/>
              </a:solidFill>
              <a:latin typeface="Tiro Bangla"/>
              <a:ea typeface="Tiro Bangla"/>
              <a:cs typeface="Tiro Bangla"/>
              <a:sym typeface="Tiro Bangla"/>
            </a:endParaRPr>
          </a:p>
        </p:txBody>
      </p:sp>
      <p:sp>
        <p:nvSpPr>
          <p:cNvPr id="628" name="Google Shape;628;p25"/>
          <p:cNvSpPr/>
          <p:nvPr/>
        </p:nvSpPr>
        <p:spPr>
          <a:xfrm>
            <a:off x="4375150" y="3232150"/>
            <a:ext cx="812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৫৫%</a:t>
            </a:r>
            <a:endParaRPr b="0" i="0" sz="1200" u="none" cap="none" strike="noStrike">
              <a:solidFill>
                <a:schemeClr val="dk1"/>
              </a:solidFill>
              <a:latin typeface="Tiro Bangla"/>
              <a:ea typeface="Tiro Bangla"/>
              <a:cs typeface="Tiro Bangla"/>
              <a:sym typeface="Tiro Bangla"/>
            </a:endParaRPr>
          </a:p>
        </p:txBody>
      </p:sp>
      <p:sp>
        <p:nvSpPr>
          <p:cNvPr id="629" name="Google Shape;629;p25"/>
          <p:cNvSpPr/>
          <p:nvPr/>
        </p:nvSpPr>
        <p:spPr>
          <a:xfrm>
            <a:off x="5022850" y="54102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২০২৩</a:t>
            </a:r>
            <a:endParaRPr b="0" i="0" sz="1200" u="none" cap="none" strike="noStrike">
              <a:solidFill>
                <a:schemeClr val="dk1"/>
              </a:solidFill>
              <a:latin typeface="Tiro Bangla"/>
              <a:ea typeface="Tiro Bangla"/>
              <a:cs typeface="Tiro Bangla"/>
              <a:sym typeface="Tiro Bangla"/>
            </a:endParaRPr>
          </a:p>
        </p:txBody>
      </p:sp>
      <p:sp>
        <p:nvSpPr>
          <p:cNvPr id="630" name="Google Shape;630;p25"/>
          <p:cNvSpPr/>
          <p:nvPr/>
        </p:nvSpPr>
        <p:spPr>
          <a:xfrm>
            <a:off x="4959350" y="2901950"/>
            <a:ext cx="812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384D86"/>
              </a:buClr>
              <a:buSzPts val="1200"/>
              <a:buFont typeface="Tiro Bangla"/>
              <a:buNone/>
            </a:pPr>
            <a:r>
              <a:rPr b="1" i="0" lang="en-US" sz="1200" u="none" cap="none" strike="noStrike">
                <a:solidFill>
                  <a:srgbClr val="384D86"/>
                </a:solidFill>
                <a:latin typeface="Tiro Bangla"/>
                <a:ea typeface="Tiro Bangla"/>
                <a:cs typeface="Tiro Bangla"/>
                <a:sym typeface="Tiro Bangla"/>
              </a:rPr>
              <a:t>৬৪%</a:t>
            </a:r>
            <a:endParaRPr b="0" i="0" sz="1200" u="none" cap="none" strike="noStrike">
              <a:solidFill>
                <a:schemeClr val="dk1"/>
              </a:solidFill>
              <a:latin typeface="Tiro Bangla"/>
              <a:ea typeface="Tiro Bangla"/>
              <a:cs typeface="Tiro Bangla"/>
              <a:sym typeface="Tiro Bangla"/>
            </a:endParaRPr>
          </a:p>
        </p:txBody>
      </p:sp>
      <p:sp>
        <p:nvSpPr>
          <p:cNvPr id="631" name="Google Shape;631;p25"/>
          <p:cNvSpPr/>
          <p:nvPr/>
        </p:nvSpPr>
        <p:spPr>
          <a:xfrm>
            <a:off x="5613400" y="54102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২০২৪</a:t>
            </a:r>
            <a:endParaRPr b="0" i="0" sz="1200" u="none" cap="none" strike="noStrike">
              <a:solidFill>
                <a:schemeClr val="dk1"/>
              </a:solidFill>
              <a:latin typeface="Tiro Bangla"/>
              <a:ea typeface="Tiro Bangla"/>
              <a:cs typeface="Tiro Bangla"/>
              <a:sym typeface="Tiro Bangla"/>
            </a:endParaRPr>
          </a:p>
        </p:txBody>
      </p:sp>
      <p:sp>
        <p:nvSpPr>
          <p:cNvPr id="632" name="Google Shape;632;p25"/>
          <p:cNvSpPr/>
          <p:nvPr/>
        </p:nvSpPr>
        <p:spPr>
          <a:xfrm>
            <a:off x="5549900" y="3073400"/>
            <a:ext cx="812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৫৯%</a:t>
            </a:r>
            <a:endParaRPr b="0" i="0" sz="1200" u="none" cap="none" strike="noStrike">
              <a:solidFill>
                <a:schemeClr val="dk1"/>
              </a:solidFill>
              <a:latin typeface="Tiro Bangla"/>
              <a:ea typeface="Tiro Bangla"/>
              <a:cs typeface="Tiro Bangla"/>
              <a:sym typeface="Tiro Bangla"/>
            </a:endParaRPr>
          </a:p>
        </p:txBody>
      </p:sp>
      <p:sp>
        <p:nvSpPr>
          <p:cNvPr id="633" name="Google Shape;633;p25"/>
          <p:cNvSpPr/>
          <p:nvPr/>
        </p:nvSpPr>
        <p:spPr>
          <a:xfrm>
            <a:off x="6203950" y="54102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২০২৫</a:t>
            </a:r>
            <a:endParaRPr b="0" i="0" sz="1200" u="none" cap="none" strike="noStrike">
              <a:solidFill>
                <a:schemeClr val="dk1"/>
              </a:solidFill>
              <a:latin typeface="Tiro Bangla"/>
              <a:ea typeface="Tiro Bangla"/>
              <a:cs typeface="Tiro Bangla"/>
              <a:sym typeface="Tiro Bangla"/>
            </a:endParaRPr>
          </a:p>
        </p:txBody>
      </p:sp>
      <p:sp>
        <p:nvSpPr>
          <p:cNvPr id="634" name="Google Shape;634;p25"/>
          <p:cNvSpPr/>
          <p:nvPr/>
        </p:nvSpPr>
        <p:spPr>
          <a:xfrm>
            <a:off x="6140450" y="3213100"/>
            <a:ext cx="812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৫৫%</a:t>
            </a:r>
            <a:endParaRPr b="0" i="0" sz="1200" u="none" cap="none" strike="noStrike">
              <a:solidFill>
                <a:schemeClr val="dk1"/>
              </a:solidFill>
              <a:latin typeface="Tiro Bangla"/>
              <a:ea typeface="Tiro Bangla"/>
              <a:cs typeface="Tiro Bangla"/>
              <a:sym typeface="Tiro Bangla"/>
            </a:endParaRPr>
          </a:p>
        </p:txBody>
      </p:sp>
      <p:sp>
        <p:nvSpPr>
          <p:cNvPr id="635" name="Google Shape;635;p25"/>
          <p:cNvSpPr/>
          <p:nvPr/>
        </p:nvSpPr>
        <p:spPr>
          <a:xfrm>
            <a:off x="6794500" y="5410200"/>
            <a:ext cx="685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২০২৬</a:t>
            </a:r>
            <a:endParaRPr b="0" i="0" sz="1200" u="none" cap="none" strike="noStrike">
              <a:solidFill>
                <a:schemeClr val="dk1"/>
              </a:solidFill>
              <a:latin typeface="Tiro Bangla"/>
              <a:ea typeface="Tiro Bangla"/>
              <a:cs typeface="Tiro Bangla"/>
              <a:sym typeface="Tiro Bangla"/>
            </a:endParaRPr>
          </a:p>
        </p:txBody>
      </p:sp>
      <p:sp>
        <p:nvSpPr>
          <p:cNvPr id="636" name="Google Shape;636;p25"/>
          <p:cNvSpPr/>
          <p:nvPr/>
        </p:nvSpPr>
        <p:spPr>
          <a:xfrm>
            <a:off x="6731000" y="4044950"/>
            <a:ext cx="812800" cy="223507"/>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৩১%</a:t>
            </a:r>
            <a:endParaRPr b="0" i="0" sz="1200" u="none" cap="none" strike="noStrike">
              <a:solidFill>
                <a:schemeClr val="dk1"/>
              </a:solidFill>
              <a:latin typeface="Tiro Bangla"/>
              <a:ea typeface="Tiro Bangla"/>
              <a:cs typeface="Tiro Bangla"/>
              <a:sym typeface="Tiro Bangla"/>
            </a:endParaRPr>
          </a:p>
        </p:txBody>
      </p:sp>
      <p:sp>
        <p:nvSpPr>
          <p:cNvPr id="637" name="Google Shape;637;p25"/>
          <p:cNvSpPr/>
          <p:nvPr/>
        </p:nvSpPr>
        <p:spPr>
          <a:xfrm>
            <a:off x="7874000" y="2514600"/>
            <a:ext cx="3610356" cy="22350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C8501A"/>
              </a:buClr>
              <a:buSzPts val="1200"/>
              <a:buFont typeface="Tiro Bangla"/>
              <a:buNone/>
            </a:pPr>
            <a:r>
              <a:rPr b="1" i="0" lang="en-US" sz="1200" u="none" cap="none" strike="noStrike">
                <a:solidFill>
                  <a:srgbClr val="C8501A"/>
                </a:solidFill>
                <a:latin typeface="Tiro Bangla"/>
                <a:ea typeface="Tiro Bangla"/>
                <a:cs typeface="Tiro Bangla"/>
                <a:sym typeface="Tiro Bangla"/>
              </a:rPr>
              <a:t>২৬ আগস্ট ২০২৫: দ্রুত অপসারণ নীতিমালায় নতুন ধারা</a:t>
            </a:r>
            <a:endParaRPr b="0" i="0" sz="1200" u="none" cap="none" strike="noStrike">
              <a:solidFill>
                <a:schemeClr val="dk1"/>
              </a:solidFill>
              <a:latin typeface="Tiro Bangla"/>
              <a:ea typeface="Tiro Bangla"/>
              <a:cs typeface="Tiro Bangla"/>
              <a:sym typeface="Tiro Bangla"/>
            </a:endParaRPr>
          </a:p>
        </p:txBody>
      </p:sp>
      <p:sp>
        <p:nvSpPr>
          <p:cNvPr id="638" name="Google Shape;638;p25"/>
          <p:cNvSpPr/>
          <p:nvPr/>
        </p:nvSpPr>
        <p:spPr>
          <a:xfrm>
            <a:off x="7874000" y="2763515"/>
            <a:ext cx="3610356" cy="5207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384D86"/>
              </a:buClr>
              <a:buSzPts val="1500"/>
              <a:buFont typeface="Tiro Bangla"/>
              <a:buNone/>
            </a:pPr>
            <a:r>
              <a:rPr b="1" i="0" lang="en-US" sz="1500" u="none" cap="none" strike="noStrike">
                <a:solidFill>
                  <a:srgbClr val="384D86"/>
                </a:solidFill>
                <a:latin typeface="Tiro Bangla"/>
                <a:ea typeface="Tiro Bangla"/>
                <a:cs typeface="Tiro Bangla"/>
                <a:sym typeface="Tiro Bangla"/>
              </a:rPr>
              <a:t>স১৫:</a:t>
            </a:r>
            <a:endParaRPr b="0" i="0" sz="1500" u="none" cap="none" strike="noStrike">
              <a:solidFill>
                <a:schemeClr val="dk1"/>
              </a:solidFill>
              <a:latin typeface="Tiro Bangla"/>
              <a:ea typeface="Tiro Bangla"/>
              <a:cs typeface="Tiro Bangla"/>
              <a:sym typeface="Tiro Bangla"/>
            </a:endParaRPr>
          </a:p>
          <a:p>
            <a:pPr indent="0" lvl="0" marL="0" marR="0" rtl="0" algn="l">
              <a:lnSpc>
                <a:spcPct val="130000"/>
              </a:lnSpc>
              <a:spcBef>
                <a:spcPts val="0"/>
              </a:spcBef>
              <a:spcAft>
                <a:spcPts val="0"/>
              </a:spcAft>
              <a:buClr>
                <a:srgbClr val="384D86"/>
              </a:buClr>
              <a:buSzPts val="1500"/>
              <a:buFont typeface="Tiro Bangla"/>
              <a:buNone/>
            </a:pPr>
            <a:r>
              <a:rPr b="1" i="0" lang="en-US" sz="1500" u="none" cap="none" strike="noStrike">
                <a:solidFill>
                  <a:srgbClr val="384D86"/>
                </a:solidFill>
                <a:latin typeface="Tiro Bangla"/>
                <a:ea typeface="Tiro Bangla"/>
                <a:cs typeface="Tiro Bangla"/>
                <a:sym typeface="Tiro Bangla"/>
              </a:rPr>
              <a:t>সম্পূর্ণরূপে কৃত্রিম বুদ্ধিমত্তা দ্বারা তৈরি পাতা</a:t>
            </a:r>
            <a:endParaRPr b="0" i="0" sz="1500" u="none" cap="none" strike="noStrike">
              <a:solidFill>
                <a:schemeClr val="dk1"/>
              </a:solidFill>
              <a:latin typeface="Tiro Bangla"/>
              <a:ea typeface="Tiro Bangla"/>
              <a:cs typeface="Tiro Bangla"/>
              <a:sym typeface="Tiro Bangla"/>
            </a:endParaRPr>
          </a:p>
        </p:txBody>
      </p:sp>
      <p:sp>
        <p:nvSpPr>
          <p:cNvPr id="639" name="Google Shape;639;p25"/>
          <p:cNvSpPr/>
          <p:nvPr/>
        </p:nvSpPr>
        <p:spPr>
          <a:xfrm>
            <a:off x="7874000" y="3385815"/>
            <a:ext cx="3610356" cy="472414"/>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C8501A"/>
              </a:buClr>
              <a:buSzPts val="3200"/>
              <a:buFont typeface="Tiro Bangla"/>
              <a:buNone/>
            </a:pPr>
            <a:r>
              <a:rPr b="0" i="0" lang="en-US" sz="3200" u="none" cap="none" strike="noStrike">
                <a:solidFill>
                  <a:srgbClr val="C8501A"/>
                </a:solidFill>
                <a:latin typeface="Tiro Bangla"/>
                <a:ea typeface="Tiro Bangla"/>
                <a:cs typeface="Tiro Bangla"/>
                <a:sym typeface="Tiro Bangla"/>
              </a:rPr>
              <a:t>১২টি নিবন্ধ</a:t>
            </a:r>
            <a:endParaRPr b="0" i="0" sz="3200" u="none" cap="none" strike="noStrike">
              <a:solidFill>
                <a:schemeClr val="dk1"/>
              </a:solidFill>
              <a:latin typeface="Tiro Bangla"/>
              <a:ea typeface="Tiro Bangla"/>
              <a:cs typeface="Tiro Bangla"/>
              <a:sym typeface="Tiro Bangla"/>
            </a:endParaRPr>
          </a:p>
        </p:txBody>
      </p:sp>
      <p:sp>
        <p:nvSpPr>
          <p:cNvPr id="640" name="Google Shape;640;p25"/>
          <p:cNvSpPr/>
          <p:nvPr/>
        </p:nvSpPr>
        <p:spPr>
          <a:xfrm>
            <a:off x="7874000" y="3858220"/>
            <a:ext cx="3610356" cy="421614"/>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এই ধারায় মুছে ফেলা হয়েছে</a:t>
            </a:r>
            <a:endParaRPr b="0" i="0" sz="1200" u="none" cap="none" strike="noStrike">
              <a:solidFill>
                <a:schemeClr val="dk1"/>
              </a:solidFill>
              <a:latin typeface="Tiro Bangla"/>
              <a:ea typeface="Tiro Bangla"/>
              <a:cs typeface="Tiro Bangla"/>
              <a:sym typeface="Tiro Bangla"/>
            </a:endParaRPr>
          </a:p>
          <a:p>
            <a:pPr indent="0" lvl="0" marL="0" marR="0" rtl="0" algn="l">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সেপ্টেম্বর ২০২৫ – জুলাই ২০২৬</a:t>
            </a:r>
            <a:endParaRPr b="0" i="0" sz="1200" u="none" cap="none" strike="noStrike">
              <a:solidFill>
                <a:schemeClr val="dk1"/>
              </a:solidFill>
              <a:latin typeface="Tiro Bangla"/>
              <a:ea typeface="Tiro Bangla"/>
              <a:cs typeface="Tiro Bangla"/>
              <a:sym typeface="Tiro Bangla"/>
            </a:endParaRPr>
          </a:p>
        </p:txBody>
      </p:sp>
      <p:sp>
        <p:nvSpPr>
          <p:cNvPr id="641" name="Google Shape;641;p25"/>
          <p:cNvSpPr/>
          <p:nvPr/>
        </p:nvSpPr>
        <p:spPr>
          <a:xfrm>
            <a:off x="7874000" y="4381438"/>
            <a:ext cx="3505200" cy="1068057"/>
          </a:xfrm>
          <a:prstGeom prst="roundRect">
            <a:avLst>
              <a:gd fmla="val 7134" name="adj"/>
            </a:avLst>
          </a:prstGeom>
          <a:solidFill>
            <a:srgbClr val="FBEE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2" name="Google Shape;642;p25"/>
          <p:cNvSpPr/>
          <p:nvPr/>
        </p:nvSpPr>
        <p:spPr>
          <a:xfrm>
            <a:off x="8026400" y="4533838"/>
            <a:ext cx="3296412" cy="53975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384D86"/>
              </a:buClr>
              <a:buSzPts val="1500"/>
              <a:buFont typeface="Tiro Bangla"/>
              <a:buNone/>
            </a:pPr>
            <a:r>
              <a:rPr b="0" i="0" lang="en-US" sz="1500" u="none" cap="none" strike="noStrike">
                <a:solidFill>
                  <a:srgbClr val="384D86"/>
                </a:solidFill>
                <a:latin typeface="Tiro Bangla"/>
                <a:ea typeface="Tiro Bangla"/>
                <a:cs typeface="Tiro Bangla"/>
                <a:sym typeface="Tiro Bangla"/>
              </a:rPr>
              <a:t>“এআই জেনারেটেড, একটি বাদে বাকিসব তথ্যসূত্রের অস্তিত্ব নেই।”</a:t>
            </a:r>
            <a:endParaRPr b="0" i="0" sz="1500" u="none" cap="none" strike="noStrike">
              <a:solidFill>
                <a:schemeClr val="dk1"/>
              </a:solidFill>
              <a:latin typeface="Tiro Bangla"/>
              <a:ea typeface="Tiro Bangla"/>
              <a:cs typeface="Tiro Bangla"/>
              <a:sym typeface="Tiro Bangla"/>
            </a:endParaRPr>
          </a:p>
        </p:txBody>
      </p:sp>
      <p:sp>
        <p:nvSpPr>
          <p:cNvPr id="643" name="Google Shape;643;p25"/>
          <p:cNvSpPr/>
          <p:nvPr/>
        </p:nvSpPr>
        <p:spPr>
          <a:xfrm>
            <a:off x="8026400" y="5098988"/>
            <a:ext cx="3296412" cy="22350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অপসারণ লগ, মে ২০২৬</a:t>
            </a:r>
            <a:endParaRPr b="0" i="0" sz="1200" u="none" cap="none" strike="noStrike">
              <a:solidFill>
                <a:schemeClr val="dk1"/>
              </a:solidFill>
              <a:latin typeface="Tiro Bangla"/>
              <a:ea typeface="Tiro Bangla"/>
              <a:cs typeface="Tiro Bangla"/>
              <a:sym typeface="Tiro Bangla"/>
            </a:endParaRPr>
          </a:p>
        </p:txBody>
      </p:sp>
      <p:sp>
        <p:nvSpPr>
          <p:cNvPr id="644" name="Google Shape;644;p25"/>
          <p:cNvSpPr/>
          <p:nvPr/>
        </p:nvSpPr>
        <p:spPr>
          <a:xfrm>
            <a:off x="812800" y="6236965"/>
            <a:ext cx="7834233"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অনুবাদের অনুপাত আনুমানিক · উৎস: কনটেন্ট ট্রান্সলেশন API, অপসারণ লগ, উইকিমিডিয়া অ্যানালিটিক্স API</a:t>
            </a:r>
            <a:endParaRPr b="0" i="0" sz="1200" u="none" cap="none" strike="noStrike">
              <a:solidFill>
                <a:schemeClr val="dk1"/>
              </a:solidFill>
              <a:latin typeface="Tiro Bangla"/>
              <a:ea typeface="Tiro Bangla"/>
              <a:cs typeface="Tiro Bangla"/>
              <a:sym typeface="Tiro Bangla"/>
            </a:endParaRPr>
          </a:p>
        </p:txBody>
      </p:sp>
      <p:sp>
        <p:nvSpPr>
          <p:cNvPr id="645" name="Google Shape;645;p25"/>
          <p:cNvSpPr/>
          <p:nvPr/>
        </p:nvSpPr>
        <p:spPr>
          <a:xfrm>
            <a:off x="10882313" y="6236965"/>
            <a:ext cx="547688"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১৫ / ১৯</a:t>
            </a:r>
            <a:endParaRPr b="0" i="0" sz="1200" u="none" cap="none" strike="noStrike">
              <a:solidFill>
                <a:schemeClr val="dk1"/>
              </a:solidFill>
              <a:latin typeface="Tiro Bangla"/>
              <a:ea typeface="Tiro Bangla"/>
              <a:cs typeface="Tiro Bangla"/>
              <a:sym typeface="Tiro Bangla"/>
            </a:endParaRPr>
          </a:p>
        </p:txBody>
      </p:sp>
      <p:pic>
        <p:nvPicPr>
          <p:cNvPr descr="বাংলা উইকিসম্মেলন ২০২৬ লোগো" id="646" name="Google Shape;646;p25"/>
          <p:cNvPicPr preferRelativeResize="0"/>
          <p:nvPr/>
        </p:nvPicPr>
        <p:blipFill rotWithShape="1">
          <a:blip r:embed="rId4">
            <a:alphaModFix/>
          </a:blip>
          <a:srcRect b="0" l="0" r="0" t="0"/>
          <a:stretch/>
        </p:blipFill>
        <p:spPr>
          <a:xfrm>
            <a:off x="10314432" y="365760"/>
            <a:ext cx="1115568" cy="666862"/>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51" name="Shape 651"/>
        <p:cNvGrpSpPr/>
        <p:nvPr/>
      </p:nvGrpSpPr>
      <p:grpSpPr>
        <a:xfrm>
          <a:off x="0" y="0"/>
          <a:ext cx="0" cy="0"/>
          <a:chOff x="0" y="0"/>
          <a:chExt cx="0" cy="0"/>
        </a:xfrm>
      </p:grpSpPr>
      <p:sp>
        <p:nvSpPr>
          <p:cNvPr id="652" name="Google Shape;652;p26"/>
          <p:cNvSpPr/>
          <p:nvPr/>
        </p:nvSpPr>
        <p:spPr>
          <a:xfrm>
            <a:off x="812800" y="1929209"/>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84D86"/>
              </a:buClr>
              <a:buSzPts val="1200"/>
              <a:buFont typeface="Tiro Bangla"/>
              <a:buNone/>
            </a:pPr>
            <a:r>
              <a:rPr b="1" i="0" lang="en-US" sz="1200" u="none" cap="none" strike="noStrike">
                <a:solidFill>
                  <a:srgbClr val="384D86"/>
                </a:solidFill>
                <a:latin typeface="Tiro Bangla"/>
                <a:ea typeface="Tiro Bangla"/>
                <a:cs typeface="Tiro Bangla"/>
                <a:sym typeface="Tiro Bangla"/>
              </a:rPr>
              <a:t>এআই-যুগে টিকে থাকা</a:t>
            </a:r>
            <a:endParaRPr b="0" i="0" sz="1200" u="none" cap="none" strike="noStrike">
              <a:solidFill>
                <a:schemeClr val="dk1"/>
              </a:solidFill>
              <a:latin typeface="Tiro Bangla"/>
              <a:ea typeface="Tiro Bangla"/>
              <a:cs typeface="Tiro Bangla"/>
              <a:sym typeface="Tiro Bangla"/>
            </a:endParaRPr>
          </a:p>
        </p:txBody>
      </p:sp>
      <p:sp>
        <p:nvSpPr>
          <p:cNvPr id="653" name="Google Shape;653;p26"/>
          <p:cNvSpPr/>
          <p:nvPr/>
        </p:nvSpPr>
        <p:spPr>
          <a:xfrm>
            <a:off x="812800" y="2396530"/>
            <a:ext cx="9810750" cy="1671241"/>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384D86"/>
              </a:buClr>
              <a:buSzPts val="6000"/>
              <a:buFont typeface="Tiro Bangla"/>
              <a:buNone/>
            </a:pPr>
            <a:r>
              <a:rPr b="0" i="0" lang="en-US" sz="6000" u="none" cap="none" strike="noStrike">
                <a:solidFill>
                  <a:srgbClr val="384D86"/>
                </a:solidFill>
                <a:latin typeface="Tiro Bangla"/>
                <a:ea typeface="Tiro Bangla"/>
                <a:cs typeface="Tiro Bangla"/>
                <a:sym typeface="Tiro Bangla"/>
              </a:rPr>
              <a:t>এআই লিখতে পারে, যাচাই করতে পারে না।</a:t>
            </a:r>
            <a:endParaRPr b="0" i="0" sz="6000" u="none" cap="none" strike="noStrike">
              <a:solidFill>
                <a:schemeClr val="dk1"/>
              </a:solidFill>
              <a:latin typeface="Tiro Bangla"/>
              <a:ea typeface="Tiro Bangla"/>
              <a:cs typeface="Tiro Bangla"/>
              <a:sym typeface="Tiro Bangla"/>
            </a:endParaRPr>
          </a:p>
        </p:txBody>
      </p:sp>
      <p:sp>
        <p:nvSpPr>
          <p:cNvPr id="654" name="Google Shape;654;p26"/>
          <p:cNvSpPr/>
          <p:nvPr/>
        </p:nvSpPr>
        <p:spPr>
          <a:xfrm>
            <a:off x="812800" y="4296370"/>
            <a:ext cx="8502650" cy="3683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384D86"/>
              </a:buClr>
              <a:buSzPts val="2000"/>
              <a:buFont typeface="Tiro Bangla"/>
              <a:buNone/>
            </a:pPr>
            <a:r>
              <a:rPr b="0" i="0" lang="en-US" sz="2000" u="none" cap="none" strike="noStrike">
                <a:solidFill>
                  <a:srgbClr val="384D86"/>
                </a:solidFill>
                <a:latin typeface="Tiro Bangla"/>
                <a:ea typeface="Tiro Bangla"/>
                <a:cs typeface="Tiro Bangla"/>
                <a:sym typeface="Tiro Bangla"/>
              </a:rPr>
              <a:t>“…knowledge is human, and knowledge needs humans.”</a:t>
            </a:r>
            <a:endParaRPr b="0" i="0" sz="2000" u="none" cap="none" strike="noStrike">
              <a:solidFill>
                <a:schemeClr val="dk1"/>
              </a:solidFill>
              <a:latin typeface="Tiro Bangla"/>
              <a:ea typeface="Tiro Bangla"/>
              <a:cs typeface="Tiro Bangla"/>
              <a:sym typeface="Tiro Bangla"/>
            </a:endParaRPr>
          </a:p>
        </p:txBody>
      </p:sp>
      <p:sp>
        <p:nvSpPr>
          <p:cNvPr id="655" name="Google Shape;655;p26"/>
          <p:cNvSpPr/>
          <p:nvPr/>
        </p:nvSpPr>
        <p:spPr>
          <a:xfrm>
            <a:off x="812800" y="4715470"/>
            <a:ext cx="850265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84D86"/>
              </a:buClr>
              <a:buSzPts val="1200"/>
              <a:buFont typeface="Tiro Bangla"/>
              <a:buNone/>
            </a:pPr>
            <a:r>
              <a:rPr b="0" i="0" lang="en-US" sz="1200" u="none" cap="none" strike="noStrike">
                <a:solidFill>
                  <a:srgbClr val="384D86"/>
                </a:solidFill>
                <a:latin typeface="Tiro Bangla"/>
                <a:ea typeface="Tiro Bangla"/>
                <a:cs typeface="Tiro Bangla"/>
                <a:sym typeface="Tiro Bangla"/>
              </a:rPr>
              <a:t>উইকিমিডিয়া ফাউন্ডেশন, উইকিপিডিয়ার ২৫ বছর পূর্তি, ১৫ জানুয়ারি ২০২৬</a:t>
            </a:r>
            <a:endParaRPr b="0" i="0" sz="1200" u="none" cap="none" strike="noStrike">
              <a:solidFill>
                <a:schemeClr val="dk1"/>
              </a:solidFill>
              <a:latin typeface="Tiro Bangla"/>
              <a:ea typeface="Tiro Bangla"/>
              <a:cs typeface="Tiro Bangla"/>
              <a:sym typeface="Tiro Bangla"/>
            </a:endParaRPr>
          </a:p>
        </p:txBody>
      </p:sp>
      <p:pic>
        <p:nvPicPr>
          <p:cNvPr descr="বাংলা উইকিসম্মেলন ২০২৬ লোগো" id="656" name="Google Shape;656;p26"/>
          <p:cNvPicPr preferRelativeResize="0"/>
          <p:nvPr/>
        </p:nvPicPr>
        <p:blipFill rotWithShape="1">
          <a:blip r:embed="rId4">
            <a:alphaModFix/>
          </a:blip>
          <a:srcRect b="0" l="0" r="0" t="0"/>
          <a:stretch/>
        </p:blipFill>
        <p:spPr>
          <a:xfrm>
            <a:off x="813816" y="987552"/>
            <a:ext cx="1325880" cy="792582"/>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0E4FF"/>
        </a:solidFill>
      </p:bgPr>
    </p:bg>
    <p:spTree>
      <p:nvGrpSpPr>
        <p:cNvPr id="661" name="Shape 661"/>
        <p:cNvGrpSpPr/>
        <p:nvPr/>
      </p:nvGrpSpPr>
      <p:grpSpPr>
        <a:xfrm>
          <a:off x="0" y="0"/>
          <a:ext cx="0" cy="0"/>
          <a:chOff x="0" y="0"/>
          <a:chExt cx="0" cy="0"/>
        </a:xfrm>
      </p:grpSpPr>
      <p:sp>
        <p:nvSpPr>
          <p:cNvPr id="662" name="Google Shape;662;p27"/>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8400F"/>
              </a:buClr>
              <a:buSzPts val="1200"/>
              <a:buFont typeface="Tiro Bangla"/>
              <a:buNone/>
            </a:pPr>
            <a:r>
              <a:rPr b="1" i="0" lang="en-US" sz="1200" u="none" cap="none" strike="noStrike">
                <a:solidFill>
                  <a:srgbClr val="A8400F"/>
                </a:solidFill>
                <a:latin typeface="Tiro Bangla"/>
                <a:ea typeface="Tiro Bangla"/>
                <a:cs typeface="Tiro Bangla"/>
                <a:sym typeface="Tiro Bangla"/>
              </a:rPr>
              <a:t>এআই-যুগে টিকে থাকা</a:t>
            </a:r>
            <a:endParaRPr b="0" i="0" sz="1200" u="none" cap="none" strike="noStrike">
              <a:solidFill>
                <a:schemeClr val="dk1"/>
              </a:solidFill>
              <a:latin typeface="Tiro Bangla"/>
              <a:ea typeface="Tiro Bangla"/>
              <a:cs typeface="Tiro Bangla"/>
              <a:sym typeface="Tiro Bangla"/>
            </a:endParaRPr>
          </a:p>
        </p:txBody>
      </p:sp>
      <p:sp>
        <p:nvSpPr>
          <p:cNvPr id="663" name="Google Shape;663;p27"/>
          <p:cNvSpPr/>
          <p:nvPr/>
        </p:nvSpPr>
        <p:spPr>
          <a:xfrm>
            <a:off x="812800" y="1127720"/>
            <a:ext cx="9810750" cy="49272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84D86"/>
              </a:buClr>
              <a:buSzPts val="3200"/>
              <a:buFont typeface="Tiro Bangla"/>
              <a:buNone/>
            </a:pPr>
            <a:r>
              <a:rPr b="0" i="0" lang="en-US" sz="3200" u="none" cap="none" strike="noStrike">
                <a:solidFill>
                  <a:srgbClr val="384D86"/>
                </a:solidFill>
                <a:latin typeface="Tiro Bangla"/>
                <a:ea typeface="Tiro Bangla"/>
                <a:cs typeface="Tiro Bangla"/>
                <a:sym typeface="Tiro Bangla"/>
              </a:rPr>
              <a:t>এআই-যুগে টিকে থাকার চারটি পথ</a:t>
            </a:r>
            <a:endParaRPr b="0" i="0" sz="3200" u="none" cap="none" strike="noStrike">
              <a:solidFill>
                <a:schemeClr val="dk1"/>
              </a:solidFill>
              <a:latin typeface="Tiro Bangla"/>
              <a:ea typeface="Tiro Bangla"/>
              <a:cs typeface="Tiro Bangla"/>
              <a:sym typeface="Tiro Bangla"/>
            </a:endParaRPr>
          </a:p>
        </p:txBody>
      </p:sp>
      <p:sp>
        <p:nvSpPr>
          <p:cNvPr id="664" name="Google Shape;664;p27"/>
          <p:cNvSpPr/>
          <p:nvPr/>
        </p:nvSpPr>
        <p:spPr>
          <a:xfrm>
            <a:off x="812800" y="6236965"/>
            <a:ext cx="99186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E5878"/>
              </a:buClr>
              <a:buSzPts val="1200"/>
              <a:buFont typeface="Tiro Bangla"/>
              <a:buNone/>
            </a:pPr>
            <a:r>
              <a:rPr b="0" i="0" lang="en-US" sz="1200" u="none" cap="none" strike="noStrike">
                <a:solidFill>
                  <a:srgbClr val="4E5878"/>
                </a:solidFill>
                <a:latin typeface="Tiro Bangla"/>
                <a:ea typeface="Tiro Bangla"/>
                <a:cs typeface="Tiro Bangla"/>
                <a:sym typeface="Tiro Bangla"/>
              </a:rPr>
              <a:t>সূত্র: উইকিমিডিয়া ফাউন্ডেশন, এপ্রিল ২০২৫, নভেম্বর ২০২৫, জানুয়ারি ২০২৬, মার্চ ২০২৬ · বার্ষিক পরিকল্পনা ২০২৬–২৭ (খসড়া)</a:t>
            </a:r>
            <a:endParaRPr b="0" i="0" sz="1200" u="none" cap="none" strike="noStrike">
              <a:solidFill>
                <a:schemeClr val="dk1"/>
              </a:solidFill>
              <a:latin typeface="Tiro Bangla"/>
              <a:ea typeface="Tiro Bangla"/>
              <a:cs typeface="Tiro Bangla"/>
              <a:sym typeface="Tiro Bangla"/>
            </a:endParaRPr>
          </a:p>
        </p:txBody>
      </p:sp>
      <p:sp>
        <p:nvSpPr>
          <p:cNvPr id="665" name="Google Shape;665;p27"/>
          <p:cNvSpPr/>
          <p:nvPr/>
        </p:nvSpPr>
        <p:spPr>
          <a:xfrm>
            <a:off x="10882313" y="6236965"/>
            <a:ext cx="547688"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E5878"/>
              </a:buClr>
              <a:buSzPts val="1200"/>
              <a:buFont typeface="Tiro Bangla"/>
              <a:buNone/>
            </a:pPr>
            <a:r>
              <a:rPr b="0" i="0" lang="en-US" sz="1200" u="none" cap="none" strike="noStrike">
                <a:solidFill>
                  <a:srgbClr val="4E5878"/>
                </a:solidFill>
                <a:latin typeface="Tiro Bangla"/>
                <a:ea typeface="Tiro Bangla"/>
                <a:cs typeface="Tiro Bangla"/>
                <a:sym typeface="Tiro Bangla"/>
              </a:rPr>
              <a:t>১৭ / ১৯</a:t>
            </a:r>
            <a:endParaRPr b="0" i="0" sz="1200" u="none" cap="none" strike="noStrike">
              <a:solidFill>
                <a:schemeClr val="dk1"/>
              </a:solidFill>
              <a:latin typeface="Tiro Bangla"/>
              <a:ea typeface="Tiro Bangla"/>
              <a:cs typeface="Tiro Bangla"/>
              <a:sym typeface="Tiro Bangla"/>
            </a:endParaRPr>
          </a:p>
        </p:txBody>
      </p:sp>
      <p:pic>
        <p:nvPicPr>
          <p:cNvPr descr="বাংলা উইকিসম্মেলন ২০২৬ লোগো" id="666" name="Google Shape;666;p27"/>
          <p:cNvPicPr preferRelativeResize="0"/>
          <p:nvPr/>
        </p:nvPicPr>
        <p:blipFill rotWithShape="1">
          <a:blip r:embed="rId3">
            <a:alphaModFix/>
          </a:blip>
          <a:srcRect b="0" l="0" r="0" t="0"/>
          <a:stretch/>
        </p:blipFill>
        <p:spPr>
          <a:xfrm>
            <a:off x="10314432" y="365760"/>
            <a:ext cx="1115568" cy="666862"/>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0E4FF"/>
        </a:solidFill>
      </p:bgPr>
    </p:bg>
    <p:spTree>
      <p:nvGrpSpPr>
        <p:cNvPr id="671" name="Shape 671"/>
        <p:cNvGrpSpPr/>
        <p:nvPr/>
      </p:nvGrpSpPr>
      <p:grpSpPr>
        <a:xfrm>
          <a:off x="0" y="0"/>
          <a:ext cx="0" cy="0"/>
          <a:chOff x="0" y="0"/>
          <a:chExt cx="0" cy="0"/>
        </a:xfrm>
      </p:grpSpPr>
      <p:sp>
        <p:nvSpPr>
          <p:cNvPr id="672" name="Google Shape;672;p28"/>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8400F"/>
              </a:buClr>
              <a:buSzPts val="1200"/>
              <a:buFont typeface="Tiro Bangla"/>
              <a:buNone/>
            </a:pPr>
            <a:r>
              <a:rPr b="1" i="0" lang="en-US" sz="1200" u="none" cap="none" strike="noStrike">
                <a:solidFill>
                  <a:srgbClr val="A8400F"/>
                </a:solidFill>
                <a:latin typeface="Tiro Bangla"/>
                <a:ea typeface="Tiro Bangla"/>
                <a:cs typeface="Tiro Bangla"/>
                <a:sym typeface="Tiro Bangla"/>
              </a:rPr>
              <a:t>এআই-যুগে টিকে থাকা</a:t>
            </a:r>
            <a:endParaRPr b="0" i="0" sz="1200" u="none" cap="none" strike="noStrike">
              <a:solidFill>
                <a:schemeClr val="dk1"/>
              </a:solidFill>
              <a:latin typeface="Tiro Bangla"/>
              <a:ea typeface="Tiro Bangla"/>
              <a:cs typeface="Tiro Bangla"/>
              <a:sym typeface="Tiro Bangla"/>
            </a:endParaRPr>
          </a:p>
        </p:txBody>
      </p:sp>
      <p:sp>
        <p:nvSpPr>
          <p:cNvPr id="673" name="Google Shape;673;p28"/>
          <p:cNvSpPr/>
          <p:nvPr/>
        </p:nvSpPr>
        <p:spPr>
          <a:xfrm>
            <a:off x="812800" y="1127720"/>
            <a:ext cx="9810750" cy="49272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84D86"/>
              </a:buClr>
              <a:buSzPts val="3200"/>
              <a:buFont typeface="Tiro Bangla"/>
              <a:buNone/>
            </a:pPr>
            <a:r>
              <a:rPr b="0" i="0" lang="en-US" sz="3200" u="none" cap="none" strike="noStrike">
                <a:solidFill>
                  <a:srgbClr val="384D86"/>
                </a:solidFill>
                <a:latin typeface="Tiro Bangla"/>
                <a:ea typeface="Tiro Bangla"/>
                <a:cs typeface="Tiro Bangla"/>
                <a:sym typeface="Tiro Bangla"/>
              </a:rPr>
              <a:t>এআই-যুগে টিকে থাকার চারটি পথ</a:t>
            </a:r>
            <a:endParaRPr b="0" i="0" sz="3200" u="none" cap="none" strike="noStrike">
              <a:solidFill>
                <a:schemeClr val="dk1"/>
              </a:solidFill>
              <a:latin typeface="Tiro Bangla"/>
              <a:ea typeface="Tiro Bangla"/>
              <a:cs typeface="Tiro Bangla"/>
              <a:sym typeface="Tiro Bangla"/>
            </a:endParaRPr>
          </a:p>
        </p:txBody>
      </p:sp>
      <p:sp>
        <p:nvSpPr>
          <p:cNvPr id="674" name="Google Shape;674;p28"/>
          <p:cNvSpPr/>
          <p:nvPr/>
        </p:nvSpPr>
        <p:spPr>
          <a:xfrm>
            <a:off x="812800" y="2362200"/>
            <a:ext cx="5181600" cy="1676400"/>
          </a:xfrm>
          <a:prstGeom prst="roundRect">
            <a:avLst>
              <a:gd fmla="val 4545" name="adj"/>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5" name="Google Shape;675;p28"/>
          <p:cNvSpPr/>
          <p:nvPr/>
        </p:nvSpPr>
        <p:spPr>
          <a:xfrm>
            <a:off x="1016000" y="2540000"/>
            <a:ext cx="4918456" cy="27305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A8400F"/>
              </a:buClr>
              <a:buSzPts val="1500"/>
              <a:buFont typeface="Tiro Bangla"/>
              <a:buNone/>
            </a:pPr>
            <a:r>
              <a:rPr b="1" i="0" lang="en-US" sz="1500" u="none" cap="none" strike="noStrike">
                <a:solidFill>
                  <a:srgbClr val="A8400F"/>
                </a:solidFill>
                <a:latin typeface="Tiro Bangla"/>
                <a:ea typeface="Tiro Bangla"/>
                <a:cs typeface="Tiro Bangla"/>
                <a:sym typeface="Tiro Bangla"/>
              </a:rPr>
              <a:t>১</a:t>
            </a:r>
            <a:r>
              <a:rPr b="1" i="0" lang="en-US" sz="1500" u="none" cap="none" strike="noStrike">
                <a:solidFill>
                  <a:srgbClr val="384D86"/>
                </a:solidFill>
                <a:latin typeface="Tiro Bangla"/>
                <a:ea typeface="Tiro Bangla"/>
                <a:cs typeface="Tiro Bangla"/>
                <a:sym typeface="Tiro Bangla"/>
              </a:rPr>
              <a:t> যাচাই করা জ্ঞানই আমাদের পুঁজি</a:t>
            </a:r>
            <a:endParaRPr b="0" i="0" sz="1500" u="none" cap="none" strike="noStrike">
              <a:solidFill>
                <a:schemeClr val="dk1"/>
              </a:solidFill>
              <a:latin typeface="Tiro Bangla"/>
              <a:ea typeface="Tiro Bangla"/>
              <a:cs typeface="Tiro Bangla"/>
              <a:sym typeface="Tiro Bangla"/>
            </a:endParaRPr>
          </a:p>
        </p:txBody>
      </p:sp>
      <p:sp>
        <p:nvSpPr>
          <p:cNvPr id="676" name="Google Shape;676;p28"/>
          <p:cNvSpPr/>
          <p:nvPr/>
        </p:nvSpPr>
        <p:spPr>
          <a:xfrm>
            <a:off x="1016000" y="2851150"/>
            <a:ext cx="4918456" cy="4520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E5878"/>
              </a:buClr>
              <a:buSzPts val="1200"/>
              <a:buFont typeface="Tiro Bangla"/>
              <a:buNone/>
            </a:pPr>
            <a:r>
              <a:rPr b="0" i="0" lang="en-US" sz="1200" u="none" cap="none" strike="noStrike">
                <a:solidFill>
                  <a:srgbClr val="4E5878"/>
                </a:solidFill>
                <a:latin typeface="Tiro Bangla"/>
                <a:ea typeface="Tiro Bangla"/>
                <a:cs typeface="Tiro Bangla"/>
                <a:sym typeface="Tiro Bangla"/>
              </a:rPr>
              <a:t>এআই-ও চলে মানুষের লেখা, উৎসসহ যাচাই করা জ্ঞানের ওপর। ভুয়া তথ্যসূত্র ধরতে পারে সজাগ সম্প্রদায়; স১৫ ধারায় মুছে ফেলা ১২টি নিবন্ধই তার প্রমাণ।</a:t>
            </a:r>
            <a:endParaRPr b="0" i="0" sz="1200" u="none" cap="none" strike="noStrike">
              <a:solidFill>
                <a:schemeClr val="dk1"/>
              </a:solidFill>
              <a:latin typeface="Tiro Bangla"/>
              <a:ea typeface="Tiro Bangla"/>
              <a:cs typeface="Tiro Bangla"/>
              <a:sym typeface="Tiro Bangla"/>
            </a:endParaRPr>
          </a:p>
        </p:txBody>
      </p:sp>
      <p:sp>
        <p:nvSpPr>
          <p:cNvPr id="677" name="Google Shape;677;p28"/>
          <p:cNvSpPr/>
          <p:nvPr/>
        </p:nvSpPr>
        <p:spPr>
          <a:xfrm>
            <a:off x="812800" y="6236965"/>
            <a:ext cx="99186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E5878"/>
              </a:buClr>
              <a:buSzPts val="1200"/>
              <a:buFont typeface="Tiro Bangla"/>
              <a:buNone/>
            </a:pPr>
            <a:r>
              <a:rPr b="0" i="0" lang="en-US" sz="1200" u="none" cap="none" strike="noStrike">
                <a:solidFill>
                  <a:srgbClr val="4E5878"/>
                </a:solidFill>
                <a:latin typeface="Tiro Bangla"/>
                <a:ea typeface="Tiro Bangla"/>
                <a:cs typeface="Tiro Bangla"/>
                <a:sym typeface="Tiro Bangla"/>
              </a:rPr>
              <a:t>সূত্র: উইকিমিডিয়া ফাউন্ডেশন, এপ্রিল ২০২৫, নভেম্বর ২০২৫, জানুয়ারি ২০২৬, মার্চ ২০২৬ · বার্ষিক পরিকল্পনা ২০২৬–২৭ (খসড়া)</a:t>
            </a:r>
            <a:endParaRPr b="0" i="0" sz="1200" u="none" cap="none" strike="noStrike">
              <a:solidFill>
                <a:schemeClr val="dk1"/>
              </a:solidFill>
              <a:latin typeface="Tiro Bangla"/>
              <a:ea typeface="Tiro Bangla"/>
              <a:cs typeface="Tiro Bangla"/>
              <a:sym typeface="Tiro Bangla"/>
            </a:endParaRPr>
          </a:p>
        </p:txBody>
      </p:sp>
      <p:sp>
        <p:nvSpPr>
          <p:cNvPr id="678" name="Google Shape;678;p28"/>
          <p:cNvSpPr/>
          <p:nvPr/>
        </p:nvSpPr>
        <p:spPr>
          <a:xfrm>
            <a:off x="10882313" y="6236965"/>
            <a:ext cx="547688"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E5878"/>
              </a:buClr>
              <a:buSzPts val="1200"/>
              <a:buFont typeface="Tiro Bangla"/>
              <a:buNone/>
            </a:pPr>
            <a:r>
              <a:rPr b="0" i="0" lang="en-US" sz="1200" u="none" cap="none" strike="noStrike">
                <a:solidFill>
                  <a:srgbClr val="4E5878"/>
                </a:solidFill>
                <a:latin typeface="Tiro Bangla"/>
                <a:ea typeface="Tiro Bangla"/>
                <a:cs typeface="Tiro Bangla"/>
                <a:sym typeface="Tiro Bangla"/>
              </a:rPr>
              <a:t>১৭ / ১৯</a:t>
            </a:r>
            <a:endParaRPr b="0" i="0" sz="1200" u="none" cap="none" strike="noStrike">
              <a:solidFill>
                <a:schemeClr val="dk1"/>
              </a:solidFill>
              <a:latin typeface="Tiro Bangla"/>
              <a:ea typeface="Tiro Bangla"/>
              <a:cs typeface="Tiro Bangla"/>
              <a:sym typeface="Tiro Bangla"/>
            </a:endParaRPr>
          </a:p>
        </p:txBody>
      </p:sp>
      <p:pic>
        <p:nvPicPr>
          <p:cNvPr descr="বাংলা উইকিসম্মেলন ২০২৬ লোগো" id="679" name="Google Shape;679;p28"/>
          <p:cNvPicPr preferRelativeResize="0"/>
          <p:nvPr/>
        </p:nvPicPr>
        <p:blipFill rotWithShape="1">
          <a:blip r:embed="rId3">
            <a:alphaModFix/>
          </a:blip>
          <a:srcRect b="0" l="0" r="0" t="0"/>
          <a:stretch/>
        </p:blipFill>
        <p:spPr>
          <a:xfrm>
            <a:off x="10314432" y="365760"/>
            <a:ext cx="1115568" cy="666862"/>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0E4FF"/>
        </a:solidFill>
      </p:bgPr>
    </p:bg>
    <p:spTree>
      <p:nvGrpSpPr>
        <p:cNvPr id="684" name="Shape 684"/>
        <p:cNvGrpSpPr/>
        <p:nvPr/>
      </p:nvGrpSpPr>
      <p:grpSpPr>
        <a:xfrm>
          <a:off x="0" y="0"/>
          <a:ext cx="0" cy="0"/>
          <a:chOff x="0" y="0"/>
          <a:chExt cx="0" cy="0"/>
        </a:xfrm>
      </p:grpSpPr>
      <p:sp>
        <p:nvSpPr>
          <p:cNvPr id="685" name="Google Shape;685;p29"/>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8400F"/>
              </a:buClr>
              <a:buSzPts val="1200"/>
              <a:buFont typeface="Tiro Bangla"/>
              <a:buNone/>
            </a:pPr>
            <a:r>
              <a:rPr b="1" i="0" lang="en-US" sz="1200" u="none" cap="none" strike="noStrike">
                <a:solidFill>
                  <a:srgbClr val="A8400F"/>
                </a:solidFill>
                <a:latin typeface="Tiro Bangla"/>
                <a:ea typeface="Tiro Bangla"/>
                <a:cs typeface="Tiro Bangla"/>
                <a:sym typeface="Tiro Bangla"/>
              </a:rPr>
              <a:t>এআই-যুগে টিকে থাকা</a:t>
            </a:r>
            <a:endParaRPr b="0" i="0" sz="1200" u="none" cap="none" strike="noStrike">
              <a:solidFill>
                <a:schemeClr val="dk1"/>
              </a:solidFill>
              <a:latin typeface="Tiro Bangla"/>
              <a:ea typeface="Tiro Bangla"/>
              <a:cs typeface="Tiro Bangla"/>
              <a:sym typeface="Tiro Bangla"/>
            </a:endParaRPr>
          </a:p>
        </p:txBody>
      </p:sp>
      <p:sp>
        <p:nvSpPr>
          <p:cNvPr id="686" name="Google Shape;686;p29"/>
          <p:cNvSpPr/>
          <p:nvPr/>
        </p:nvSpPr>
        <p:spPr>
          <a:xfrm>
            <a:off x="812800" y="1127720"/>
            <a:ext cx="9810750" cy="49272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84D86"/>
              </a:buClr>
              <a:buSzPts val="3200"/>
              <a:buFont typeface="Tiro Bangla"/>
              <a:buNone/>
            </a:pPr>
            <a:r>
              <a:rPr b="0" i="0" lang="en-US" sz="3200" u="none" cap="none" strike="noStrike">
                <a:solidFill>
                  <a:srgbClr val="384D86"/>
                </a:solidFill>
                <a:latin typeface="Tiro Bangla"/>
                <a:ea typeface="Tiro Bangla"/>
                <a:cs typeface="Tiro Bangla"/>
                <a:sym typeface="Tiro Bangla"/>
              </a:rPr>
              <a:t>এআই-যুগে টিকে থাকার চারটি পথ</a:t>
            </a:r>
            <a:endParaRPr b="0" i="0" sz="3200" u="none" cap="none" strike="noStrike">
              <a:solidFill>
                <a:schemeClr val="dk1"/>
              </a:solidFill>
              <a:latin typeface="Tiro Bangla"/>
              <a:ea typeface="Tiro Bangla"/>
              <a:cs typeface="Tiro Bangla"/>
              <a:sym typeface="Tiro Bangla"/>
            </a:endParaRPr>
          </a:p>
        </p:txBody>
      </p:sp>
      <p:sp>
        <p:nvSpPr>
          <p:cNvPr id="687" name="Google Shape;687;p29"/>
          <p:cNvSpPr/>
          <p:nvPr/>
        </p:nvSpPr>
        <p:spPr>
          <a:xfrm>
            <a:off x="812800" y="2362200"/>
            <a:ext cx="5181600" cy="1676400"/>
          </a:xfrm>
          <a:prstGeom prst="roundRect">
            <a:avLst>
              <a:gd fmla="val 4545" name="adj"/>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8" name="Google Shape;688;p29"/>
          <p:cNvSpPr/>
          <p:nvPr/>
        </p:nvSpPr>
        <p:spPr>
          <a:xfrm>
            <a:off x="1016000" y="2540000"/>
            <a:ext cx="4918456" cy="27305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A8400F"/>
              </a:buClr>
              <a:buSzPts val="1500"/>
              <a:buFont typeface="Tiro Bangla"/>
              <a:buNone/>
            </a:pPr>
            <a:r>
              <a:rPr b="1" i="0" lang="en-US" sz="1500" u="none" cap="none" strike="noStrike">
                <a:solidFill>
                  <a:srgbClr val="A8400F"/>
                </a:solidFill>
                <a:latin typeface="Tiro Bangla"/>
                <a:ea typeface="Tiro Bangla"/>
                <a:cs typeface="Tiro Bangla"/>
                <a:sym typeface="Tiro Bangla"/>
              </a:rPr>
              <a:t>১</a:t>
            </a:r>
            <a:r>
              <a:rPr b="1" i="0" lang="en-US" sz="1500" u="none" cap="none" strike="noStrike">
                <a:solidFill>
                  <a:srgbClr val="384D86"/>
                </a:solidFill>
                <a:latin typeface="Tiro Bangla"/>
                <a:ea typeface="Tiro Bangla"/>
                <a:cs typeface="Tiro Bangla"/>
                <a:sym typeface="Tiro Bangla"/>
              </a:rPr>
              <a:t> যাচাই করা জ্ঞানই আমাদের পুঁজি</a:t>
            </a:r>
            <a:endParaRPr b="0" i="0" sz="1500" u="none" cap="none" strike="noStrike">
              <a:solidFill>
                <a:schemeClr val="dk1"/>
              </a:solidFill>
              <a:latin typeface="Tiro Bangla"/>
              <a:ea typeface="Tiro Bangla"/>
              <a:cs typeface="Tiro Bangla"/>
              <a:sym typeface="Tiro Bangla"/>
            </a:endParaRPr>
          </a:p>
        </p:txBody>
      </p:sp>
      <p:sp>
        <p:nvSpPr>
          <p:cNvPr id="689" name="Google Shape;689;p29"/>
          <p:cNvSpPr/>
          <p:nvPr/>
        </p:nvSpPr>
        <p:spPr>
          <a:xfrm>
            <a:off x="1016000" y="2851150"/>
            <a:ext cx="4918456" cy="4520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E5878"/>
              </a:buClr>
              <a:buSzPts val="1200"/>
              <a:buFont typeface="Tiro Bangla"/>
              <a:buNone/>
            </a:pPr>
            <a:r>
              <a:rPr b="0" i="0" lang="en-US" sz="1200" u="none" cap="none" strike="noStrike">
                <a:solidFill>
                  <a:srgbClr val="4E5878"/>
                </a:solidFill>
                <a:latin typeface="Tiro Bangla"/>
                <a:ea typeface="Tiro Bangla"/>
                <a:cs typeface="Tiro Bangla"/>
                <a:sym typeface="Tiro Bangla"/>
              </a:rPr>
              <a:t>এআই-ও চলে মানুষের লেখা, উৎসসহ যাচাই করা জ্ঞানের ওপর। ভুয়া তথ্যসূত্র ধরতে পারে সজাগ সম্প্রদায়; স১৫ ধারায় মুছে ফেলা ১২টি নিবন্ধই তার প্রমাণ।</a:t>
            </a:r>
            <a:endParaRPr b="0" i="0" sz="1200" u="none" cap="none" strike="noStrike">
              <a:solidFill>
                <a:schemeClr val="dk1"/>
              </a:solidFill>
              <a:latin typeface="Tiro Bangla"/>
              <a:ea typeface="Tiro Bangla"/>
              <a:cs typeface="Tiro Bangla"/>
              <a:sym typeface="Tiro Bangla"/>
            </a:endParaRPr>
          </a:p>
        </p:txBody>
      </p:sp>
      <p:sp>
        <p:nvSpPr>
          <p:cNvPr id="690" name="Google Shape;690;p29"/>
          <p:cNvSpPr/>
          <p:nvPr/>
        </p:nvSpPr>
        <p:spPr>
          <a:xfrm>
            <a:off x="6197600" y="2362200"/>
            <a:ext cx="5181600" cy="1676400"/>
          </a:xfrm>
          <a:prstGeom prst="roundRect">
            <a:avLst>
              <a:gd fmla="val 4545" name="adj"/>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1" name="Google Shape;691;p29"/>
          <p:cNvSpPr/>
          <p:nvPr/>
        </p:nvSpPr>
        <p:spPr>
          <a:xfrm>
            <a:off x="6400800" y="2540000"/>
            <a:ext cx="4918456" cy="27305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A8400F"/>
              </a:buClr>
              <a:buSzPts val="1500"/>
              <a:buFont typeface="Tiro Bangla"/>
              <a:buNone/>
            </a:pPr>
            <a:r>
              <a:rPr b="1" i="0" lang="en-US" sz="1500" u="none" cap="none" strike="noStrike">
                <a:solidFill>
                  <a:srgbClr val="A8400F"/>
                </a:solidFill>
                <a:latin typeface="Tiro Bangla"/>
                <a:ea typeface="Tiro Bangla"/>
                <a:cs typeface="Tiro Bangla"/>
                <a:sym typeface="Tiro Bangla"/>
              </a:rPr>
              <a:t>২</a:t>
            </a:r>
            <a:r>
              <a:rPr b="1" i="0" lang="en-US" sz="1500" u="none" cap="none" strike="noStrike">
                <a:solidFill>
                  <a:srgbClr val="384D86"/>
                </a:solidFill>
                <a:latin typeface="Tiro Bangla"/>
                <a:ea typeface="Tiro Bangla"/>
                <a:cs typeface="Tiro Bangla"/>
                <a:sym typeface="Tiro Bangla"/>
              </a:rPr>
              <a:t> যারা ব্যবহার করে, তারা দেবে স্বীকৃতি ও অর্থ</a:t>
            </a:r>
            <a:endParaRPr b="0" i="0" sz="1500" u="none" cap="none" strike="noStrike">
              <a:solidFill>
                <a:schemeClr val="dk1"/>
              </a:solidFill>
              <a:latin typeface="Tiro Bangla"/>
              <a:ea typeface="Tiro Bangla"/>
              <a:cs typeface="Tiro Bangla"/>
              <a:sym typeface="Tiro Bangla"/>
            </a:endParaRPr>
          </a:p>
        </p:txBody>
      </p:sp>
      <p:sp>
        <p:nvSpPr>
          <p:cNvPr id="692" name="Google Shape;692;p29"/>
          <p:cNvSpPr/>
          <p:nvPr/>
        </p:nvSpPr>
        <p:spPr>
          <a:xfrm>
            <a:off x="6400800" y="2851150"/>
            <a:ext cx="4918456" cy="87868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E5878"/>
              </a:buClr>
              <a:buSzPts val="1200"/>
              <a:buFont typeface="Tiro Bangla"/>
              <a:buNone/>
            </a:pPr>
            <a:r>
              <a:rPr b="0" i="0" lang="en-US" sz="1200" u="none" cap="none" strike="noStrike">
                <a:solidFill>
                  <a:srgbClr val="4E5878"/>
                </a:solidFill>
                <a:latin typeface="Tiro Bangla"/>
                <a:ea typeface="Tiro Bangla"/>
                <a:cs typeface="Tiro Bangla"/>
                <a:sym typeface="Tiro Bangla"/>
              </a:rPr>
              <a:t>নভেম্বর ২০২৫-এ ফাউন্ডেশনের দুটি দাবি: এআই কোম্পানি উৎসের স্বীকৃতি দেবে, আর Wikimedia Enterprise-এর মাধ্যমে খরচ বহন করবে। জানুয়ারি ২০২৬-এ Amazon, Meta, Microsoft, Mistral AI ও Perplexity-র নাম অংশীদার হিসেবে প্রথম প্রকাশ্যে আসে।</a:t>
            </a:r>
            <a:endParaRPr b="0" i="0" sz="1200" u="none" cap="none" strike="noStrike">
              <a:solidFill>
                <a:schemeClr val="dk1"/>
              </a:solidFill>
              <a:latin typeface="Tiro Bangla"/>
              <a:ea typeface="Tiro Bangla"/>
              <a:cs typeface="Tiro Bangla"/>
              <a:sym typeface="Tiro Bangla"/>
            </a:endParaRPr>
          </a:p>
        </p:txBody>
      </p:sp>
      <p:sp>
        <p:nvSpPr>
          <p:cNvPr id="693" name="Google Shape;693;p29"/>
          <p:cNvSpPr/>
          <p:nvPr/>
        </p:nvSpPr>
        <p:spPr>
          <a:xfrm>
            <a:off x="812800" y="6236965"/>
            <a:ext cx="99186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E5878"/>
              </a:buClr>
              <a:buSzPts val="1200"/>
              <a:buFont typeface="Tiro Bangla"/>
              <a:buNone/>
            </a:pPr>
            <a:r>
              <a:rPr b="0" i="0" lang="en-US" sz="1200" u="none" cap="none" strike="noStrike">
                <a:solidFill>
                  <a:srgbClr val="4E5878"/>
                </a:solidFill>
                <a:latin typeface="Tiro Bangla"/>
                <a:ea typeface="Tiro Bangla"/>
                <a:cs typeface="Tiro Bangla"/>
                <a:sym typeface="Tiro Bangla"/>
              </a:rPr>
              <a:t>সূত্র: উইকিমিডিয়া ফাউন্ডেশন, এপ্রিল ২০২৫, নভেম্বর ২০২৫, জানুয়ারি ২০২৬, মার্চ ২০২৬ · বার্ষিক পরিকল্পনা ২০২৬–২৭ (খসড়া)</a:t>
            </a:r>
            <a:endParaRPr b="0" i="0" sz="1200" u="none" cap="none" strike="noStrike">
              <a:solidFill>
                <a:schemeClr val="dk1"/>
              </a:solidFill>
              <a:latin typeface="Tiro Bangla"/>
              <a:ea typeface="Tiro Bangla"/>
              <a:cs typeface="Tiro Bangla"/>
              <a:sym typeface="Tiro Bangla"/>
            </a:endParaRPr>
          </a:p>
        </p:txBody>
      </p:sp>
      <p:sp>
        <p:nvSpPr>
          <p:cNvPr id="694" name="Google Shape;694;p29"/>
          <p:cNvSpPr/>
          <p:nvPr/>
        </p:nvSpPr>
        <p:spPr>
          <a:xfrm>
            <a:off x="10882313" y="6236965"/>
            <a:ext cx="547688"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E5878"/>
              </a:buClr>
              <a:buSzPts val="1200"/>
              <a:buFont typeface="Tiro Bangla"/>
              <a:buNone/>
            </a:pPr>
            <a:r>
              <a:rPr b="0" i="0" lang="en-US" sz="1200" u="none" cap="none" strike="noStrike">
                <a:solidFill>
                  <a:srgbClr val="4E5878"/>
                </a:solidFill>
                <a:latin typeface="Tiro Bangla"/>
                <a:ea typeface="Tiro Bangla"/>
                <a:cs typeface="Tiro Bangla"/>
                <a:sym typeface="Tiro Bangla"/>
              </a:rPr>
              <a:t>১৭ / ১৯</a:t>
            </a:r>
            <a:endParaRPr b="0" i="0" sz="1200" u="none" cap="none" strike="noStrike">
              <a:solidFill>
                <a:schemeClr val="dk1"/>
              </a:solidFill>
              <a:latin typeface="Tiro Bangla"/>
              <a:ea typeface="Tiro Bangla"/>
              <a:cs typeface="Tiro Bangla"/>
              <a:sym typeface="Tiro Bangla"/>
            </a:endParaRPr>
          </a:p>
        </p:txBody>
      </p:sp>
      <p:pic>
        <p:nvPicPr>
          <p:cNvPr descr="বাংলা উইকিসম্মেলন ২০২৬ লোগো" id="695" name="Google Shape;695;p29"/>
          <p:cNvPicPr preferRelativeResize="0"/>
          <p:nvPr/>
        </p:nvPicPr>
        <p:blipFill rotWithShape="1">
          <a:blip r:embed="rId3">
            <a:alphaModFix/>
          </a:blip>
          <a:srcRect b="0" l="0" r="0" t="0"/>
          <a:stretch/>
        </p:blipFill>
        <p:spPr>
          <a:xfrm>
            <a:off x="10314432" y="365760"/>
            <a:ext cx="1115568" cy="666862"/>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0E4FF"/>
        </a:solidFill>
      </p:bgPr>
    </p:bg>
    <p:spTree>
      <p:nvGrpSpPr>
        <p:cNvPr id="700" name="Shape 700"/>
        <p:cNvGrpSpPr/>
        <p:nvPr/>
      </p:nvGrpSpPr>
      <p:grpSpPr>
        <a:xfrm>
          <a:off x="0" y="0"/>
          <a:ext cx="0" cy="0"/>
          <a:chOff x="0" y="0"/>
          <a:chExt cx="0" cy="0"/>
        </a:xfrm>
      </p:grpSpPr>
      <p:sp>
        <p:nvSpPr>
          <p:cNvPr id="701" name="Google Shape;701;p30"/>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8400F"/>
              </a:buClr>
              <a:buSzPts val="1200"/>
              <a:buFont typeface="Tiro Bangla"/>
              <a:buNone/>
            </a:pPr>
            <a:r>
              <a:rPr b="1" i="0" lang="en-US" sz="1200" u="none" cap="none" strike="noStrike">
                <a:solidFill>
                  <a:srgbClr val="A8400F"/>
                </a:solidFill>
                <a:latin typeface="Tiro Bangla"/>
                <a:ea typeface="Tiro Bangla"/>
                <a:cs typeface="Tiro Bangla"/>
                <a:sym typeface="Tiro Bangla"/>
              </a:rPr>
              <a:t>এআই-যুগে টিকে থাকা</a:t>
            </a:r>
            <a:endParaRPr b="0" i="0" sz="1200" u="none" cap="none" strike="noStrike">
              <a:solidFill>
                <a:schemeClr val="dk1"/>
              </a:solidFill>
              <a:latin typeface="Tiro Bangla"/>
              <a:ea typeface="Tiro Bangla"/>
              <a:cs typeface="Tiro Bangla"/>
              <a:sym typeface="Tiro Bangla"/>
            </a:endParaRPr>
          </a:p>
        </p:txBody>
      </p:sp>
      <p:sp>
        <p:nvSpPr>
          <p:cNvPr id="702" name="Google Shape;702;p30"/>
          <p:cNvSpPr/>
          <p:nvPr/>
        </p:nvSpPr>
        <p:spPr>
          <a:xfrm>
            <a:off x="812800" y="1127720"/>
            <a:ext cx="9810750" cy="49272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84D86"/>
              </a:buClr>
              <a:buSzPts val="3200"/>
              <a:buFont typeface="Tiro Bangla"/>
              <a:buNone/>
            </a:pPr>
            <a:r>
              <a:rPr b="0" i="0" lang="en-US" sz="3200" u="none" cap="none" strike="noStrike">
                <a:solidFill>
                  <a:srgbClr val="384D86"/>
                </a:solidFill>
                <a:latin typeface="Tiro Bangla"/>
                <a:ea typeface="Tiro Bangla"/>
                <a:cs typeface="Tiro Bangla"/>
                <a:sym typeface="Tiro Bangla"/>
              </a:rPr>
              <a:t>এআই-যুগে টিকে থাকার চারটি পথ</a:t>
            </a:r>
            <a:endParaRPr b="0" i="0" sz="3200" u="none" cap="none" strike="noStrike">
              <a:solidFill>
                <a:schemeClr val="dk1"/>
              </a:solidFill>
              <a:latin typeface="Tiro Bangla"/>
              <a:ea typeface="Tiro Bangla"/>
              <a:cs typeface="Tiro Bangla"/>
              <a:sym typeface="Tiro Bangla"/>
            </a:endParaRPr>
          </a:p>
        </p:txBody>
      </p:sp>
      <p:sp>
        <p:nvSpPr>
          <p:cNvPr id="703" name="Google Shape;703;p30"/>
          <p:cNvSpPr/>
          <p:nvPr/>
        </p:nvSpPr>
        <p:spPr>
          <a:xfrm>
            <a:off x="812800" y="2362200"/>
            <a:ext cx="5181600" cy="1676400"/>
          </a:xfrm>
          <a:prstGeom prst="roundRect">
            <a:avLst>
              <a:gd fmla="val 4545" name="adj"/>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4" name="Google Shape;704;p30"/>
          <p:cNvSpPr/>
          <p:nvPr/>
        </p:nvSpPr>
        <p:spPr>
          <a:xfrm>
            <a:off x="1016000" y="2540000"/>
            <a:ext cx="4918456" cy="27305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A8400F"/>
              </a:buClr>
              <a:buSzPts val="1500"/>
              <a:buFont typeface="Tiro Bangla"/>
              <a:buNone/>
            </a:pPr>
            <a:r>
              <a:rPr b="1" i="0" lang="en-US" sz="1500" u="none" cap="none" strike="noStrike">
                <a:solidFill>
                  <a:srgbClr val="A8400F"/>
                </a:solidFill>
                <a:latin typeface="Tiro Bangla"/>
                <a:ea typeface="Tiro Bangla"/>
                <a:cs typeface="Tiro Bangla"/>
                <a:sym typeface="Tiro Bangla"/>
              </a:rPr>
              <a:t>১</a:t>
            </a:r>
            <a:r>
              <a:rPr b="1" i="0" lang="en-US" sz="1500" u="none" cap="none" strike="noStrike">
                <a:solidFill>
                  <a:srgbClr val="384D86"/>
                </a:solidFill>
                <a:latin typeface="Tiro Bangla"/>
                <a:ea typeface="Tiro Bangla"/>
                <a:cs typeface="Tiro Bangla"/>
                <a:sym typeface="Tiro Bangla"/>
              </a:rPr>
              <a:t> যাচাই করা জ্ঞানই আমাদের পুঁজি</a:t>
            </a:r>
            <a:endParaRPr b="0" i="0" sz="1500" u="none" cap="none" strike="noStrike">
              <a:solidFill>
                <a:schemeClr val="dk1"/>
              </a:solidFill>
              <a:latin typeface="Tiro Bangla"/>
              <a:ea typeface="Tiro Bangla"/>
              <a:cs typeface="Tiro Bangla"/>
              <a:sym typeface="Tiro Bangla"/>
            </a:endParaRPr>
          </a:p>
        </p:txBody>
      </p:sp>
      <p:sp>
        <p:nvSpPr>
          <p:cNvPr id="705" name="Google Shape;705;p30"/>
          <p:cNvSpPr/>
          <p:nvPr/>
        </p:nvSpPr>
        <p:spPr>
          <a:xfrm>
            <a:off x="1016000" y="2851150"/>
            <a:ext cx="4918456" cy="4520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E5878"/>
              </a:buClr>
              <a:buSzPts val="1200"/>
              <a:buFont typeface="Tiro Bangla"/>
              <a:buNone/>
            </a:pPr>
            <a:r>
              <a:rPr b="0" i="0" lang="en-US" sz="1200" u="none" cap="none" strike="noStrike">
                <a:solidFill>
                  <a:srgbClr val="4E5878"/>
                </a:solidFill>
                <a:latin typeface="Tiro Bangla"/>
                <a:ea typeface="Tiro Bangla"/>
                <a:cs typeface="Tiro Bangla"/>
                <a:sym typeface="Tiro Bangla"/>
              </a:rPr>
              <a:t>এআই-ও চলে মানুষের লেখা, উৎসসহ যাচাই করা জ্ঞানের ওপর। ভুয়া তথ্যসূত্র ধরতে পারে সজাগ সম্প্রদায়; স১৫ ধারায় মুছে ফেলা ১২টি নিবন্ধই তার প্রমাণ।</a:t>
            </a:r>
            <a:endParaRPr b="0" i="0" sz="1200" u="none" cap="none" strike="noStrike">
              <a:solidFill>
                <a:schemeClr val="dk1"/>
              </a:solidFill>
              <a:latin typeface="Tiro Bangla"/>
              <a:ea typeface="Tiro Bangla"/>
              <a:cs typeface="Tiro Bangla"/>
              <a:sym typeface="Tiro Bangla"/>
            </a:endParaRPr>
          </a:p>
        </p:txBody>
      </p:sp>
      <p:sp>
        <p:nvSpPr>
          <p:cNvPr id="706" name="Google Shape;706;p30"/>
          <p:cNvSpPr/>
          <p:nvPr/>
        </p:nvSpPr>
        <p:spPr>
          <a:xfrm>
            <a:off x="6197600" y="2362200"/>
            <a:ext cx="5181600" cy="1676400"/>
          </a:xfrm>
          <a:prstGeom prst="roundRect">
            <a:avLst>
              <a:gd fmla="val 4545" name="adj"/>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7" name="Google Shape;707;p30"/>
          <p:cNvSpPr/>
          <p:nvPr/>
        </p:nvSpPr>
        <p:spPr>
          <a:xfrm>
            <a:off x="6400800" y="2540000"/>
            <a:ext cx="4918456" cy="27305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A8400F"/>
              </a:buClr>
              <a:buSzPts val="1500"/>
              <a:buFont typeface="Tiro Bangla"/>
              <a:buNone/>
            </a:pPr>
            <a:r>
              <a:rPr b="1" i="0" lang="en-US" sz="1500" u="none" cap="none" strike="noStrike">
                <a:solidFill>
                  <a:srgbClr val="A8400F"/>
                </a:solidFill>
                <a:latin typeface="Tiro Bangla"/>
                <a:ea typeface="Tiro Bangla"/>
                <a:cs typeface="Tiro Bangla"/>
                <a:sym typeface="Tiro Bangla"/>
              </a:rPr>
              <a:t>২</a:t>
            </a:r>
            <a:r>
              <a:rPr b="1" i="0" lang="en-US" sz="1500" u="none" cap="none" strike="noStrike">
                <a:solidFill>
                  <a:srgbClr val="384D86"/>
                </a:solidFill>
                <a:latin typeface="Tiro Bangla"/>
                <a:ea typeface="Tiro Bangla"/>
                <a:cs typeface="Tiro Bangla"/>
                <a:sym typeface="Tiro Bangla"/>
              </a:rPr>
              <a:t> যারা ব্যবহার করে, তারা দেবে স্বীকৃতি ও অর্থ</a:t>
            </a:r>
            <a:endParaRPr b="0" i="0" sz="1500" u="none" cap="none" strike="noStrike">
              <a:solidFill>
                <a:schemeClr val="dk1"/>
              </a:solidFill>
              <a:latin typeface="Tiro Bangla"/>
              <a:ea typeface="Tiro Bangla"/>
              <a:cs typeface="Tiro Bangla"/>
              <a:sym typeface="Tiro Bangla"/>
            </a:endParaRPr>
          </a:p>
        </p:txBody>
      </p:sp>
      <p:sp>
        <p:nvSpPr>
          <p:cNvPr id="708" name="Google Shape;708;p30"/>
          <p:cNvSpPr/>
          <p:nvPr/>
        </p:nvSpPr>
        <p:spPr>
          <a:xfrm>
            <a:off x="6400800" y="2851150"/>
            <a:ext cx="4918456" cy="87868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E5878"/>
              </a:buClr>
              <a:buSzPts val="1200"/>
              <a:buFont typeface="Tiro Bangla"/>
              <a:buNone/>
            </a:pPr>
            <a:r>
              <a:rPr b="0" i="0" lang="en-US" sz="1200" u="none" cap="none" strike="noStrike">
                <a:solidFill>
                  <a:srgbClr val="4E5878"/>
                </a:solidFill>
                <a:latin typeface="Tiro Bangla"/>
                <a:ea typeface="Tiro Bangla"/>
                <a:cs typeface="Tiro Bangla"/>
                <a:sym typeface="Tiro Bangla"/>
              </a:rPr>
              <a:t>নভেম্বর ২০২৫-এ ফাউন্ডেশনের দুটি দাবি: এআই কোম্পানি উৎসের স্বীকৃতি দেবে, আর Wikimedia Enterprise-এর মাধ্যমে খরচ বহন করবে। জানুয়ারি ২০২৬-এ Amazon, Meta, Microsoft, Mistral AI ও Perplexity-র নাম অংশীদার হিসেবে প্রথম প্রকাশ্যে আসে।</a:t>
            </a:r>
            <a:endParaRPr b="0" i="0" sz="1200" u="none" cap="none" strike="noStrike">
              <a:solidFill>
                <a:schemeClr val="dk1"/>
              </a:solidFill>
              <a:latin typeface="Tiro Bangla"/>
              <a:ea typeface="Tiro Bangla"/>
              <a:cs typeface="Tiro Bangla"/>
              <a:sym typeface="Tiro Bangla"/>
            </a:endParaRPr>
          </a:p>
        </p:txBody>
      </p:sp>
      <p:sp>
        <p:nvSpPr>
          <p:cNvPr id="709" name="Google Shape;709;p30"/>
          <p:cNvSpPr/>
          <p:nvPr/>
        </p:nvSpPr>
        <p:spPr>
          <a:xfrm>
            <a:off x="812800" y="4165600"/>
            <a:ext cx="5181600" cy="1676400"/>
          </a:xfrm>
          <a:prstGeom prst="roundRect">
            <a:avLst>
              <a:gd fmla="val 4545" name="adj"/>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0" name="Google Shape;710;p30"/>
          <p:cNvSpPr/>
          <p:nvPr/>
        </p:nvSpPr>
        <p:spPr>
          <a:xfrm>
            <a:off x="1016000" y="4343400"/>
            <a:ext cx="4918456" cy="27305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A8400F"/>
              </a:buClr>
              <a:buSzPts val="1500"/>
              <a:buFont typeface="Tiro Bangla"/>
              <a:buNone/>
            </a:pPr>
            <a:r>
              <a:rPr b="1" i="0" lang="en-US" sz="1500" u="none" cap="none" strike="noStrike">
                <a:solidFill>
                  <a:srgbClr val="A8400F"/>
                </a:solidFill>
                <a:latin typeface="Tiro Bangla"/>
                <a:ea typeface="Tiro Bangla"/>
                <a:cs typeface="Tiro Bangla"/>
                <a:sym typeface="Tiro Bangla"/>
              </a:rPr>
              <a:t>৩</a:t>
            </a:r>
            <a:r>
              <a:rPr b="1" i="0" lang="en-US" sz="1500" u="none" cap="none" strike="noStrike">
                <a:solidFill>
                  <a:srgbClr val="384D86"/>
                </a:solidFill>
                <a:latin typeface="Tiro Bangla"/>
                <a:ea typeface="Tiro Bangla"/>
                <a:cs typeface="Tiro Bangla"/>
                <a:sym typeface="Tiro Bangla"/>
              </a:rPr>
              <a:t> মানুষ আগে, এআই সহকারী</a:t>
            </a:r>
            <a:endParaRPr b="0" i="0" sz="1500" u="none" cap="none" strike="noStrike">
              <a:solidFill>
                <a:schemeClr val="dk1"/>
              </a:solidFill>
              <a:latin typeface="Tiro Bangla"/>
              <a:ea typeface="Tiro Bangla"/>
              <a:cs typeface="Tiro Bangla"/>
              <a:sym typeface="Tiro Bangla"/>
            </a:endParaRPr>
          </a:p>
        </p:txBody>
      </p:sp>
      <p:sp>
        <p:nvSpPr>
          <p:cNvPr id="711" name="Google Shape;711;p30"/>
          <p:cNvSpPr/>
          <p:nvPr/>
        </p:nvSpPr>
        <p:spPr>
          <a:xfrm>
            <a:off x="1016000" y="4654550"/>
            <a:ext cx="4918456" cy="4520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E5878"/>
              </a:buClr>
              <a:buSzPts val="1200"/>
              <a:buFont typeface="Tiro Bangla"/>
              <a:buNone/>
            </a:pPr>
            <a:r>
              <a:rPr b="0" i="0" lang="en-US" sz="1200" u="none" cap="none" strike="noStrike">
                <a:solidFill>
                  <a:srgbClr val="4E5878"/>
                </a:solidFill>
                <a:latin typeface="Tiro Bangla"/>
                <a:ea typeface="Tiro Bangla"/>
                <a:cs typeface="Tiro Bangla"/>
                <a:sym typeface="Tiro Bangla"/>
              </a:rPr>
              <a:t>ফাউন্ডেশনের এআই কৌশল (এপ্রিল ২০২৫) অনুযায়ী এআই সম্পাদকের জায়গা নেবে না; বরং অনুবাদ, নজরদারি আর নতুনদের মেন্টরশিপে সাহায্য করবে।</a:t>
            </a:r>
            <a:endParaRPr b="0" i="0" sz="1200" u="none" cap="none" strike="noStrike">
              <a:solidFill>
                <a:schemeClr val="dk1"/>
              </a:solidFill>
              <a:latin typeface="Tiro Bangla"/>
              <a:ea typeface="Tiro Bangla"/>
              <a:cs typeface="Tiro Bangla"/>
              <a:sym typeface="Tiro Bangla"/>
            </a:endParaRPr>
          </a:p>
        </p:txBody>
      </p:sp>
      <p:sp>
        <p:nvSpPr>
          <p:cNvPr id="712" name="Google Shape;712;p30"/>
          <p:cNvSpPr/>
          <p:nvPr/>
        </p:nvSpPr>
        <p:spPr>
          <a:xfrm>
            <a:off x="812800" y="6236965"/>
            <a:ext cx="99186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E5878"/>
              </a:buClr>
              <a:buSzPts val="1200"/>
              <a:buFont typeface="Tiro Bangla"/>
              <a:buNone/>
            </a:pPr>
            <a:r>
              <a:rPr b="0" i="0" lang="en-US" sz="1200" u="none" cap="none" strike="noStrike">
                <a:solidFill>
                  <a:srgbClr val="4E5878"/>
                </a:solidFill>
                <a:latin typeface="Tiro Bangla"/>
                <a:ea typeface="Tiro Bangla"/>
                <a:cs typeface="Tiro Bangla"/>
                <a:sym typeface="Tiro Bangla"/>
              </a:rPr>
              <a:t>সূত্র: উইকিমিডিয়া ফাউন্ডেশন, এপ্রিল ২০২৫, নভেম্বর ২০২৫, জানুয়ারি ২০২৬, মার্চ ২০২৬ · বার্ষিক পরিকল্পনা ২০২৬–২৭ (খসড়া)</a:t>
            </a:r>
            <a:endParaRPr b="0" i="0" sz="1200" u="none" cap="none" strike="noStrike">
              <a:solidFill>
                <a:schemeClr val="dk1"/>
              </a:solidFill>
              <a:latin typeface="Tiro Bangla"/>
              <a:ea typeface="Tiro Bangla"/>
              <a:cs typeface="Tiro Bangla"/>
              <a:sym typeface="Tiro Bangla"/>
            </a:endParaRPr>
          </a:p>
        </p:txBody>
      </p:sp>
      <p:sp>
        <p:nvSpPr>
          <p:cNvPr id="713" name="Google Shape;713;p30"/>
          <p:cNvSpPr/>
          <p:nvPr/>
        </p:nvSpPr>
        <p:spPr>
          <a:xfrm>
            <a:off x="10882313" y="6236965"/>
            <a:ext cx="547688"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E5878"/>
              </a:buClr>
              <a:buSzPts val="1200"/>
              <a:buFont typeface="Tiro Bangla"/>
              <a:buNone/>
            </a:pPr>
            <a:r>
              <a:rPr b="0" i="0" lang="en-US" sz="1200" u="none" cap="none" strike="noStrike">
                <a:solidFill>
                  <a:srgbClr val="4E5878"/>
                </a:solidFill>
                <a:latin typeface="Tiro Bangla"/>
                <a:ea typeface="Tiro Bangla"/>
                <a:cs typeface="Tiro Bangla"/>
                <a:sym typeface="Tiro Bangla"/>
              </a:rPr>
              <a:t>১৭ / ১৯</a:t>
            </a:r>
            <a:endParaRPr b="0" i="0" sz="1200" u="none" cap="none" strike="noStrike">
              <a:solidFill>
                <a:schemeClr val="dk1"/>
              </a:solidFill>
              <a:latin typeface="Tiro Bangla"/>
              <a:ea typeface="Tiro Bangla"/>
              <a:cs typeface="Tiro Bangla"/>
              <a:sym typeface="Tiro Bangla"/>
            </a:endParaRPr>
          </a:p>
        </p:txBody>
      </p:sp>
      <p:pic>
        <p:nvPicPr>
          <p:cNvPr descr="বাংলা উইকিসম্মেলন ২০২৬ লোগো" id="714" name="Google Shape;714;p30"/>
          <p:cNvPicPr preferRelativeResize="0"/>
          <p:nvPr/>
        </p:nvPicPr>
        <p:blipFill rotWithShape="1">
          <a:blip r:embed="rId3">
            <a:alphaModFix/>
          </a:blip>
          <a:srcRect b="0" l="0" r="0" t="0"/>
          <a:stretch/>
        </p:blipFill>
        <p:spPr>
          <a:xfrm>
            <a:off x="10314432" y="365760"/>
            <a:ext cx="1115568" cy="666862"/>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0E4FF"/>
        </a:solidFill>
      </p:bgPr>
    </p:bg>
    <p:spTree>
      <p:nvGrpSpPr>
        <p:cNvPr id="719" name="Shape 719"/>
        <p:cNvGrpSpPr/>
        <p:nvPr/>
      </p:nvGrpSpPr>
      <p:grpSpPr>
        <a:xfrm>
          <a:off x="0" y="0"/>
          <a:ext cx="0" cy="0"/>
          <a:chOff x="0" y="0"/>
          <a:chExt cx="0" cy="0"/>
        </a:xfrm>
      </p:grpSpPr>
      <p:sp>
        <p:nvSpPr>
          <p:cNvPr id="720" name="Google Shape;720;p31"/>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8400F"/>
              </a:buClr>
              <a:buSzPts val="1200"/>
              <a:buFont typeface="Tiro Bangla"/>
              <a:buNone/>
            </a:pPr>
            <a:r>
              <a:rPr b="1" i="0" lang="en-US" sz="1200" u="none" cap="none" strike="noStrike">
                <a:solidFill>
                  <a:srgbClr val="A8400F"/>
                </a:solidFill>
                <a:latin typeface="Tiro Bangla"/>
                <a:ea typeface="Tiro Bangla"/>
                <a:cs typeface="Tiro Bangla"/>
                <a:sym typeface="Tiro Bangla"/>
              </a:rPr>
              <a:t>এআই-যুগে টিকে থাকা</a:t>
            </a:r>
            <a:endParaRPr b="0" i="0" sz="1200" u="none" cap="none" strike="noStrike">
              <a:solidFill>
                <a:schemeClr val="dk1"/>
              </a:solidFill>
              <a:latin typeface="Tiro Bangla"/>
              <a:ea typeface="Tiro Bangla"/>
              <a:cs typeface="Tiro Bangla"/>
              <a:sym typeface="Tiro Bangla"/>
            </a:endParaRPr>
          </a:p>
        </p:txBody>
      </p:sp>
      <p:sp>
        <p:nvSpPr>
          <p:cNvPr id="721" name="Google Shape;721;p31"/>
          <p:cNvSpPr/>
          <p:nvPr/>
        </p:nvSpPr>
        <p:spPr>
          <a:xfrm>
            <a:off x="812800" y="1127720"/>
            <a:ext cx="9810750" cy="49272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84D86"/>
              </a:buClr>
              <a:buSzPts val="3200"/>
              <a:buFont typeface="Tiro Bangla"/>
              <a:buNone/>
            </a:pPr>
            <a:r>
              <a:rPr b="0" i="0" lang="en-US" sz="3200" u="none" cap="none" strike="noStrike">
                <a:solidFill>
                  <a:srgbClr val="384D86"/>
                </a:solidFill>
                <a:latin typeface="Tiro Bangla"/>
                <a:ea typeface="Tiro Bangla"/>
                <a:cs typeface="Tiro Bangla"/>
                <a:sym typeface="Tiro Bangla"/>
              </a:rPr>
              <a:t>এআই-যুগে টিকে থাকার চারটি পথ</a:t>
            </a:r>
            <a:endParaRPr b="0" i="0" sz="3200" u="none" cap="none" strike="noStrike">
              <a:solidFill>
                <a:schemeClr val="dk1"/>
              </a:solidFill>
              <a:latin typeface="Tiro Bangla"/>
              <a:ea typeface="Tiro Bangla"/>
              <a:cs typeface="Tiro Bangla"/>
              <a:sym typeface="Tiro Bangla"/>
            </a:endParaRPr>
          </a:p>
        </p:txBody>
      </p:sp>
      <p:sp>
        <p:nvSpPr>
          <p:cNvPr id="722" name="Google Shape;722;p31"/>
          <p:cNvSpPr/>
          <p:nvPr/>
        </p:nvSpPr>
        <p:spPr>
          <a:xfrm>
            <a:off x="812800" y="2362200"/>
            <a:ext cx="5181600" cy="1676400"/>
          </a:xfrm>
          <a:prstGeom prst="roundRect">
            <a:avLst>
              <a:gd fmla="val 4545" name="adj"/>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3" name="Google Shape;723;p31"/>
          <p:cNvSpPr/>
          <p:nvPr/>
        </p:nvSpPr>
        <p:spPr>
          <a:xfrm>
            <a:off x="1016000" y="2540000"/>
            <a:ext cx="4918456" cy="27305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A8400F"/>
              </a:buClr>
              <a:buSzPts val="1500"/>
              <a:buFont typeface="Tiro Bangla"/>
              <a:buNone/>
            </a:pPr>
            <a:r>
              <a:rPr b="1" i="0" lang="en-US" sz="1500" u="none" cap="none" strike="noStrike">
                <a:solidFill>
                  <a:srgbClr val="A8400F"/>
                </a:solidFill>
                <a:latin typeface="Tiro Bangla"/>
                <a:ea typeface="Tiro Bangla"/>
                <a:cs typeface="Tiro Bangla"/>
                <a:sym typeface="Tiro Bangla"/>
              </a:rPr>
              <a:t>১</a:t>
            </a:r>
            <a:r>
              <a:rPr b="1" i="0" lang="en-US" sz="1500" u="none" cap="none" strike="noStrike">
                <a:solidFill>
                  <a:srgbClr val="384D86"/>
                </a:solidFill>
                <a:latin typeface="Tiro Bangla"/>
                <a:ea typeface="Tiro Bangla"/>
                <a:cs typeface="Tiro Bangla"/>
                <a:sym typeface="Tiro Bangla"/>
              </a:rPr>
              <a:t> যাচাই করা জ্ঞানই আমাদের পুঁজি</a:t>
            </a:r>
            <a:endParaRPr b="0" i="0" sz="1500" u="none" cap="none" strike="noStrike">
              <a:solidFill>
                <a:schemeClr val="dk1"/>
              </a:solidFill>
              <a:latin typeface="Tiro Bangla"/>
              <a:ea typeface="Tiro Bangla"/>
              <a:cs typeface="Tiro Bangla"/>
              <a:sym typeface="Tiro Bangla"/>
            </a:endParaRPr>
          </a:p>
        </p:txBody>
      </p:sp>
      <p:sp>
        <p:nvSpPr>
          <p:cNvPr id="724" name="Google Shape;724;p31"/>
          <p:cNvSpPr/>
          <p:nvPr/>
        </p:nvSpPr>
        <p:spPr>
          <a:xfrm>
            <a:off x="1016000" y="2851150"/>
            <a:ext cx="4918456" cy="4520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E5878"/>
              </a:buClr>
              <a:buSzPts val="1200"/>
              <a:buFont typeface="Tiro Bangla"/>
              <a:buNone/>
            </a:pPr>
            <a:r>
              <a:rPr b="0" i="0" lang="en-US" sz="1200" u="none" cap="none" strike="noStrike">
                <a:solidFill>
                  <a:srgbClr val="4E5878"/>
                </a:solidFill>
                <a:latin typeface="Tiro Bangla"/>
                <a:ea typeface="Tiro Bangla"/>
                <a:cs typeface="Tiro Bangla"/>
                <a:sym typeface="Tiro Bangla"/>
              </a:rPr>
              <a:t>এআই-ও চলে মানুষের লেখা, উৎসসহ যাচাই করা জ্ঞানের ওপর। ভুয়া তথ্যসূত্র ধরতে পারে সজাগ সম্প্রদায়</a:t>
            </a:r>
            <a:endParaRPr b="0" i="0" sz="1200" u="none" cap="none" strike="noStrike">
              <a:solidFill>
                <a:schemeClr val="dk1"/>
              </a:solidFill>
              <a:latin typeface="Tiro Bangla"/>
              <a:ea typeface="Tiro Bangla"/>
              <a:cs typeface="Tiro Bangla"/>
              <a:sym typeface="Tiro Bangla"/>
            </a:endParaRPr>
          </a:p>
        </p:txBody>
      </p:sp>
      <p:sp>
        <p:nvSpPr>
          <p:cNvPr id="725" name="Google Shape;725;p31"/>
          <p:cNvSpPr/>
          <p:nvPr/>
        </p:nvSpPr>
        <p:spPr>
          <a:xfrm>
            <a:off x="6197600" y="2362200"/>
            <a:ext cx="5181600" cy="1676400"/>
          </a:xfrm>
          <a:prstGeom prst="roundRect">
            <a:avLst>
              <a:gd fmla="val 4545" name="adj"/>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6" name="Google Shape;726;p31"/>
          <p:cNvSpPr/>
          <p:nvPr/>
        </p:nvSpPr>
        <p:spPr>
          <a:xfrm>
            <a:off x="6400800" y="2540000"/>
            <a:ext cx="4918456" cy="27305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A8400F"/>
              </a:buClr>
              <a:buSzPts val="1500"/>
              <a:buFont typeface="Tiro Bangla"/>
              <a:buNone/>
            </a:pPr>
            <a:r>
              <a:rPr b="1" i="0" lang="en-US" sz="1500" u="none" cap="none" strike="noStrike">
                <a:solidFill>
                  <a:srgbClr val="A8400F"/>
                </a:solidFill>
                <a:latin typeface="Tiro Bangla"/>
                <a:ea typeface="Tiro Bangla"/>
                <a:cs typeface="Tiro Bangla"/>
                <a:sym typeface="Tiro Bangla"/>
              </a:rPr>
              <a:t>২</a:t>
            </a:r>
            <a:r>
              <a:rPr b="1" i="0" lang="en-US" sz="1500" u="none" cap="none" strike="noStrike">
                <a:solidFill>
                  <a:srgbClr val="384D86"/>
                </a:solidFill>
                <a:latin typeface="Tiro Bangla"/>
                <a:ea typeface="Tiro Bangla"/>
                <a:cs typeface="Tiro Bangla"/>
                <a:sym typeface="Tiro Bangla"/>
              </a:rPr>
              <a:t> যারা ব্যবহার করে, তারা দেবে স্বীকৃতি ও অর্থ</a:t>
            </a:r>
            <a:endParaRPr b="0" i="0" sz="1500" u="none" cap="none" strike="noStrike">
              <a:solidFill>
                <a:schemeClr val="dk1"/>
              </a:solidFill>
              <a:latin typeface="Tiro Bangla"/>
              <a:ea typeface="Tiro Bangla"/>
              <a:cs typeface="Tiro Bangla"/>
              <a:sym typeface="Tiro Bangla"/>
            </a:endParaRPr>
          </a:p>
        </p:txBody>
      </p:sp>
      <p:sp>
        <p:nvSpPr>
          <p:cNvPr id="727" name="Google Shape;727;p31"/>
          <p:cNvSpPr/>
          <p:nvPr/>
        </p:nvSpPr>
        <p:spPr>
          <a:xfrm>
            <a:off x="6400800" y="2851150"/>
            <a:ext cx="4918456" cy="87868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E5878"/>
              </a:buClr>
              <a:buSzPts val="1200"/>
              <a:buFont typeface="Tiro Bangla"/>
              <a:buNone/>
            </a:pPr>
            <a:r>
              <a:rPr b="0" i="0" lang="en-US" sz="1200" u="none" cap="none" strike="noStrike">
                <a:solidFill>
                  <a:srgbClr val="4E5878"/>
                </a:solidFill>
                <a:latin typeface="Tiro Bangla"/>
                <a:ea typeface="Tiro Bangla"/>
                <a:cs typeface="Tiro Bangla"/>
                <a:sym typeface="Tiro Bangla"/>
              </a:rPr>
              <a:t>নভেম্বর ২০২৫-এ ফাউন্ডেশনের দুটি দাবি করে: এআই কোম্পানি উৎসের স্বীকৃতি দেবে, আর Wikimedia Enterprise-এর মাধ্যমে খরচ বহন করবে। জানুয়ারি ২০২৬-এ Amazon, Meta, Microsoft, Mistral AI ও Perplexity-র নাম অংশীদার হিসেবে প্রথম প্রকাশ্যে আসে।</a:t>
            </a:r>
            <a:endParaRPr b="0" i="0" sz="1200" u="none" cap="none" strike="noStrike">
              <a:solidFill>
                <a:schemeClr val="dk1"/>
              </a:solidFill>
              <a:latin typeface="Tiro Bangla"/>
              <a:ea typeface="Tiro Bangla"/>
              <a:cs typeface="Tiro Bangla"/>
              <a:sym typeface="Tiro Bangla"/>
            </a:endParaRPr>
          </a:p>
        </p:txBody>
      </p:sp>
      <p:sp>
        <p:nvSpPr>
          <p:cNvPr id="728" name="Google Shape;728;p31"/>
          <p:cNvSpPr/>
          <p:nvPr/>
        </p:nvSpPr>
        <p:spPr>
          <a:xfrm>
            <a:off x="812800" y="4165600"/>
            <a:ext cx="5181600" cy="1676400"/>
          </a:xfrm>
          <a:prstGeom prst="roundRect">
            <a:avLst>
              <a:gd fmla="val 4545" name="adj"/>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9" name="Google Shape;729;p31"/>
          <p:cNvSpPr/>
          <p:nvPr/>
        </p:nvSpPr>
        <p:spPr>
          <a:xfrm>
            <a:off x="1016000" y="4343400"/>
            <a:ext cx="4918456" cy="27305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A8400F"/>
              </a:buClr>
              <a:buSzPts val="1500"/>
              <a:buFont typeface="Tiro Bangla"/>
              <a:buNone/>
            </a:pPr>
            <a:r>
              <a:rPr b="1" i="0" lang="en-US" sz="1500" u="none" cap="none" strike="noStrike">
                <a:solidFill>
                  <a:srgbClr val="A8400F"/>
                </a:solidFill>
                <a:latin typeface="Tiro Bangla"/>
                <a:ea typeface="Tiro Bangla"/>
                <a:cs typeface="Tiro Bangla"/>
                <a:sym typeface="Tiro Bangla"/>
              </a:rPr>
              <a:t>৩</a:t>
            </a:r>
            <a:r>
              <a:rPr b="1" i="0" lang="en-US" sz="1500" u="none" cap="none" strike="noStrike">
                <a:solidFill>
                  <a:srgbClr val="384D86"/>
                </a:solidFill>
                <a:latin typeface="Tiro Bangla"/>
                <a:ea typeface="Tiro Bangla"/>
                <a:cs typeface="Tiro Bangla"/>
                <a:sym typeface="Tiro Bangla"/>
              </a:rPr>
              <a:t> মানুষ আগে, এআই সহকারী</a:t>
            </a:r>
            <a:endParaRPr b="0" i="0" sz="1500" u="none" cap="none" strike="noStrike">
              <a:solidFill>
                <a:schemeClr val="dk1"/>
              </a:solidFill>
              <a:latin typeface="Tiro Bangla"/>
              <a:ea typeface="Tiro Bangla"/>
              <a:cs typeface="Tiro Bangla"/>
              <a:sym typeface="Tiro Bangla"/>
            </a:endParaRPr>
          </a:p>
        </p:txBody>
      </p:sp>
      <p:sp>
        <p:nvSpPr>
          <p:cNvPr id="730" name="Google Shape;730;p31"/>
          <p:cNvSpPr/>
          <p:nvPr/>
        </p:nvSpPr>
        <p:spPr>
          <a:xfrm>
            <a:off x="1016000" y="4654550"/>
            <a:ext cx="4918456" cy="4520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E5878"/>
              </a:buClr>
              <a:buSzPts val="1200"/>
              <a:buFont typeface="Tiro Bangla"/>
              <a:buNone/>
            </a:pPr>
            <a:r>
              <a:rPr b="0" i="0" lang="en-US" sz="1200" u="none" cap="none" strike="noStrike">
                <a:solidFill>
                  <a:srgbClr val="4E5878"/>
                </a:solidFill>
                <a:latin typeface="Tiro Bangla"/>
                <a:ea typeface="Tiro Bangla"/>
                <a:cs typeface="Tiro Bangla"/>
                <a:sym typeface="Tiro Bangla"/>
              </a:rPr>
              <a:t>ফাউন্ডেশনের এআই কৌশল (এপ্রিল ২০২৫) অনুযায়ী এআই সম্পাদকের জায়গা নেবে না; বরং অনুবাদ, নজরদারি আর নতুনদের মেন্টরশিপে সাহায্য করবে।</a:t>
            </a:r>
            <a:endParaRPr b="0" i="0" sz="1200" u="none" cap="none" strike="noStrike">
              <a:solidFill>
                <a:schemeClr val="dk1"/>
              </a:solidFill>
              <a:latin typeface="Tiro Bangla"/>
              <a:ea typeface="Tiro Bangla"/>
              <a:cs typeface="Tiro Bangla"/>
              <a:sym typeface="Tiro Bangla"/>
            </a:endParaRPr>
          </a:p>
        </p:txBody>
      </p:sp>
      <p:sp>
        <p:nvSpPr>
          <p:cNvPr id="731" name="Google Shape;731;p31"/>
          <p:cNvSpPr/>
          <p:nvPr/>
        </p:nvSpPr>
        <p:spPr>
          <a:xfrm>
            <a:off x="6197600" y="4165600"/>
            <a:ext cx="5181600" cy="1676400"/>
          </a:xfrm>
          <a:prstGeom prst="roundRect">
            <a:avLst>
              <a:gd fmla="val 4545" name="adj"/>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2" name="Google Shape;732;p31"/>
          <p:cNvSpPr/>
          <p:nvPr/>
        </p:nvSpPr>
        <p:spPr>
          <a:xfrm>
            <a:off x="6400800" y="4343400"/>
            <a:ext cx="4918456" cy="27305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A8400F"/>
              </a:buClr>
              <a:buSzPts val="1500"/>
              <a:buFont typeface="Tiro Bangla"/>
              <a:buNone/>
            </a:pPr>
            <a:r>
              <a:rPr b="1" i="0" lang="en-US" sz="1500" u="none" cap="none" strike="noStrike">
                <a:solidFill>
                  <a:srgbClr val="A8400F"/>
                </a:solidFill>
                <a:latin typeface="Tiro Bangla"/>
                <a:ea typeface="Tiro Bangla"/>
                <a:cs typeface="Tiro Bangla"/>
                <a:sym typeface="Tiro Bangla"/>
              </a:rPr>
              <a:t>৪</a:t>
            </a:r>
            <a:r>
              <a:rPr b="1" i="0" lang="en-US" sz="1500" u="none" cap="none" strike="noStrike">
                <a:solidFill>
                  <a:srgbClr val="384D86"/>
                </a:solidFill>
                <a:latin typeface="Tiro Bangla"/>
                <a:ea typeface="Tiro Bangla"/>
                <a:cs typeface="Tiro Bangla"/>
                <a:sym typeface="Tiro Bangla"/>
              </a:rPr>
              <a:t> সার্চের বাইরেও পাঠকের কাছে</a:t>
            </a:r>
            <a:endParaRPr b="0" i="0" sz="1500" u="none" cap="none" strike="noStrike">
              <a:solidFill>
                <a:schemeClr val="dk1"/>
              </a:solidFill>
              <a:latin typeface="Tiro Bangla"/>
              <a:ea typeface="Tiro Bangla"/>
              <a:cs typeface="Tiro Bangla"/>
              <a:sym typeface="Tiro Bangla"/>
            </a:endParaRPr>
          </a:p>
        </p:txBody>
      </p:sp>
      <p:sp>
        <p:nvSpPr>
          <p:cNvPr id="733" name="Google Shape;733;p31"/>
          <p:cNvSpPr/>
          <p:nvPr/>
        </p:nvSpPr>
        <p:spPr>
          <a:xfrm>
            <a:off x="6400800" y="4654550"/>
            <a:ext cx="4918456" cy="66536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E5878"/>
              </a:buClr>
              <a:buSzPts val="1200"/>
              <a:buFont typeface="Tiro Bangla"/>
              <a:buNone/>
            </a:pPr>
            <a:r>
              <a:rPr b="0" i="0" lang="en-US" sz="1200" u="none" cap="none" strike="noStrike">
                <a:solidFill>
                  <a:srgbClr val="4E5878"/>
                </a:solidFill>
                <a:latin typeface="Tiro Bangla"/>
                <a:ea typeface="Tiro Bangla"/>
                <a:cs typeface="Tiro Bangla"/>
                <a:sym typeface="Tiro Bangla"/>
              </a:rPr>
              <a:t>এতদিন প্রায় ৯০% পাঠক আসতেন গুগল সার্চ থেকে। ফাউন্ডেশনের মতে এই </a:t>
            </a:r>
            <a:r>
              <a:rPr lang="en-US" sz="1200">
                <a:solidFill>
                  <a:srgbClr val="4E5878"/>
                </a:solidFill>
                <a:latin typeface="Tiro Bangla"/>
                <a:ea typeface="Tiro Bangla"/>
                <a:cs typeface="Tiro Bangla"/>
                <a:sym typeface="Tiro Bangla"/>
              </a:rPr>
              <a:t>পরিবর্তন</a:t>
            </a:r>
            <a:r>
              <a:rPr b="0" i="0" lang="en-US" sz="1200" u="none" cap="none" strike="noStrike">
                <a:solidFill>
                  <a:srgbClr val="4E5878"/>
                </a:solidFill>
                <a:latin typeface="Tiro Bangla"/>
                <a:ea typeface="Tiro Bangla"/>
                <a:cs typeface="Tiro Bangla"/>
                <a:sym typeface="Tiro Bangla"/>
              </a:rPr>
              <a:t> ‘সাময়িক নয়, কাঠামোগত’; তাই ২০২৬–২৭ সালের পরিকল্পনার প্রথম লক্ষ্য নতুন পথে পাঠকের কাছে পৌঁছানো।</a:t>
            </a:r>
            <a:endParaRPr b="0" i="0" sz="1200" u="none" cap="none" strike="noStrike">
              <a:solidFill>
                <a:schemeClr val="dk1"/>
              </a:solidFill>
              <a:latin typeface="Tiro Bangla"/>
              <a:ea typeface="Tiro Bangla"/>
              <a:cs typeface="Tiro Bangla"/>
              <a:sym typeface="Tiro Bangla"/>
            </a:endParaRPr>
          </a:p>
        </p:txBody>
      </p:sp>
      <p:sp>
        <p:nvSpPr>
          <p:cNvPr id="734" name="Google Shape;734;p31"/>
          <p:cNvSpPr/>
          <p:nvPr/>
        </p:nvSpPr>
        <p:spPr>
          <a:xfrm>
            <a:off x="812800" y="6236965"/>
            <a:ext cx="99186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E5878"/>
              </a:buClr>
              <a:buSzPts val="1200"/>
              <a:buFont typeface="Tiro Bangla"/>
              <a:buNone/>
            </a:pPr>
            <a:r>
              <a:rPr b="0" i="0" lang="en-US" sz="1200" u="none" cap="none" strike="noStrike">
                <a:solidFill>
                  <a:srgbClr val="4E5878"/>
                </a:solidFill>
                <a:latin typeface="Tiro Bangla"/>
                <a:ea typeface="Tiro Bangla"/>
                <a:cs typeface="Tiro Bangla"/>
                <a:sym typeface="Tiro Bangla"/>
              </a:rPr>
              <a:t>সূত্র: উইকিমিডিয়া ফাউন্ডেশন, এপ্রিল ২০২৫, নভেম্বর ২০২৫, জানুয়ারি ২০২৬, মার্চ ২০২৬ · বার্ষিক পরিকল্পনা ২০২৬–২৭ (খসড়া)</a:t>
            </a:r>
            <a:endParaRPr b="0" i="0" sz="1200" u="none" cap="none" strike="noStrike">
              <a:solidFill>
                <a:schemeClr val="dk1"/>
              </a:solidFill>
              <a:latin typeface="Tiro Bangla"/>
              <a:ea typeface="Tiro Bangla"/>
              <a:cs typeface="Tiro Bangla"/>
              <a:sym typeface="Tiro Bangla"/>
            </a:endParaRPr>
          </a:p>
        </p:txBody>
      </p:sp>
      <p:sp>
        <p:nvSpPr>
          <p:cNvPr id="735" name="Google Shape;735;p31"/>
          <p:cNvSpPr/>
          <p:nvPr/>
        </p:nvSpPr>
        <p:spPr>
          <a:xfrm>
            <a:off x="10882313" y="6236965"/>
            <a:ext cx="547688"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E5878"/>
              </a:buClr>
              <a:buSzPts val="1200"/>
              <a:buFont typeface="Tiro Bangla"/>
              <a:buNone/>
            </a:pPr>
            <a:r>
              <a:rPr b="0" i="0" lang="en-US" sz="1200" u="none" cap="none" strike="noStrike">
                <a:solidFill>
                  <a:srgbClr val="4E5878"/>
                </a:solidFill>
                <a:latin typeface="Tiro Bangla"/>
                <a:ea typeface="Tiro Bangla"/>
                <a:cs typeface="Tiro Bangla"/>
                <a:sym typeface="Tiro Bangla"/>
              </a:rPr>
              <a:t>১৭ / ১৯</a:t>
            </a:r>
            <a:endParaRPr b="0" i="0" sz="1200" u="none" cap="none" strike="noStrike">
              <a:solidFill>
                <a:schemeClr val="dk1"/>
              </a:solidFill>
              <a:latin typeface="Tiro Bangla"/>
              <a:ea typeface="Tiro Bangla"/>
              <a:cs typeface="Tiro Bangla"/>
              <a:sym typeface="Tiro Bangla"/>
            </a:endParaRPr>
          </a:p>
        </p:txBody>
      </p:sp>
      <p:pic>
        <p:nvPicPr>
          <p:cNvPr descr="বাংলা উইকিসম্মেলন ২০২৬ লোগো" id="736" name="Google Shape;736;p31"/>
          <p:cNvPicPr preferRelativeResize="0"/>
          <p:nvPr/>
        </p:nvPicPr>
        <p:blipFill rotWithShape="1">
          <a:blip r:embed="rId3">
            <a:alphaModFix/>
          </a:blip>
          <a:srcRect b="0" l="0" r="0" t="0"/>
          <a:stretch/>
        </p:blipFill>
        <p:spPr>
          <a:xfrm>
            <a:off x="10314432" y="365760"/>
            <a:ext cx="1115568" cy="666862"/>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8DA"/>
        </a:solidFill>
      </p:bgPr>
    </p:bg>
    <p:spTree>
      <p:nvGrpSpPr>
        <p:cNvPr id="741" name="Shape 741"/>
        <p:cNvGrpSpPr/>
        <p:nvPr/>
      </p:nvGrpSpPr>
      <p:grpSpPr>
        <a:xfrm>
          <a:off x="0" y="0"/>
          <a:ext cx="0" cy="0"/>
          <a:chOff x="0" y="0"/>
          <a:chExt cx="0" cy="0"/>
        </a:xfrm>
      </p:grpSpPr>
      <p:sp>
        <p:nvSpPr>
          <p:cNvPr id="742" name="Google Shape;742;p32"/>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8501A"/>
              </a:buClr>
              <a:buSzPts val="1200"/>
              <a:buFont typeface="Tiro Bangla"/>
              <a:buNone/>
            </a:pPr>
            <a:r>
              <a:rPr b="1" i="0" lang="en-US" sz="1200" u="none" cap="none" strike="noStrike">
                <a:solidFill>
                  <a:srgbClr val="C8501A"/>
                </a:solidFill>
                <a:latin typeface="Tiro Bangla"/>
                <a:ea typeface="Tiro Bangla"/>
                <a:cs typeface="Tiro Bangla"/>
                <a:sym typeface="Tiro Bangla"/>
              </a:rPr>
              <a:t>সামনের পথ</a:t>
            </a:r>
            <a:endParaRPr b="0" i="0" sz="1200" u="none" cap="none" strike="noStrike">
              <a:solidFill>
                <a:schemeClr val="dk1"/>
              </a:solidFill>
              <a:latin typeface="Tiro Bangla"/>
              <a:ea typeface="Tiro Bangla"/>
              <a:cs typeface="Tiro Bangla"/>
              <a:sym typeface="Tiro Bangla"/>
            </a:endParaRPr>
          </a:p>
        </p:txBody>
      </p:sp>
      <p:sp>
        <p:nvSpPr>
          <p:cNvPr id="743" name="Google Shape;743;p32"/>
          <p:cNvSpPr/>
          <p:nvPr/>
        </p:nvSpPr>
        <p:spPr>
          <a:xfrm>
            <a:off x="812800" y="1127720"/>
            <a:ext cx="9810750" cy="49272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84D86"/>
              </a:buClr>
              <a:buSzPts val="3200"/>
              <a:buFont typeface="Tiro Bangla"/>
              <a:buNone/>
            </a:pPr>
            <a:r>
              <a:rPr b="0" i="0" lang="en-US" sz="3200" u="none" cap="none" strike="noStrike">
                <a:solidFill>
                  <a:srgbClr val="384D86"/>
                </a:solidFill>
                <a:latin typeface="Tiro Bangla"/>
                <a:ea typeface="Tiro Bangla"/>
                <a:cs typeface="Tiro Bangla"/>
                <a:sym typeface="Tiro Bangla"/>
              </a:rPr>
              <a:t>বাংলা উইকির জন্য তিনটি কাজ</a:t>
            </a:r>
            <a:endParaRPr b="0" i="0" sz="3200" u="none" cap="none" strike="noStrike">
              <a:solidFill>
                <a:schemeClr val="dk1"/>
              </a:solidFill>
              <a:latin typeface="Tiro Bangla"/>
              <a:ea typeface="Tiro Bangla"/>
              <a:cs typeface="Tiro Bangla"/>
              <a:sym typeface="Tiro Bangla"/>
            </a:endParaRPr>
          </a:p>
        </p:txBody>
      </p:sp>
      <p:sp>
        <p:nvSpPr>
          <p:cNvPr id="744" name="Google Shape;744;p32"/>
          <p:cNvSpPr/>
          <p:nvPr/>
        </p:nvSpPr>
        <p:spPr>
          <a:xfrm>
            <a:off x="819150" y="2341835"/>
            <a:ext cx="3373967" cy="3108960"/>
          </a:xfrm>
          <a:prstGeom prst="roundRect">
            <a:avLst>
              <a:gd fmla="val 2447" name="adj"/>
            </a:avLst>
          </a:prstGeom>
          <a:solidFill>
            <a:srgbClr val="FFFFFF"/>
          </a:solidFill>
          <a:ln cap="flat" cmpd="sng" w="12700">
            <a:solidFill>
              <a:srgbClr val="DDD5C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5" name="Google Shape;745;p32"/>
          <p:cNvSpPr/>
          <p:nvPr/>
        </p:nvSpPr>
        <p:spPr>
          <a:xfrm>
            <a:off x="1054100" y="2576785"/>
            <a:ext cx="2991189" cy="472414"/>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C8501A"/>
              </a:buClr>
              <a:buSzPts val="3200"/>
              <a:buFont typeface="Tiro Bangla"/>
              <a:buNone/>
            </a:pPr>
            <a:r>
              <a:rPr b="0" i="0" lang="en-US" sz="3200" u="none" cap="none" strike="noStrike">
                <a:solidFill>
                  <a:srgbClr val="C8501A"/>
                </a:solidFill>
                <a:latin typeface="Tiro Bangla"/>
                <a:ea typeface="Tiro Bangla"/>
                <a:cs typeface="Tiro Bangla"/>
                <a:sym typeface="Tiro Bangla"/>
              </a:rPr>
              <a:t>০১</a:t>
            </a:r>
            <a:endParaRPr b="0" i="0" sz="3200" u="none" cap="none" strike="noStrike">
              <a:solidFill>
                <a:schemeClr val="dk1"/>
              </a:solidFill>
              <a:latin typeface="Tiro Bangla"/>
              <a:ea typeface="Tiro Bangla"/>
              <a:cs typeface="Tiro Bangla"/>
              <a:sym typeface="Tiro Bangla"/>
            </a:endParaRPr>
          </a:p>
        </p:txBody>
      </p:sp>
      <p:sp>
        <p:nvSpPr>
          <p:cNvPr id="746" name="Google Shape;746;p32"/>
          <p:cNvSpPr/>
          <p:nvPr/>
        </p:nvSpPr>
        <p:spPr>
          <a:xfrm>
            <a:off x="1054100" y="3112691"/>
            <a:ext cx="2991189" cy="342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84D86"/>
              </a:buClr>
              <a:buSzPts val="2000"/>
              <a:buFont typeface="Tiro Bangla"/>
              <a:buNone/>
            </a:pPr>
            <a:r>
              <a:rPr b="0" i="0" lang="en-US" sz="2000" u="none" cap="none" strike="noStrike">
                <a:solidFill>
                  <a:srgbClr val="384D86"/>
                </a:solidFill>
                <a:latin typeface="Tiro Bangla"/>
                <a:ea typeface="Tiro Bangla"/>
                <a:cs typeface="Tiro Bangla"/>
                <a:sym typeface="Tiro Bangla"/>
              </a:rPr>
              <a:t>মাসে মাসে অবস্থা যাচাই করা</a:t>
            </a:r>
            <a:endParaRPr b="0" i="0" sz="2000" u="none" cap="none" strike="noStrike">
              <a:solidFill>
                <a:schemeClr val="dk1"/>
              </a:solidFill>
              <a:latin typeface="Tiro Bangla"/>
              <a:ea typeface="Tiro Bangla"/>
              <a:cs typeface="Tiro Bangla"/>
              <a:sym typeface="Tiro Bangla"/>
            </a:endParaRPr>
          </a:p>
        </p:txBody>
      </p:sp>
      <p:sp>
        <p:nvSpPr>
          <p:cNvPr id="747" name="Google Shape;747;p32"/>
          <p:cNvSpPr/>
          <p:nvPr/>
        </p:nvSpPr>
        <p:spPr>
          <a:xfrm>
            <a:off x="1054100" y="3519091"/>
            <a:ext cx="2991189" cy="1092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84D86"/>
              </a:buClr>
              <a:buSzPts val="1500"/>
              <a:buFont typeface="Tiro Bangla"/>
              <a:buNone/>
            </a:pPr>
            <a:r>
              <a:rPr b="0" i="0" lang="en-US" sz="1500" u="none" cap="none" strike="noStrike">
                <a:solidFill>
                  <a:srgbClr val="384D86"/>
                </a:solidFill>
                <a:latin typeface="Tiro Bangla"/>
                <a:ea typeface="Tiro Bangla"/>
                <a:cs typeface="Tiro Bangla"/>
                <a:sym typeface="Tiro Bangla"/>
              </a:rPr>
              <a:t>নিয়মিত মানুষ আর যন্ত্রের পেজভিউ আলাদা করে গুণনা।</a:t>
            </a:r>
            <a:endParaRPr b="0" i="0" sz="1500" u="none" cap="none" strike="noStrike">
              <a:solidFill>
                <a:srgbClr val="384D86"/>
              </a:solidFill>
              <a:latin typeface="Tiro Bangla"/>
              <a:ea typeface="Tiro Bangla"/>
              <a:cs typeface="Tiro Bangla"/>
              <a:sym typeface="Tiro Bangla"/>
            </a:endParaRPr>
          </a:p>
        </p:txBody>
      </p:sp>
      <p:sp>
        <p:nvSpPr>
          <p:cNvPr id="748" name="Google Shape;748;p32"/>
          <p:cNvSpPr/>
          <p:nvPr/>
        </p:nvSpPr>
        <p:spPr>
          <a:xfrm>
            <a:off x="1054100" y="4763691"/>
            <a:ext cx="2991189" cy="22350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C8501A"/>
              </a:buClr>
              <a:buSzPts val="1200"/>
              <a:buFont typeface="Tiro Bangla"/>
              <a:buNone/>
            </a:pPr>
            <a:r>
              <a:rPr b="1" i="0" lang="en-US" sz="1200" u="none" cap="none" strike="noStrike">
                <a:solidFill>
                  <a:srgbClr val="C8501A"/>
                </a:solidFill>
                <a:latin typeface="Tiro Bangla"/>
                <a:ea typeface="Tiro Bangla"/>
                <a:cs typeface="Tiro Bangla"/>
                <a:sym typeface="Tiro Bangla"/>
              </a:rPr>
              <a:t>এক কমান্ডেই পুরো মাসের হিসাব</a:t>
            </a:r>
            <a:endParaRPr b="0" i="0" sz="1200" u="none" cap="none" strike="noStrike">
              <a:solidFill>
                <a:schemeClr val="dk1"/>
              </a:solidFill>
              <a:latin typeface="Tiro Bangla"/>
              <a:ea typeface="Tiro Bangla"/>
              <a:cs typeface="Tiro Bangla"/>
              <a:sym typeface="Tiro Bangla"/>
            </a:endParaRPr>
          </a:p>
        </p:txBody>
      </p:sp>
      <p:sp>
        <p:nvSpPr>
          <p:cNvPr id="749" name="Google Shape;749;p32"/>
          <p:cNvSpPr/>
          <p:nvPr/>
        </p:nvSpPr>
        <p:spPr>
          <a:xfrm>
            <a:off x="4409017" y="2341835"/>
            <a:ext cx="3373967" cy="3108960"/>
          </a:xfrm>
          <a:prstGeom prst="roundRect">
            <a:avLst>
              <a:gd fmla="val 2447" name="adj"/>
            </a:avLst>
          </a:prstGeom>
          <a:solidFill>
            <a:srgbClr val="FFFFFF"/>
          </a:solidFill>
          <a:ln cap="flat" cmpd="sng" w="12700">
            <a:solidFill>
              <a:srgbClr val="DDD5C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0" name="Google Shape;750;p32"/>
          <p:cNvSpPr/>
          <p:nvPr/>
        </p:nvSpPr>
        <p:spPr>
          <a:xfrm>
            <a:off x="4643967" y="2576785"/>
            <a:ext cx="2991189" cy="472414"/>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C8501A"/>
              </a:buClr>
              <a:buSzPts val="3200"/>
              <a:buFont typeface="Tiro Bangla"/>
              <a:buNone/>
            </a:pPr>
            <a:r>
              <a:rPr b="0" i="0" lang="en-US" sz="3200" u="none" cap="none" strike="noStrike">
                <a:solidFill>
                  <a:srgbClr val="C8501A"/>
                </a:solidFill>
                <a:latin typeface="Tiro Bangla"/>
                <a:ea typeface="Tiro Bangla"/>
                <a:cs typeface="Tiro Bangla"/>
                <a:sym typeface="Tiro Bangla"/>
              </a:rPr>
              <a:t>০২</a:t>
            </a:r>
            <a:endParaRPr b="0" i="0" sz="3200" u="none" cap="none" strike="noStrike">
              <a:solidFill>
                <a:schemeClr val="dk1"/>
              </a:solidFill>
              <a:latin typeface="Tiro Bangla"/>
              <a:ea typeface="Tiro Bangla"/>
              <a:cs typeface="Tiro Bangla"/>
              <a:sym typeface="Tiro Bangla"/>
            </a:endParaRPr>
          </a:p>
        </p:txBody>
      </p:sp>
      <p:sp>
        <p:nvSpPr>
          <p:cNvPr id="751" name="Google Shape;751;p32"/>
          <p:cNvSpPr/>
          <p:nvPr/>
        </p:nvSpPr>
        <p:spPr>
          <a:xfrm>
            <a:off x="4643967" y="3112691"/>
            <a:ext cx="2991189" cy="342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84D86"/>
              </a:buClr>
              <a:buSzPts val="2000"/>
              <a:buFont typeface="Tiro Bangla"/>
              <a:buNone/>
            </a:pPr>
            <a:r>
              <a:rPr b="0" i="0" lang="en-US" sz="2000" u="none" cap="none" strike="noStrike">
                <a:solidFill>
                  <a:srgbClr val="384D86"/>
                </a:solidFill>
                <a:latin typeface="Tiro Bangla"/>
                <a:ea typeface="Tiro Bangla"/>
                <a:cs typeface="Tiro Bangla"/>
                <a:sym typeface="Tiro Bangla"/>
              </a:rPr>
              <a:t>নতুনদের ধরে রাখার প্রয়াস</a:t>
            </a:r>
            <a:endParaRPr b="0" i="0" sz="2000" u="none" cap="none" strike="noStrike">
              <a:solidFill>
                <a:schemeClr val="dk1"/>
              </a:solidFill>
              <a:latin typeface="Tiro Bangla"/>
              <a:ea typeface="Tiro Bangla"/>
              <a:cs typeface="Tiro Bangla"/>
              <a:sym typeface="Tiro Bangla"/>
            </a:endParaRPr>
          </a:p>
        </p:txBody>
      </p:sp>
      <p:sp>
        <p:nvSpPr>
          <p:cNvPr id="752" name="Google Shape;752;p32"/>
          <p:cNvSpPr/>
          <p:nvPr/>
        </p:nvSpPr>
        <p:spPr>
          <a:xfrm>
            <a:off x="4643967" y="3519091"/>
            <a:ext cx="2991189" cy="825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84D86"/>
              </a:buClr>
              <a:buSzPts val="1500"/>
              <a:buFont typeface="Tiro Bangla"/>
              <a:buNone/>
            </a:pPr>
            <a:r>
              <a:rPr b="0" i="0" lang="en-US" sz="1500" u="none" cap="none" strike="noStrike">
                <a:solidFill>
                  <a:srgbClr val="384D86"/>
                </a:solidFill>
                <a:latin typeface="Tiro Bangla"/>
                <a:ea typeface="Tiro Bangla"/>
                <a:cs typeface="Tiro Bangla"/>
                <a:sym typeface="Tiro Bangla"/>
              </a:rPr>
              <a:t>আরও মেন্টর, বিশ্ববিদ্যালয়ে ও জেলায় কর্মশালা চাই। কেউ প্রথম সম্পাদনা করলে ধৈর্য নিয়ে গাইড করা প্রয়োজন</a:t>
            </a:r>
            <a:endParaRPr b="0" i="0" sz="1500" u="none" cap="none" strike="noStrike">
              <a:solidFill>
                <a:schemeClr val="dk1"/>
              </a:solidFill>
              <a:latin typeface="Tiro Bangla"/>
              <a:ea typeface="Tiro Bangla"/>
              <a:cs typeface="Tiro Bangla"/>
              <a:sym typeface="Tiro Bangla"/>
            </a:endParaRPr>
          </a:p>
        </p:txBody>
      </p:sp>
      <p:sp>
        <p:nvSpPr>
          <p:cNvPr id="753" name="Google Shape;753;p32"/>
          <p:cNvSpPr/>
          <p:nvPr/>
        </p:nvSpPr>
        <p:spPr>
          <a:xfrm>
            <a:off x="4643967" y="4763691"/>
            <a:ext cx="2991189" cy="22350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C8501A"/>
              </a:buClr>
              <a:buSzPts val="1200"/>
              <a:buFont typeface="Tiro Bangla"/>
              <a:buNone/>
            </a:pPr>
            <a:r>
              <a:rPr b="1" i="0" lang="en-US" sz="1200" u="none" cap="none" strike="noStrike">
                <a:solidFill>
                  <a:srgbClr val="C8501A"/>
                </a:solidFill>
                <a:latin typeface="Tiro Bangla"/>
                <a:ea typeface="Tiro Bangla"/>
                <a:cs typeface="Tiro Bangla"/>
                <a:sym typeface="Tiro Bangla"/>
              </a:rPr>
              <a:t>এখন মেন্টরপ্রতি মাসে প্রায় ৪৮ জন নতুন</a:t>
            </a:r>
            <a:endParaRPr b="0" i="0" sz="1200" u="none" cap="none" strike="noStrike">
              <a:solidFill>
                <a:schemeClr val="dk1"/>
              </a:solidFill>
              <a:latin typeface="Tiro Bangla"/>
              <a:ea typeface="Tiro Bangla"/>
              <a:cs typeface="Tiro Bangla"/>
              <a:sym typeface="Tiro Bangla"/>
            </a:endParaRPr>
          </a:p>
        </p:txBody>
      </p:sp>
      <p:sp>
        <p:nvSpPr>
          <p:cNvPr id="754" name="Google Shape;754;p32"/>
          <p:cNvSpPr/>
          <p:nvPr/>
        </p:nvSpPr>
        <p:spPr>
          <a:xfrm>
            <a:off x="7998884" y="2341835"/>
            <a:ext cx="3373967" cy="3108960"/>
          </a:xfrm>
          <a:prstGeom prst="roundRect">
            <a:avLst>
              <a:gd fmla="val 2447" name="adj"/>
            </a:avLst>
          </a:prstGeom>
          <a:solidFill>
            <a:srgbClr val="FFFFFF"/>
          </a:solidFill>
          <a:ln cap="flat" cmpd="sng" w="12700">
            <a:solidFill>
              <a:srgbClr val="DDD5C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5" name="Google Shape;755;p32"/>
          <p:cNvSpPr/>
          <p:nvPr/>
        </p:nvSpPr>
        <p:spPr>
          <a:xfrm>
            <a:off x="8233834" y="2576785"/>
            <a:ext cx="2991189" cy="472414"/>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C8501A"/>
              </a:buClr>
              <a:buSzPts val="3200"/>
              <a:buFont typeface="Tiro Bangla"/>
              <a:buNone/>
            </a:pPr>
            <a:r>
              <a:rPr b="0" i="0" lang="en-US" sz="3200" u="none" cap="none" strike="noStrike">
                <a:solidFill>
                  <a:srgbClr val="C8501A"/>
                </a:solidFill>
                <a:latin typeface="Tiro Bangla"/>
                <a:ea typeface="Tiro Bangla"/>
                <a:cs typeface="Tiro Bangla"/>
                <a:sym typeface="Tiro Bangla"/>
              </a:rPr>
              <a:t>০৩</a:t>
            </a:r>
            <a:endParaRPr b="0" i="0" sz="3200" u="none" cap="none" strike="noStrike">
              <a:solidFill>
                <a:schemeClr val="dk1"/>
              </a:solidFill>
              <a:latin typeface="Tiro Bangla"/>
              <a:ea typeface="Tiro Bangla"/>
              <a:cs typeface="Tiro Bangla"/>
              <a:sym typeface="Tiro Bangla"/>
            </a:endParaRPr>
          </a:p>
        </p:txBody>
      </p:sp>
      <p:sp>
        <p:nvSpPr>
          <p:cNvPr id="756" name="Google Shape;756;p32"/>
          <p:cNvSpPr/>
          <p:nvPr/>
        </p:nvSpPr>
        <p:spPr>
          <a:xfrm>
            <a:off x="8233834" y="3112691"/>
            <a:ext cx="2991189" cy="342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84D86"/>
              </a:buClr>
              <a:buSzPts val="2000"/>
              <a:buFont typeface="Tiro Bangla"/>
              <a:buNone/>
            </a:pPr>
            <a:r>
              <a:rPr b="0" i="0" lang="en-US" sz="2000" u="none" cap="none" strike="noStrike">
                <a:solidFill>
                  <a:srgbClr val="384D86"/>
                </a:solidFill>
                <a:latin typeface="Tiro Bangla"/>
                <a:ea typeface="Tiro Bangla"/>
                <a:cs typeface="Tiro Bangla"/>
                <a:sym typeface="Tiro Bangla"/>
              </a:rPr>
              <a:t>এআই-কে সহকারী হিসেবে ব্যবহার</a:t>
            </a:r>
            <a:endParaRPr b="0" i="0" sz="2000" u="none" cap="none" strike="noStrike">
              <a:solidFill>
                <a:schemeClr val="dk1"/>
              </a:solidFill>
              <a:latin typeface="Tiro Bangla"/>
              <a:ea typeface="Tiro Bangla"/>
              <a:cs typeface="Tiro Bangla"/>
              <a:sym typeface="Tiro Bangla"/>
            </a:endParaRPr>
          </a:p>
        </p:txBody>
      </p:sp>
      <p:sp>
        <p:nvSpPr>
          <p:cNvPr id="757" name="Google Shape;757;p32"/>
          <p:cNvSpPr/>
          <p:nvPr/>
        </p:nvSpPr>
        <p:spPr>
          <a:xfrm>
            <a:off x="8233834" y="3931920"/>
            <a:ext cx="2991300" cy="8256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84D86"/>
              </a:buClr>
              <a:buSzPts val="1500"/>
              <a:buFont typeface="Tiro Bangla"/>
              <a:buNone/>
            </a:pPr>
            <a:r>
              <a:rPr b="0" i="0" lang="en-US" sz="1500" u="none" cap="none" strike="noStrike">
                <a:solidFill>
                  <a:srgbClr val="384D86"/>
                </a:solidFill>
                <a:latin typeface="Tiro Bangla"/>
                <a:ea typeface="Tiro Bangla"/>
                <a:cs typeface="Tiro Bangla"/>
                <a:sym typeface="Tiro Bangla"/>
              </a:rPr>
              <a:t>উইকিসংকলনে ওসিআর, অনুবাদ আর নজরদারিতে এআই কাজে লাগানো যেতে পারে। তবে প্রকাশের আগে যাচাই করবে মানুষই।</a:t>
            </a:r>
            <a:endParaRPr b="0" i="0" sz="1500" u="none" cap="none" strike="noStrike">
              <a:solidFill>
                <a:schemeClr val="dk1"/>
              </a:solidFill>
              <a:latin typeface="Tiro Bangla"/>
              <a:ea typeface="Tiro Bangla"/>
              <a:cs typeface="Tiro Bangla"/>
              <a:sym typeface="Tiro Bangla"/>
            </a:endParaRPr>
          </a:p>
        </p:txBody>
      </p:sp>
      <p:sp>
        <p:nvSpPr>
          <p:cNvPr id="758" name="Google Shape;758;p32"/>
          <p:cNvSpPr/>
          <p:nvPr/>
        </p:nvSpPr>
        <p:spPr>
          <a:xfrm>
            <a:off x="812800" y="6236965"/>
            <a:ext cx="434951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এগুলো আলোচনার জন্য প্রস্তাব; চূড়ান্ত হবে সম্প্রদায়ের মতামতে</a:t>
            </a:r>
            <a:endParaRPr b="0" i="0" sz="1200" u="none" cap="none" strike="noStrike">
              <a:solidFill>
                <a:schemeClr val="dk1"/>
              </a:solidFill>
              <a:latin typeface="Tiro Bangla"/>
              <a:ea typeface="Tiro Bangla"/>
              <a:cs typeface="Tiro Bangla"/>
              <a:sym typeface="Tiro Bangla"/>
            </a:endParaRPr>
          </a:p>
        </p:txBody>
      </p:sp>
      <p:sp>
        <p:nvSpPr>
          <p:cNvPr id="759" name="Google Shape;759;p32"/>
          <p:cNvSpPr/>
          <p:nvPr/>
        </p:nvSpPr>
        <p:spPr>
          <a:xfrm>
            <a:off x="10882313" y="6236965"/>
            <a:ext cx="547688"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১৮ / ১৯</a:t>
            </a:r>
            <a:endParaRPr b="0" i="0" sz="1200" u="none" cap="none" strike="noStrike">
              <a:solidFill>
                <a:schemeClr val="dk1"/>
              </a:solidFill>
              <a:latin typeface="Tiro Bangla"/>
              <a:ea typeface="Tiro Bangla"/>
              <a:cs typeface="Tiro Bangla"/>
              <a:sym typeface="Tiro Bangla"/>
            </a:endParaRPr>
          </a:p>
        </p:txBody>
      </p:sp>
      <p:pic>
        <p:nvPicPr>
          <p:cNvPr descr="বাংলা উইকিসম্মেলন ২০২৬ লোগো" id="760" name="Google Shape;760;p32"/>
          <p:cNvPicPr preferRelativeResize="0"/>
          <p:nvPr/>
        </p:nvPicPr>
        <p:blipFill rotWithShape="1">
          <a:blip r:embed="rId3">
            <a:alphaModFix/>
          </a:blip>
          <a:srcRect b="0" l="0" r="0" t="0"/>
          <a:stretch/>
        </p:blipFill>
        <p:spPr>
          <a:xfrm>
            <a:off x="10314432" y="365760"/>
            <a:ext cx="1115568" cy="666862"/>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65" name="Shape 765"/>
        <p:cNvGrpSpPr/>
        <p:nvPr/>
      </p:nvGrpSpPr>
      <p:grpSpPr>
        <a:xfrm>
          <a:off x="0" y="0"/>
          <a:ext cx="0" cy="0"/>
          <a:chOff x="0" y="0"/>
          <a:chExt cx="0" cy="0"/>
        </a:xfrm>
      </p:grpSpPr>
      <p:sp>
        <p:nvSpPr>
          <p:cNvPr id="766" name="Google Shape;766;p33"/>
          <p:cNvSpPr/>
          <p:nvPr/>
        </p:nvSpPr>
        <p:spPr>
          <a:xfrm>
            <a:off x="812800" y="1051560"/>
            <a:ext cx="877824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8400F"/>
              </a:buClr>
              <a:buSzPts val="1200"/>
              <a:buFont typeface="Tiro Bangla"/>
              <a:buNone/>
            </a:pPr>
            <a:r>
              <a:rPr b="1" i="0" lang="en-US" sz="1200" u="none" cap="none" strike="noStrike">
                <a:solidFill>
                  <a:srgbClr val="A8400F"/>
                </a:solidFill>
                <a:latin typeface="Tiro Bangla"/>
                <a:ea typeface="Tiro Bangla"/>
                <a:cs typeface="Tiro Bangla"/>
                <a:sym typeface="Tiro Bangla"/>
              </a:rPr>
              <a:t>শেষ কথা</a:t>
            </a:r>
            <a:endParaRPr b="0" i="0" sz="1200" u="none" cap="none" strike="noStrike">
              <a:solidFill>
                <a:schemeClr val="dk1"/>
              </a:solidFill>
              <a:latin typeface="Tiro Bangla"/>
              <a:ea typeface="Tiro Bangla"/>
              <a:cs typeface="Tiro Bangla"/>
              <a:sym typeface="Tiro Bangla"/>
            </a:endParaRPr>
          </a:p>
        </p:txBody>
      </p:sp>
      <p:sp>
        <p:nvSpPr>
          <p:cNvPr id="767" name="Google Shape;767;p33"/>
          <p:cNvSpPr/>
          <p:nvPr/>
        </p:nvSpPr>
        <p:spPr>
          <a:xfrm>
            <a:off x="812800" y="1325880"/>
            <a:ext cx="8778240" cy="1025525"/>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384D86"/>
              </a:buClr>
              <a:buSzPts val="7500"/>
              <a:buFont typeface="Tiro Bangla"/>
              <a:buNone/>
            </a:pPr>
            <a:r>
              <a:rPr b="0" i="0" lang="en-US" sz="7500" u="none" cap="none" strike="noStrike">
                <a:solidFill>
                  <a:srgbClr val="384D86"/>
                </a:solidFill>
                <a:latin typeface="Tiro Bangla"/>
                <a:ea typeface="Tiro Bangla"/>
                <a:cs typeface="Tiro Bangla"/>
                <a:sym typeface="Tiro Bangla"/>
              </a:rPr>
              <a:t>ধন্যবাদ</a:t>
            </a:r>
            <a:endParaRPr b="0" i="0" sz="7500" u="none" cap="none" strike="noStrike">
              <a:solidFill>
                <a:schemeClr val="dk1"/>
              </a:solidFill>
              <a:latin typeface="Tiro Bangla"/>
              <a:ea typeface="Tiro Bangla"/>
              <a:cs typeface="Tiro Bangla"/>
              <a:sym typeface="Tiro Bangla"/>
            </a:endParaRPr>
          </a:p>
        </p:txBody>
      </p:sp>
      <p:sp>
        <p:nvSpPr>
          <p:cNvPr id="768" name="Google Shape;768;p33"/>
          <p:cNvSpPr/>
          <p:nvPr/>
        </p:nvSpPr>
        <p:spPr>
          <a:xfrm>
            <a:off x="812800" y="2478024"/>
            <a:ext cx="9156700" cy="381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84D86"/>
              </a:buClr>
              <a:buSzPts val="2000"/>
              <a:buFont typeface="Tiro Bangla"/>
              <a:buNone/>
            </a:pPr>
            <a:r>
              <a:rPr b="0" i="0" lang="en-US" sz="2000" u="none" cap="none" strike="noStrike">
                <a:solidFill>
                  <a:srgbClr val="384D86"/>
                </a:solidFill>
                <a:latin typeface="Tiro Bangla"/>
                <a:ea typeface="Tiro Bangla"/>
                <a:cs typeface="Tiro Bangla"/>
                <a:sym typeface="Tiro Bangla"/>
              </a:rPr>
              <a:t>এই ২০ মিনিটে, গড় হিসাবে, বাংলা উইকিপিডিয়ায় মানুষ </a:t>
            </a:r>
            <a:r>
              <a:rPr b="0" i="0" lang="en-US" sz="2000" u="none" cap="none" strike="noStrike">
                <a:solidFill>
                  <a:srgbClr val="A8400F"/>
                </a:solidFill>
                <a:latin typeface="Tiro Bangla"/>
                <a:ea typeface="Tiro Bangla"/>
                <a:cs typeface="Tiro Bangla"/>
                <a:sym typeface="Tiro Bangla"/>
              </a:rPr>
              <a:t>প্রায় ১৮টি সম্পাদনা</a:t>
            </a:r>
            <a:r>
              <a:rPr b="0" i="0" lang="en-US" sz="2000" u="none" cap="none" strike="noStrike">
                <a:solidFill>
                  <a:srgbClr val="384D86"/>
                </a:solidFill>
                <a:latin typeface="Tiro Bangla"/>
                <a:ea typeface="Tiro Bangla"/>
                <a:cs typeface="Tiro Bangla"/>
                <a:sym typeface="Tiro Bangla"/>
              </a:rPr>
              <a:t> করেছেন।</a:t>
            </a:r>
            <a:endParaRPr b="0" i="0" sz="2000" u="none" cap="none" strike="noStrike">
              <a:solidFill>
                <a:schemeClr val="dk1"/>
              </a:solidFill>
              <a:latin typeface="Tiro Bangla"/>
              <a:ea typeface="Tiro Bangla"/>
              <a:cs typeface="Tiro Bangla"/>
              <a:sym typeface="Tiro Bangla"/>
            </a:endParaRPr>
          </a:p>
        </p:txBody>
      </p:sp>
      <p:sp>
        <p:nvSpPr>
          <p:cNvPr id="769" name="Google Shape;769;p33"/>
          <p:cNvSpPr/>
          <p:nvPr/>
        </p:nvSpPr>
        <p:spPr>
          <a:xfrm>
            <a:off x="812800" y="2980944"/>
            <a:ext cx="9156700" cy="292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E5878"/>
              </a:buClr>
              <a:buSzPts val="1500"/>
              <a:buFont typeface="Tiro Bangla"/>
              <a:buNone/>
            </a:pPr>
            <a:r>
              <a:rPr b="0" i="0" lang="en-US" sz="1500" u="none" cap="none" strike="noStrike">
                <a:solidFill>
                  <a:srgbClr val="4E5878"/>
                </a:solidFill>
                <a:latin typeface="Tiro Bangla"/>
                <a:ea typeface="Tiro Bangla"/>
                <a:cs typeface="Tiro Bangla"/>
                <a:sym typeface="Tiro Bangla"/>
              </a:rPr>
              <a:t>আগামী বছর এই মঞ্চে সংখ্যাগুলো আবার মিলিয়ে দেখব।</a:t>
            </a:r>
            <a:endParaRPr b="0" i="0" sz="1500" u="none" cap="none" strike="noStrike">
              <a:solidFill>
                <a:schemeClr val="dk1"/>
              </a:solidFill>
              <a:latin typeface="Tiro Bangla"/>
              <a:ea typeface="Tiro Bangla"/>
              <a:cs typeface="Tiro Bangla"/>
              <a:sym typeface="Tiro Bangla"/>
            </a:endParaRPr>
          </a:p>
        </p:txBody>
      </p:sp>
      <p:sp>
        <p:nvSpPr>
          <p:cNvPr id="770" name="Google Shape;770;p33"/>
          <p:cNvSpPr/>
          <p:nvPr/>
        </p:nvSpPr>
        <p:spPr>
          <a:xfrm>
            <a:off x="812800" y="5212080"/>
            <a:ext cx="4981749" cy="22350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4E5878"/>
              </a:buClr>
              <a:buSzPts val="1200"/>
              <a:buFont typeface="Tiro Bangla"/>
              <a:buNone/>
            </a:pPr>
            <a:r>
              <a:rPr b="0" i="0" lang="en-US" sz="1200" u="none" cap="none" strike="noStrike">
                <a:solidFill>
                  <a:srgbClr val="4E5878"/>
                </a:solidFill>
                <a:latin typeface="Tiro Bangla"/>
                <a:ea typeface="Tiro Bangla"/>
                <a:cs typeface="Tiro Bangla"/>
                <a:sym typeface="Tiro Bangla"/>
              </a:rPr>
              <a:t>স্লাইড, ডেটা ও কোড</a:t>
            </a:r>
            <a:endParaRPr b="0" i="0" sz="1200" u="none" cap="none" strike="noStrike">
              <a:solidFill>
                <a:schemeClr val="dk1"/>
              </a:solidFill>
              <a:latin typeface="Tiro Bangla"/>
              <a:ea typeface="Tiro Bangla"/>
              <a:cs typeface="Tiro Bangla"/>
              <a:sym typeface="Tiro Bangla"/>
            </a:endParaRPr>
          </a:p>
        </p:txBody>
      </p:sp>
      <p:sp>
        <p:nvSpPr>
          <p:cNvPr id="771" name="Google Shape;771;p33"/>
          <p:cNvSpPr/>
          <p:nvPr/>
        </p:nvSpPr>
        <p:spPr>
          <a:xfrm>
            <a:off x="812800" y="5449824"/>
            <a:ext cx="5803980" cy="27305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384D86"/>
              </a:buClr>
              <a:buSzPts val="1500"/>
              <a:buFont typeface="Tiro Bangla"/>
              <a:buNone/>
            </a:pPr>
            <a:r>
              <a:rPr b="1" i="0" lang="en-US" sz="1500" u="sng" cap="none" strike="noStrike">
                <a:solidFill>
                  <a:schemeClr val="hlink"/>
                </a:solidFill>
                <a:latin typeface="Tiro Bangla"/>
                <a:ea typeface="Tiro Bangla"/>
                <a:cs typeface="Tiro Bangla"/>
                <a:sym typeface="Tiro Bangla"/>
                <a:hlinkClick r:id="rId4"/>
              </a:rPr>
              <a:t>github.com/UserYahya/bangla-wiki-ai-before-after</a:t>
            </a:r>
            <a:endParaRPr b="0" i="0" sz="1500" u="none" cap="none" strike="noStrike">
              <a:solidFill>
                <a:schemeClr val="dk1"/>
              </a:solidFill>
              <a:latin typeface="Tiro Bangla"/>
              <a:ea typeface="Tiro Bangla"/>
              <a:cs typeface="Tiro Bangla"/>
              <a:sym typeface="Tiro Bangla"/>
            </a:endParaRPr>
          </a:p>
        </p:txBody>
      </p:sp>
      <p:sp>
        <p:nvSpPr>
          <p:cNvPr id="772" name="Google Shape;772;p33"/>
          <p:cNvSpPr/>
          <p:nvPr/>
        </p:nvSpPr>
        <p:spPr>
          <a:xfrm>
            <a:off x="9243140" y="5212080"/>
            <a:ext cx="2136061" cy="273050"/>
          </a:xfrm>
          <a:prstGeom prst="rect">
            <a:avLst/>
          </a:prstGeom>
          <a:noFill/>
          <a:ln>
            <a:noFill/>
          </a:ln>
        </p:spPr>
        <p:txBody>
          <a:bodyPr anchorCtr="0" anchor="t" bIns="0" lIns="0" spcFirstLastPara="1" rIns="0" wrap="square" tIns="0">
            <a:noAutofit/>
          </a:bodyPr>
          <a:lstStyle/>
          <a:p>
            <a:pPr indent="0" lvl="0" marL="0" marR="0" rtl="0" algn="r">
              <a:lnSpc>
                <a:spcPct val="130000"/>
              </a:lnSpc>
              <a:spcBef>
                <a:spcPts val="0"/>
              </a:spcBef>
              <a:spcAft>
                <a:spcPts val="0"/>
              </a:spcAft>
              <a:buClr>
                <a:srgbClr val="384D86"/>
              </a:buClr>
              <a:buSzPts val="1500"/>
              <a:buFont typeface="Tiro Bangla"/>
              <a:buNone/>
            </a:pPr>
            <a:r>
              <a:rPr b="1" i="0" lang="en-US" sz="1500" u="none" cap="none" strike="noStrike">
                <a:solidFill>
                  <a:srgbClr val="384D86"/>
                </a:solidFill>
                <a:latin typeface="Tiro Bangla"/>
                <a:ea typeface="Tiro Bangla"/>
                <a:cs typeface="Tiro Bangla"/>
                <a:sym typeface="Tiro Bangla"/>
              </a:rPr>
              <a:t>Muhammad Yahya</a:t>
            </a:r>
            <a:endParaRPr b="0" i="0" sz="1500" u="none" cap="none" strike="noStrike">
              <a:solidFill>
                <a:schemeClr val="dk1"/>
              </a:solidFill>
              <a:latin typeface="Tiro Bangla"/>
              <a:ea typeface="Tiro Bangla"/>
              <a:cs typeface="Tiro Bangla"/>
              <a:sym typeface="Tiro Bangla"/>
            </a:endParaRPr>
          </a:p>
        </p:txBody>
      </p:sp>
      <p:sp>
        <p:nvSpPr>
          <p:cNvPr id="773" name="Google Shape;773;p33"/>
          <p:cNvSpPr/>
          <p:nvPr/>
        </p:nvSpPr>
        <p:spPr>
          <a:xfrm>
            <a:off x="8734902" y="5495544"/>
            <a:ext cx="2644299" cy="223507"/>
          </a:xfrm>
          <a:prstGeom prst="rect">
            <a:avLst/>
          </a:prstGeom>
          <a:noFill/>
          <a:ln>
            <a:noFill/>
          </a:ln>
        </p:spPr>
        <p:txBody>
          <a:bodyPr anchorCtr="0" anchor="t" bIns="0" lIns="0" spcFirstLastPara="1" rIns="0" wrap="square" tIns="0">
            <a:noAutofit/>
          </a:bodyPr>
          <a:lstStyle/>
          <a:p>
            <a:pPr indent="0" lvl="0" marL="0" marR="0" rtl="0" algn="r">
              <a:lnSpc>
                <a:spcPct val="130000"/>
              </a:lnSpc>
              <a:spcBef>
                <a:spcPts val="0"/>
              </a:spcBef>
              <a:spcAft>
                <a:spcPts val="0"/>
              </a:spcAft>
              <a:buClr>
                <a:srgbClr val="4E5878"/>
              </a:buClr>
              <a:buSzPts val="1200"/>
              <a:buFont typeface="Tiro Bangla"/>
              <a:buNone/>
            </a:pPr>
            <a:r>
              <a:rPr lang="en-US" sz="1200">
                <a:solidFill>
                  <a:srgbClr val="4E5878"/>
                </a:solidFill>
                <a:latin typeface="Tiro Bangla"/>
                <a:ea typeface="Tiro Bangla"/>
                <a:cs typeface="Tiro Bangla"/>
                <a:sym typeface="Tiro Bangla"/>
              </a:rPr>
              <a:t>yahya@wikimedia.org.bd</a:t>
            </a:r>
            <a:endParaRPr b="0" i="0" sz="1200" u="none" cap="none" strike="noStrike">
              <a:solidFill>
                <a:schemeClr val="dk1"/>
              </a:solidFill>
              <a:latin typeface="Tiro Bangla"/>
              <a:ea typeface="Tiro Bangla"/>
              <a:cs typeface="Tiro Bangla"/>
              <a:sym typeface="Tiro Bangla"/>
            </a:endParaRPr>
          </a:p>
        </p:txBody>
      </p:sp>
      <p:pic>
        <p:nvPicPr>
          <p:cNvPr descr="বাংলা উইকিসম্মেলন ২০২৬ লোগো" id="774" name="Google Shape;774;p33"/>
          <p:cNvPicPr preferRelativeResize="0"/>
          <p:nvPr/>
        </p:nvPicPr>
        <p:blipFill rotWithShape="1">
          <a:blip r:embed="rId5">
            <a:alphaModFix/>
          </a:blip>
          <a:srcRect b="0" l="0" r="0" t="0"/>
          <a:stretch/>
        </p:blipFill>
        <p:spPr>
          <a:xfrm>
            <a:off x="9829800" y="1024128"/>
            <a:ext cx="1600200" cy="956564"/>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8DA"/>
        </a:solidFill>
      </p:bgPr>
    </p:bg>
    <p:spTree>
      <p:nvGrpSpPr>
        <p:cNvPr id="779" name="Shape 779"/>
        <p:cNvGrpSpPr/>
        <p:nvPr/>
      </p:nvGrpSpPr>
      <p:grpSpPr>
        <a:xfrm>
          <a:off x="0" y="0"/>
          <a:ext cx="0" cy="0"/>
          <a:chOff x="0" y="0"/>
          <a:chExt cx="0" cy="0"/>
        </a:xfrm>
      </p:grpSpPr>
      <p:sp>
        <p:nvSpPr>
          <p:cNvPr id="780" name="Google Shape;780;p34"/>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8501A"/>
              </a:buClr>
              <a:buSzPts val="1200"/>
              <a:buFont typeface="Tiro Bangla"/>
              <a:buNone/>
            </a:pPr>
            <a:r>
              <a:rPr b="1" i="0" lang="en-US" sz="1200" u="none" cap="none" strike="noStrike">
                <a:solidFill>
                  <a:srgbClr val="C8501A"/>
                </a:solidFill>
                <a:latin typeface="Tiro Bangla"/>
                <a:ea typeface="Tiro Bangla"/>
                <a:cs typeface="Tiro Bangla"/>
                <a:sym typeface="Tiro Bangla"/>
              </a:rPr>
              <a:t>পরিশিষ্ট</a:t>
            </a:r>
            <a:endParaRPr b="0" i="0" sz="1200" u="none" cap="none" strike="noStrike">
              <a:solidFill>
                <a:schemeClr val="dk1"/>
              </a:solidFill>
              <a:latin typeface="Tiro Bangla"/>
              <a:ea typeface="Tiro Bangla"/>
              <a:cs typeface="Tiro Bangla"/>
              <a:sym typeface="Tiro Bangla"/>
            </a:endParaRPr>
          </a:p>
        </p:txBody>
      </p:sp>
      <p:sp>
        <p:nvSpPr>
          <p:cNvPr id="781" name="Google Shape;781;p34"/>
          <p:cNvSpPr/>
          <p:nvPr/>
        </p:nvSpPr>
        <p:spPr>
          <a:xfrm>
            <a:off x="812800" y="1127720"/>
            <a:ext cx="9810750" cy="49272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84D86"/>
              </a:buClr>
              <a:buSzPts val="3200"/>
              <a:buFont typeface="Tiro Bangla"/>
              <a:buNone/>
            </a:pPr>
            <a:r>
              <a:rPr b="0" i="0" lang="en-US" sz="3200" u="none" cap="none" strike="noStrike">
                <a:solidFill>
                  <a:srgbClr val="384D86"/>
                </a:solidFill>
                <a:latin typeface="Tiro Bangla"/>
                <a:ea typeface="Tiro Bangla"/>
                <a:cs typeface="Tiro Bangla"/>
                <a:sym typeface="Tiro Bangla"/>
              </a:rPr>
              <a:t>পদ্ধতি ও তথ্যসূত্র</a:t>
            </a:r>
            <a:endParaRPr b="0" i="0" sz="3200" u="none" cap="none" strike="noStrike">
              <a:solidFill>
                <a:schemeClr val="dk1"/>
              </a:solidFill>
              <a:latin typeface="Tiro Bangla"/>
              <a:ea typeface="Tiro Bangla"/>
              <a:cs typeface="Tiro Bangla"/>
              <a:sym typeface="Tiro Bangla"/>
            </a:endParaRPr>
          </a:p>
        </p:txBody>
      </p:sp>
      <p:sp>
        <p:nvSpPr>
          <p:cNvPr id="782" name="Google Shape;782;p34"/>
          <p:cNvSpPr/>
          <p:nvPr/>
        </p:nvSpPr>
        <p:spPr>
          <a:xfrm>
            <a:off x="812800" y="2528094"/>
            <a:ext cx="5232400" cy="27305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384D86"/>
              </a:buClr>
              <a:buSzPts val="1500"/>
              <a:buFont typeface="Tiro Bangla"/>
              <a:buNone/>
            </a:pPr>
            <a:r>
              <a:rPr b="1" i="0" lang="en-US" sz="1500" u="none" cap="none" strike="noStrike">
                <a:solidFill>
                  <a:srgbClr val="384D86"/>
                </a:solidFill>
                <a:latin typeface="Tiro Bangla"/>
                <a:ea typeface="Tiro Bangla"/>
                <a:cs typeface="Tiro Bangla"/>
                <a:sym typeface="Tiro Bangla"/>
              </a:rPr>
              <a:t>ডেটা</a:t>
            </a:r>
            <a:endParaRPr b="0" i="0" sz="1500" u="none" cap="none" strike="noStrike">
              <a:solidFill>
                <a:schemeClr val="dk1"/>
              </a:solidFill>
              <a:latin typeface="Tiro Bangla"/>
              <a:ea typeface="Tiro Bangla"/>
              <a:cs typeface="Tiro Bangla"/>
              <a:sym typeface="Tiro Bangla"/>
            </a:endParaRPr>
          </a:p>
        </p:txBody>
      </p:sp>
      <p:sp>
        <p:nvSpPr>
          <p:cNvPr id="783" name="Google Shape;783;p34"/>
          <p:cNvSpPr/>
          <p:nvPr/>
        </p:nvSpPr>
        <p:spPr>
          <a:xfrm>
            <a:off x="812800" y="2877344"/>
            <a:ext cx="5232400" cy="1945283"/>
          </a:xfrm>
          <a:prstGeom prst="rect">
            <a:avLst/>
          </a:prstGeom>
          <a:noFill/>
          <a:ln>
            <a:noFill/>
          </a:ln>
        </p:spPr>
        <p:txBody>
          <a:bodyPr anchorCtr="0" anchor="t" bIns="0" lIns="0" spcFirstLastPara="1" rIns="0" wrap="square" tIns="0">
            <a:noAutofit/>
          </a:bodyPr>
          <a:lstStyle/>
          <a:p>
            <a:pPr indent="-142494" lvl="0" marL="182880" marR="0" rtl="0" algn="l">
              <a:lnSpc>
                <a:spcPct val="140000"/>
              </a:lnSpc>
              <a:spcBef>
                <a:spcPts val="0"/>
              </a:spcBef>
              <a:spcAft>
                <a:spcPts val="0"/>
              </a:spcAft>
              <a:buClr>
                <a:srgbClr val="384D86"/>
              </a:buClr>
              <a:buSzPts val="1200"/>
              <a:buFont typeface="Tiro Bangla"/>
              <a:buChar char="•"/>
            </a:pPr>
            <a:r>
              <a:rPr b="0" i="0" lang="en-US" sz="1200" u="none" cap="none" strike="noStrike">
                <a:solidFill>
                  <a:srgbClr val="384D86"/>
                </a:solidFill>
                <a:latin typeface="Tiro Bangla"/>
                <a:ea typeface="Tiro Bangla"/>
                <a:cs typeface="Tiro Bangla"/>
                <a:sym typeface="Tiro Bangla"/>
              </a:rPr>
              <a:t>পেজভিউ, ইউনিক ডিভাইস, ঘণ্টা ও দেশভিত্তিক পেজভিউ: উইকিমিডিয়া অ্যানালিটিক্স REST API, মানুষ, ক্রলার ও স্বয়ংক্রিয় বট আলাদা; জানুয়ারি ২০১৬ – সেপ্টেম্বর ২০২৬</a:t>
            </a:r>
            <a:endParaRPr b="0" i="0" sz="1200" u="none" cap="none" strike="noStrike">
              <a:solidFill>
                <a:schemeClr val="dk1"/>
              </a:solidFill>
              <a:latin typeface="Tiro Bangla"/>
              <a:ea typeface="Tiro Bangla"/>
              <a:cs typeface="Tiro Bangla"/>
              <a:sym typeface="Tiro Bangla"/>
            </a:endParaRPr>
          </a:p>
          <a:p>
            <a:pPr indent="-142494" lvl="0" marL="182880" marR="0" rtl="0" algn="l">
              <a:lnSpc>
                <a:spcPct val="140000"/>
              </a:lnSpc>
              <a:spcBef>
                <a:spcPts val="0"/>
              </a:spcBef>
              <a:spcAft>
                <a:spcPts val="0"/>
              </a:spcAft>
              <a:buClr>
                <a:srgbClr val="384D86"/>
              </a:buClr>
              <a:buSzPts val="1200"/>
              <a:buFont typeface="Tiro Bangla"/>
              <a:buChar char="•"/>
            </a:pPr>
            <a:r>
              <a:rPr b="0" i="0" lang="en-US" sz="1200" u="none" cap="none" strike="noStrike">
                <a:solidFill>
                  <a:srgbClr val="384D86"/>
                </a:solidFill>
                <a:latin typeface="Tiro Bangla"/>
                <a:ea typeface="Tiro Bangla"/>
                <a:cs typeface="Tiro Bangla"/>
                <a:sym typeface="Tiro Bangla"/>
              </a:rPr>
              <a:t>সম্পাদক, নতুন অ্যাকাউন্ট, সম্পাদনা, নতুন পাতা: একই API, নিবন্ধিত মানুষ ও কনটেন্ট পাতা</a:t>
            </a:r>
            <a:endParaRPr b="0" i="0" sz="1200" u="none" cap="none" strike="noStrike">
              <a:solidFill>
                <a:schemeClr val="dk1"/>
              </a:solidFill>
              <a:latin typeface="Tiro Bangla"/>
              <a:ea typeface="Tiro Bangla"/>
              <a:cs typeface="Tiro Bangla"/>
              <a:sym typeface="Tiro Bangla"/>
            </a:endParaRPr>
          </a:p>
          <a:p>
            <a:pPr indent="-142494" lvl="0" marL="182880" marR="0" rtl="0" algn="l">
              <a:lnSpc>
                <a:spcPct val="140000"/>
              </a:lnSpc>
              <a:spcBef>
                <a:spcPts val="0"/>
              </a:spcBef>
              <a:spcAft>
                <a:spcPts val="0"/>
              </a:spcAft>
              <a:buClr>
                <a:srgbClr val="384D86"/>
              </a:buClr>
              <a:buSzPts val="1200"/>
              <a:buFont typeface="Tiro Bangla"/>
              <a:buChar char="•"/>
            </a:pPr>
            <a:r>
              <a:rPr b="0" i="0" lang="en-US" sz="1200" u="none" cap="none" strike="noStrike">
                <a:solidFill>
                  <a:srgbClr val="384D86"/>
                </a:solidFill>
                <a:latin typeface="Tiro Bangla"/>
                <a:ea typeface="Tiro Bangla"/>
                <a:cs typeface="Tiro Bangla"/>
                <a:sym typeface="Tiro Bangla"/>
              </a:rPr>
              <a:t>বাংলা উইকিপিডিয়ার MediaWiki API: অপসারণ লগ (স১৫), সতর্কবার্তা টেমপ্লেট, Growth মেন্টর তালিকা, কনটেন্ট ট্রান্সলেশন</a:t>
            </a:r>
            <a:endParaRPr b="0" i="0" sz="1200" u="none" cap="none" strike="noStrike">
              <a:solidFill>
                <a:schemeClr val="dk1"/>
              </a:solidFill>
              <a:latin typeface="Tiro Bangla"/>
              <a:ea typeface="Tiro Bangla"/>
              <a:cs typeface="Tiro Bangla"/>
              <a:sym typeface="Tiro Bangla"/>
            </a:endParaRPr>
          </a:p>
          <a:p>
            <a:pPr indent="-142494" lvl="0" marL="182880" marR="0" rtl="0" algn="l">
              <a:lnSpc>
                <a:spcPct val="140000"/>
              </a:lnSpc>
              <a:spcBef>
                <a:spcPts val="0"/>
              </a:spcBef>
              <a:spcAft>
                <a:spcPts val="0"/>
              </a:spcAft>
              <a:buClr>
                <a:srgbClr val="384D86"/>
              </a:buClr>
              <a:buSzPts val="1200"/>
              <a:buFont typeface="Tiro Bangla"/>
              <a:buChar char="•"/>
            </a:pPr>
            <a:r>
              <a:rPr b="0" i="0" lang="en-US" sz="1200" u="none" cap="none" strike="noStrike">
                <a:solidFill>
                  <a:srgbClr val="384D86"/>
                </a:solidFill>
                <a:latin typeface="Tiro Bangla"/>
                <a:ea typeface="Tiro Bangla"/>
                <a:cs typeface="Tiro Bangla"/>
                <a:sym typeface="Tiro Bangla"/>
              </a:rPr>
              <a:t>ইন্টারনেট ব্যবহারকারী: বিশ্বব্যাংক (IT.NET.USER.ZS × জনসংখ্যা), ২০২৪ পর্যন্ত</a:t>
            </a:r>
            <a:endParaRPr b="0" i="0" sz="1200" u="none" cap="none" strike="noStrike">
              <a:solidFill>
                <a:schemeClr val="dk1"/>
              </a:solidFill>
              <a:latin typeface="Tiro Bangla"/>
              <a:ea typeface="Tiro Bangla"/>
              <a:cs typeface="Tiro Bangla"/>
              <a:sym typeface="Tiro Bangla"/>
            </a:endParaRPr>
          </a:p>
          <a:p>
            <a:pPr indent="-142494" lvl="0" marL="182880" marR="0" rtl="0" algn="l">
              <a:lnSpc>
                <a:spcPct val="140000"/>
              </a:lnSpc>
              <a:spcBef>
                <a:spcPts val="0"/>
              </a:spcBef>
              <a:spcAft>
                <a:spcPts val="0"/>
              </a:spcAft>
              <a:buClr>
                <a:srgbClr val="384D86"/>
              </a:buClr>
              <a:buSzPts val="1200"/>
              <a:buFont typeface="Tiro Bangla"/>
              <a:buChar char="•"/>
            </a:pPr>
            <a:r>
              <a:rPr b="0" i="0" lang="en-US" sz="1200" u="none" cap="none" strike="noStrike">
                <a:solidFill>
                  <a:srgbClr val="384D86"/>
                </a:solidFill>
                <a:latin typeface="Tiro Bangla"/>
                <a:ea typeface="Tiro Bangla"/>
                <a:cs typeface="Tiro Bangla"/>
                <a:sym typeface="Tiro Bangla"/>
              </a:rPr>
              <a:t>ফাউন্ডেশনের বক্তব্য: Diff ও wikimediafoundation.org, ২০২৫–২০২৬</a:t>
            </a:r>
            <a:endParaRPr b="0" i="0" sz="1200" u="none" cap="none" strike="noStrike">
              <a:solidFill>
                <a:schemeClr val="dk1"/>
              </a:solidFill>
              <a:latin typeface="Tiro Bangla"/>
              <a:ea typeface="Tiro Bangla"/>
              <a:cs typeface="Tiro Bangla"/>
              <a:sym typeface="Tiro Bangla"/>
            </a:endParaRPr>
          </a:p>
        </p:txBody>
      </p:sp>
      <p:sp>
        <p:nvSpPr>
          <p:cNvPr id="784" name="Google Shape;784;p34"/>
          <p:cNvSpPr/>
          <p:nvPr/>
        </p:nvSpPr>
        <p:spPr>
          <a:xfrm>
            <a:off x="6299200" y="2528094"/>
            <a:ext cx="5232400" cy="27305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384D86"/>
              </a:buClr>
              <a:buSzPts val="1500"/>
              <a:buFont typeface="Tiro Bangla"/>
              <a:buNone/>
            </a:pPr>
            <a:r>
              <a:rPr b="1" i="0" lang="en-US" sz="1500" u="none" cap="none" strike="noStrike">
                <a:solidFill>
                  <a:srgbClr val="384D86"/>
                </a:solidFill>
                <a:latin typeface="Tiro Bangla"/>
                <a:ea typeface="Tiro Bangla"/>
                <a:cs typeface="Tiro Bangla"/>
                <a:sym typeface="Tiro Bangla"/>
              </a:rPr>
              <a:t>পদ্ধতি ও সতর্কতা</a:t>
            </a:r>
            <a:endParaRPr b="0" i="0" sz="1500" u="none" cap="none" strike="noStrike">
              <a:solidFill>
                <a:schemeClr val="dk1"/>
              </a:solidFill>
              <a:latin typeface="Tiro Bangla"/>
              <a:ea typeface="Tiro Bangla"/>
              <a:cs typeface="Tiro Bangla"/>
              <a:sym typeface="Tiro Bangla"/>
            </a:endParaRPr>
          </a:p>
        </p:txBody>
      </p:sp>
      <p:sp>
        <p:nvSpPr>
          <p:cNvPr id="785" name="Google Shape;785;p34"/>
          <p:cNvSpPr/>
          <p:nvPr/>
        </p:nvSpPr>
        <p:spPr>
          <a:xfrm>
            <a:off x="6299200" y="2877344"/>
            <a:ext cx="5232400" cy="2158603"/>
          </a:xfrm>
          <a:prstGeom prst="rect">
            <a:avLst/>
          </a:prstGeom>
          <a:noFill/>
          <a:ln>
            <a:noFill/>
          </a:ln>
        </p:spPr>
        <p:txBody>
          <a:bodyPr anchorCtr="0" anchor="t" bIns="0" lIns="0" spcFirstLastPara="1" rIns="0" wrap="square" tIns="0">
            <a:noAutofit/>
          </a:bodyPr>
          <a:lstStyle/>
          <a:p>
            <a:pPr indent="-142494" lvl="0" marL="182880" marR="0" rtl="0" algn="l">
              <a:lnSpc>
                <a:spcPct val="140000"/>
              </a:lnSpc>
              <a:spcBef>
                <a:spcPts val="0"/>
              </a:spcBef>
              <a:spcAft>
                <a:spcPts val="0"/>
              </a:spcAft>
              <a:buClr>
                <a:srgbClr val="384D86"/>
              </a:buClr>
              <a:buSzPts val="1200"/>
              <a:buFont typeface="Tiro Bangla"/>
              <a:buChar char="•"/>
            </a:pPr>
            <a:r>
              <a:rPr b="0" i="0" lang="en-US" sz="1200" u="none" cap="none" strike="noStrike">
                <a:solidFill>
                  <a:srgbClr val="384D86"/>
                </a:solidFill>
                <a:latin typeface="Tiro Bangla"/>
                <a:ea typeface="Tiro Bangla"/>
                <a:cs typeface="Tiro Bangla"/>
                <a:sym typeface="Tiro Bangla"/>
              </a:rPr>
              <a:t>বছরওয়ারি তুলনা: প্রতি বছরের জানুয়ারি–সেপ্টেম্বর মাসিক গড়</a:t>
            </a:r>
            <a:endParaRPr b="0" i="0" sz="1200" u="none" cap="none" strike="noStrike">
              <a:solidFill>
                <a:schemeClr val="dk1"/>
              </a:solidFill>
              <a:latin typeface="Tiro Bangla"/>
              <a:ea typeface="Tiro Bangla"/>
              <a:cs typeface="Tiro Bangla"/>
              <a:sym typeface="Tiro Bangla"/>
            </a:endParaRPr>
          </a:p>
          <a:p>
            <a:pPr indent="-142494" lvl="0" marL="182880" marR="0" rtl="0" algn="l">
              <a:lnSpc>
                <a:spcPct val="140000"/>
              </a:lnSpc>
              <a:spcBef>
                <a:spcPts val="0"/>
              </a:spcBef>
              <a:spcAft>
                <a:spcPts val="0"/>
              </a:spcAft>
              <a:buClr>
                <a:srgbClr val="384D86"/>
              </a:buClr>
              <a:buSzPts val="1200"/>
              <a:buFont typeface="Tiro Bangla"/>
              <a:buChar char="•"/>
            </a:pPr>
            <a:r>
              <a:rPr b="0" i="0" lang="en-US" sz="1200" u="none" cap="none" strike="noStrike">
                <a:solidFill>
                  <a:srgbClr val="384D86"/>
                </a:solidFill>
                <a:latin typeface="Tiro Bangla"/>
                <a:ea typeface="Tiro Bangla"/>
                <a:cs typeface="Tiro Bangla"/>
                <a:sym typeface="Tiro Bangla"/>
              </a:rPr>
              <a:t>স্বয়ংক্রিয় বটের আলাদা হিসাব শুরু ২৯ এপ্রিল ২০২০; মার্চ–আগস্ট ২০২৫-এর ডেটা নতুন নিয়মে পুনঃশ্রেণিবিন্যাস করা (Diff, ১৭ অক্টোবর ২০২৫)</a:t>
            </a:r>
            <a:endParaRPr b="0" i="0" sz="1200" u="none" cap="none" strike="noStrike">
              <a:solidFill>
                <a:schemeClr val="dk1"/>
              </a:solidFill>
              <a:latin typeface="Tiro Bangla"/>
              <a:ea typeface="Tiro Bangla"/>
              <a:cs typeface="Tiro Bangla"/>
              <a:sym typeface="Tiro Bangla"/>
            </a:endParaRPr>
          </a:p>
          <a:p>
            <a:pPr indent="-142494" lvl="0" marL="182880" marR="0" rtl="0" algn="l">
              <a:lnSpc>
                <a:spcPct val="140000"/>
              </a:lnSpc>
              <a:spcBef>
                <a:spcPts val="0"/>
              </a:spcBef>
              <a:spcAft>
                <a:spcPts val="0"/>
              </a:spcAft>
              <a:buClr>
                <a:srgbClr val="384D86"/>
              </a:buClr>
              <a:buSzPts val="1200"/>
              <a:buFont typeface="Tiro Bangla"/>
              <a:buChar char="•"/>
            </a:pPr>
            <a:r>
              <a:rPr b="0" i="0" lang="en-US" sz="1200" u="none" cap="none" strike="noStrike">
                <a:solidFill>
                  <a:srgbClr val="384D86"/>
                </a:solidFill>
                <a:latin typeface="Tiro Bangla"/>
                <a:ea typeface="Tiro Bangla"/>
                <a:cs typeface="Tiro Bangla"/>
                <a:sym typeface="Tiro Bangla"/>
              </a:rPr>
              <a:t>সক্রিয় সম্পাদক = মাসে ৫ বা তার বেশি কনটেন্ট-সম্পাদনা করা নিবন্ধিত মানুষ</a:t>
            </a:r>
            <a:endParaRPr b="0" i="0" sz="1200" u="none" cap="none" strike="noStrike">
              <a:solidFill>
                <a:schemeClr val="dk1"/>
              </a:solidFill>
              <a:latin typeface="Tiro Bangla"/>
              <a:ea typeface="Tiro Bangla"/>
              <a:cs typeface="Tiro Bangla"/>
              <a:sym typeface="Tiro Bangla"/>
            </a:endParaRPr>
          </a:p>
          <a:p>
            <a:pPr indent="-142494" lvl="0" marL="182880" marR="0" rtl="0" algn="l">
              <a:lnSpc>
                <a:spcPct val="140000"/>
              </a:lnSpc>
              <a:spcBef>
                <a:spcPts val="0"/>
              </a:spcBef>
              <a:spcAft>
                <a:spcPts val="0"/>
              </a:spcAft>
              <a:buClr>
                <a:srgbClr val="384D86"/>
              </a:buClr>
              <a:buSzPts val="1200"/>
              <a:buFont typeface="Tiro Bangla"/>
              <a:buChar char="•"/>
            </a:pPr>
            <a:r>
              <a:rPr b="0" i="0" lang="en-US" sz="1200" u="none" cap="none" strike="noStrike">
                <a:solidFill>
                  <a:srgbClr val="384D86"/>
                </a:solidFill>
                <a:latin typeface="Tiro Bangla"/>
                <a:ea typeface="Tiro Bangla"/>
                <a:cs typeface="Tiro Bangla"/>
                <a:sym typeface="Tiro Bangla"/>
              </a:rPr>
              <a:t>ঘণ্টার হিসাব বাংলাদেশ সময়ে (UTC+৬)</a:t>
            </a:r>
            <a:endParaRPr b="0" i="0" sz="1200" u="none" cap="none" strike="noStrike">
              <a:solidFill>
                <a:schemeClr val="dk1"/>
              </a:solidFill>
              <a:latin typeface="Tiro Bangla"/>
              <a:ea typeface="Tiro Bangla"/>
              <a:cs typeface="Tiro Bangla"/>
              <a:sym typeface="Tiro Bangla"/>
            </a:endParaRPr>
          </a:p>
          <a:p>
            <a:pPr indent="-142494" lvl="0" marL="182880" marR="0" rtl="0" algn="l">
              <a:lnSpc>
                <a:spcPct val="140000"/>
              </a:lnSpc>
              <a:spcBef>
                <a:spcPts val="0"/>
              </a:spcBef>
              <a:spcAft>
                <a:spcPts val="0"/>
              </a:spcAft>
              <a:buClr>
                <a:srgbClr val="384D86"/>
              </a:buClr>
              <a:buSzPts val="1200"/>
              <a:buFont typeface="Tiro Bangla"/>
              <a:buChar char="•"/>
            </a:pPr>
            <a:r>
              <a:rPr b="0" i="0" lang="en-US" sz="1200" u="none" cap="none" strike="noStrike">
                <a:solidFill>
                  <a:srgbClr val="384D86"/>
                </a:solidFill>
                <a:latin typeface="Tiro Bangla"/>
                <a:ea typeface="Tiro Bangla"/>
                <a:cs typeface="Tiro Bangla"/>
                <a:sym typeface="Tiro Bangla"/>
              </a:rPr>
              <a:t>কনটেন্ট ট্রান্সলেশনের ভাগ আনুমানিক: প্রকাশিত অনুবাদ ÷ নতুন পাতা</a:t>
            </a:r>
            <a:endParaRPr b="0" i="0" sz="1200" u="none" cap="none" strike="noStrike">
              <a:solidFill>
                <a:schemeClr val="dk1"/>
              </a:solidFill>
              <a:latin typeface="Tiro Bangla"/>
              <a:ea typeface="Tiro Bangla"/>
              <a:cs typeface="Tiro Bangla"/>
              <a:sym typeface="Tiro Bangla"/>
            </a:endParaRPr>
          </a:p>
          <a:p>
            <a:pPr indent="-142494" lvl="0" marL="182880" marR="0" rtl="0" algn="l">
              <a:lnSpc>
                <a:spcPct val="140000"/>
              </a:lnSpc>
              <a:spcBef>
                <a:spcPts val="0"/>
              </a:spcBef>
              <a:spcAft>
                <a:spcPts val="0"/>
              </a:spcAft>
              <a:buClr>
                <a:srgbClr val="384D86"/>
              </a:buClr>
              <a:buSzPts val="1200"/>
              <a:buFont typeface="Tiro Bangla"/>
              <a:buChar char="•"/>
            </a:pPr>
            <a:r>
              <a:rPr b="0" i="0" lang="en-US" sz="1200" u="none" cap="none" strike="noStrike">
                <a:solidFill>
                  <a:srgbClr val="384D86"/>
                </a:solidFill>
                <a:latin typeface="Tiro Bangla"/>
                <a:ea typeface="Tiro Bangla"/>
                <a:cs typeface="Tiro Bangla"/>
                <a:sym typeface="Tiro Bangla"/>
              </a:rPr>
              <a:t>ধারণা: ক্রিস্টফ হেনার, ‘Wikipedia at 25: A Wake-Up Call’, ব্যক্তিগত প্রবন্ধ, জানুয়ারি ২০২৬</a:t>
            </a:r>
            <a:endParaRPr b="0" i="0" sz="1200" u="none" cap="none" strike="noStrike">
              <a:solidFill>
                <a:schemeClr val="dk1"/>
              </a:solidFill>
              <a:latin typeface="Tiro Bangla"/>
              <a:ea typeface="Tiro Bangla"/>
              <a:cs typeface="Tiro Bangla"/>
              <a:sym typeface="Tiro Bangla"/>
            </a:endParaRPr>
          </a:p>
          <a:p>
            <a:pPr indent="-142494" lvl="0" marL="182880" marR="0" rtl="0" algn="l">
              <a:lnSpc>
                <a:spcPct val="140000"/>
              </a:lnSpc>
              <a:spcBef>
                <a:spcPts val="0"/>
              </a:spcBef>
              <a:spcAft>
                <a:spcPts val="0"/>
              </a:spcAft>
              <a:buClr>
                <a:srgbClr val="384D86"/>
              </a:buClr>
              <a:buSzPts val="1200"/>
              <a:buFont typeface="Tiro Bangla"/>
              <a:buChar char="•"/>
            </a:pPr>
            <a:r>
              <a:rPr b="0" i="0" lang="en-US" sz="1200" u="none" cap="none" strike="noStrike">
                <a:solidFill>
                  <a:srgbClr val="384D86"/>
                </a:solidFill>
                <a:latin typeface="Tiro Bangla"/>
                <a:ea typeface="Tiro Bangla"/>
                <a:cs typeface="Tiro Bangla"/>
                <a:sym typeface="Tiro Bangla"/>
              </a:rPr>
              <a:t>লোগো: বাংলা উইকিসম্মেলন ২০২৬-এর নকশা, উইকিমিডিয়া বাংলাদেশ, সিসি বাই-এসএ ৪.০</a:t>
            </a:r>
            <a:endParaRPr b="0" i="0" sz="1200" u="none" cap="none" strike="noStrike">
              <a:solidFill>
                <a:schemeClr val="dk1"/>
              </a:solidFill>
              <a:latin typeface="Tiro Bangla"/>
              <a:ea typeface="Tiro Bangla"/>
              <a:cs typeface="Tiro Bangla"/>
              <a:sym typeface="Tiro Bangla"/>
            </a:endParaRPr>
          </a:p>
        </p:txBody>
      </p:sp>
      <p:sp>
        <p:nvSpPr>
          <p:cNvPr id="786" name="Google Shape;786;p34"/>
          <p:cNvSpPr/>
          <p:nvPr/>
        </p:nvSpPr>
        <p:spPr>
          <a:xfrm>
            <a:off x="812800" y="6236965"/>
            <a:ext cx="805005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স্ক্রিপ্ট: bangla_wiki_data.py ও extra_data.py · </a:t>
            </a:r>
            <a:r>
              <a:rPr b="0" i="0" lang="en-US" sz="1200" u="sng" cap="none" strike="noStrike">
                <a:solidFill>
                  <a:schemeClr val="hlink"/>
                </a:solidFill>
                <a:latin typeface="Tiro Bangla"/>
                <a:ea typeface="Tiro Bangla"/>
                <a:cs typeface="Tiro Bangla"/>
                <a:sym typeface="Tiro Bangla"/>
                <a:hlinkClick r:id="rId3"/>
              </a:rPr>
              <a:t>github.com/UserYahya/bangla-wiki-ai-before-after</a:t>
            </a:r>
            <a:endParaRPr b="0" i="0" sz="1200" u="none" cap="none" strike="noStrike">
              <a:solidFill>
                <a:schemeClr val="dk1"/>
              </a:solidFill>
              <a:latin typeface="Tiro Bangla"/>
              <a:ea typeface="Tiro Bangla"/>
              <a:cs typeface="Tiro Bangla"/>
              <a:sym typeface="Tiro Bangla"/>
            </a:endParaRPr>
          </a:p>
        </p:txBody>
      </p:sp>
      <p:sp>
        <p:nvSpPr>
          <p:cNvPr id="787" name="Google Shape;787;p34"/>
          <p:cNvSpPr/>
          <p:nvPr/>
        </p:nvSpPr>
        <p:spPr>
          <a:xfrm>
            <a:off x="10783557" y="6236965"/>
            <a:ext cx="646443"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পরিশিষ্ট ১</a:t>
            </a:r>
            <a:endParaRPr b="0" i="0" sz="1200" u="none" cap="none" strike="noStrike">
              <a:solidFill>
                <a:schemeClr val="dk1"/>
              </a:solidFill>
              <a:latin typeface="Tiro Bangla"/>
              <a:ea typeface="Tiro Bangla"/>
              <a:cs typeface="Tiro Bangla"/>
              <a:sym typeface="Tiro Bangla"/>
            </a:endParaRPr>
          </a:p>
        </p:txBody>
      </p:sp>
      <p:pic>
        <p:nvPicPr>
          <p:cNvPr descr="বাংলা উইকিসম্মেলন ২০২৬ লোগো" id="788" name="Google Shape;788;p34"/>
          <p:cNvPicPr preferRelativeResize="0"/>
          <p:nvPr/>
        </p:nvPicPr>
        <p:blipFill rotWithShape="1">
          <a:blip r:embed="rId4">
            <a:alphaModFix/>
          </a:blip>
          <a:srcRect b="0" l="0" r="0" t="0"/>
          <a:stretch/>
        </p:blipFill>
        <p:spPr>
          <a:xfrm>
            <a:off x="10314432" y="365760"/>
            <a:ext cx="1115568" cy="666862"/>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8DA"/>
        </a:solidFill>
      </p:bgPr>
    </p:bg>
    <p:spTree>
      <p:nvGrpSpPr>
        <p:cNvPr id="793" name="Shape 793"/>
        <p:cNvGrpSpPr/>
        <p:nvPr/>
      </p:nvGrpSpPr>
      <p:grpSpPr>
        <a:xfrm>
          <a:off x="0" y="0"/>
          <a:ext cx="0" cy="0"/>
          <a:chOff x="0" y="0"/>
          <a:chExt cx="0" cy="0"/>
        </a:xfrm>
      </p:grpSpPr>
      <p:sp>
        <p:nvSpPr>
          <p:cNvPr id="794" name="Google Shape;794;p35"/>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8501A"/>
              </a:buClr>
              <a:buSzPts val="1200"/>
              <a:buFont typeface="Tiro Bangla"/>
              <a:buNone/>
            </a:pPr>
            <a:r>
              <a:rPr b="1" i="0" lang="en-US" sz="1200" u="none" cap="none" strike="noStrike">
                <a:solidFill>
                  <a:srgbClr val="C8501A"/>
                </a:solidFill>
                <a:latin typeface="Tiro Bangla"/>
                <a:ea typeface="Tiro Bangla"/>
                <a:cs typeface="Tiro Bangla"/>
                <a:sym typeface="Tiro Bangla"/>
              </a:rPr>
              <a:t>পরিশিষ্ট · প্রশ্নোত্তরের জন্য</a:t>
            </a:r>
            <a:endParaRPr b="0" i="0" sz="1200" u="none" cap="none" strike="noStrike">
              <a:solidFill>
                <a:schemeClr val="dk1"/>
              </a:solidFill>
              <a:latin typeface="Tiro Bangla"/>
              <a:ea typeface="Tiro Bangla"/>
              <a:cs typeface="Tiro Bangla"/>
              <a:sym typeface="Tiro Bangla"/>
            </a:endParaRPr>
          </a:p>
        </p:txBody>
      </p:sp>
      <p:sp>
        <p:nvSpPr>
          <p:cNvPr id="795" name="Google Shape;795;p35"/>
          <p:cNvSpPr/>
          <p:nvPr/>
        </p:nvSpPr>
        <p:spPr>
          <a:xfrm>
            <a:off x="812800" y="1127720"/>
            <a:ext cx="9810750" cy="49272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84D86"/>
              </a:buClr>
              <a:buSzPts val="3200"/>
              <a:buFont typeface="Tiro Bangla"/>
              <a:buNone/>
            </a:pPr>
            <a:r>
              <a:rPr b="0" i="0" lang="en-US" sz="3200" u="none" cap="none" strike="noStrike">
                <a:solidFill>
                  <a:srgbClr val="384D86"/>
                </a:solidFill>
                <a:latin typeface="Tiro Bangla"/>
                <a:ea typeface="Tiro Bangla"/>
                <a:cs typeface="Tiro Bangla"/>
                <a:sym typeface="Tiro Bangla"/>
              </a:rPr>
              <a:t>কোন দেশ থেকে ‘মানুষ’ পাঠক আসেন</a:t>
            </a:r>
            <a:endParaRPr b="0" i="0" sz="3200" u="none" cap="none" strike="noStrike">
              <a:solidFill>
                <a:schemeClr val="dk1"/>
              </a:solidFill>
              <a:latin typeface="Tiro Bangla"/>
              <a:ea typeface="Tiro Bangla"/>
              <a:cs typeface="Tiro Bangla"/>
              <a:sym typeface="Tiro Bangla"/>
            </a:endParaRPr>
          </a:p>
        </p:txBody>
      </p:sp>
      <p:graphicFrame>
        <p:nvGraphicFramePr>
          <p:cNvPr id="796" name="Google Shape;796;p35"/>
          <p:cNvGraphicFramePr/>
          <p:nvPr/>
        </p:nvGraphicFramePr>
        <p:xfrm>
          <a:off x="825500" y="2066925"/>
          <a:ext cx="3000000" cy="3000000"/>
        </p:xfrm>
        <a:graphic>
          <a:graphicData uri="http://schemas.openxmlformats.org/drawingml/2006/table">
            <a:tbl>
              <a:tblPr>
                <a:noFill/>
                <a:tableStyleId>{90B60647-9D0A-40BD-AF51-562D823FFA68}</a:tableStyleId>
              </a:tblPr>
              <a:tblGrid>
                <a:gridCol w="4221475"/>
                <a:gridCol w="2110750"/>
                <a:gridCol w="2110750"/>
                <a:gridCol w="2110750"/>
              </a:tblGrid>
              <a:tr h="412750">
                <a:tc>
                  <a:txBody>
                    <a:bodyPr/>
                    <a:lstStyle/>
                    <a:p>
                      <a:pPr indent="0" lvl="0" marL="0" marR="0" rtl="0" algn="l">
                        <a:lnSpc>
                          <a:spcPct val="140000"/>
                        </a:lnSpc>
                        <a:spcBef>
                          <a:spcPts val="0"/>
                        </a:spcBef>
                        <a:spcAft>
                          <a:spcPts val="0"/>
                        </a:spcAft>
                        <a:buClr>
                          <a:srgbClr val="384D86"/>
                        </a:buClr>
                        <a:buSzPts val="1500"/>
                        <a:buFont typeface="Tiro Bangla"/>
                        <a:buNone/>
                      </a:pPr>
                      <a:r>
                        <a:rPr b="1" lang="en-US" sz="1500" u="none" cap="none" strike="noStrike">
                          <a:solidFill>
                            <a:srgbClr val="384D86"/>
                          </a:solidFill>
                          <a:latin typeface="Tiro Bangla"/>
                          <a:ea typeface="Tiro Bangla"/>
                          <a:cs typeface="Tiro Bangla"/>
                          <a:sym typeface="Tiro Bangla"/>
                        </a:rPr>
                        <a:t>দেশ</a:t>
                      </a:r>
                      <a:endParaRPr sz="1500" u="none" cap="none" strike="noStrike">
                        <a:latin typeface="Tiro Bangla"/>
                        <a:ea typeface="Tiro Bangla"/>
                        <a:cs typeface="Tiro Bangla"/>
                        <a:sym typeface="Tiro Bangla"/>
                      </a:endParaRPr>
                    </a:p>
                  </a:txBody>
                  <a:tcPr marT="66675" marB="66675" marR="66675" marL="66675">
                    <a:lnL cap="flat" cmpd="sng" w="12700">
                      <a:solidFill>
                        <a:srgbClr val="C3BFB8"/>
                      </a:solidFill>
                      <a:prstDash val="solid"/>
                      <a:round/>
                      <a:headEnd len="sm" w="sm" type="none"/>
                      <a:tailEnd len="sm" w="sm" type="none"/>
                    </a:lnL>
                    <a:lnR cap="flat" cmpd="sng" w="12700">
                      <a:solidFill>
                        <a:srgbClr val="BBB2A3"/>
                      </a:solidFill>
                      <a:prstDash val="solid"/>
                      <a:round/>
                      <a:headEnd len="sm" w="sm" type="none"/>
                      <a:tailEnd len="sm" w="sm" type="none"/>
                    </a:lnR>
                    <a:lnT cap="flat" cmpd="sng" w="12700">
                      <a:solidFill>
                        <a:srgbClr val="C3BFB8"/>
                      </a:solidFill>
                      <a:prstDash val="solid"/>
                      <a:round/>
                      <a:headEnd len="sm" w="sm" type="none"/>
                      <a:tailEnd len="sm" w="sm" type="none"/>
                    </a:lnT>
                    <a:lnB cap="flat" cmpd="sng" w="12700">
                      <a:solidFill>
                        <a:srgbClr val="BBB2A3"/>
                      </a:solidFill>
                      <a:prstDash val="solid"/>
                      <a:round/>
                      <a:headEnd len="sm" w="sm" type="none"/>
                      <a:tailEnd len="sm" w="sm" type="none"/>
                    </a:lnB>
                    <a:solidFill>
                      <a:srgbClr val="FBEEBF"/>
                    </a:solidFill>
                  </a:tcPr>
                </a:tc>
                <a:tc>
                  <a:txBody>
                    <a:bodyPr/>
                    <a:lstStyle/>
                    <a:p>
                      <a:pPr indent="0" lvl="0" marL="0" marR="0" rtl="0" algn="r">
                        <a:lnSpc>
                          <a:spcPct val="140000"/>
                        </a:lnSpc>
                        <a:spcBef>
                          <a:spcPts val="0"/>
                        </a:spcBef>
                        <a:spcAft>
                          <a:spcPts val="0"/>
                        </a:spcAft>
                        <a:buClr>
                          <a:srgbClr val="384D86"/>
                        </a:buClr>
                        <a:buSzPts val="1500"/>
                        <a:buFont typeface="Tiro Bangla"/>
                        <a:buNone/>
                      </a:pPr>
                      <a:r>
                        <a:rPr b="1" lang="en-US" sz="1500" u="none" cap="none" strike="noStrike">
                          <a:solidFill>
                            <a:srgbClr val="384D86"/>
                          </a:solidFill>
                          <a:latin typeface="Tiro Bangla"/>
                          <a:ea typeface="Tiro Bangla"/>
                          <a:cs typeface="Tiro Bangla"/>
                          <a:sym typeface="Tiro Bangla"/>
                        </a:rPr>
                        <a:t>২০২৪, মাসে</a:t>
                      </a:r>
                      <a:endParaRPr sz="1500" u="none" cap="none" strike="noStrike">
                        <a:latin typeface="Tiro Bangla"/>
                        <a:ea typeface="Tiro Bangla"/>
                        <a:cs typeface="Tiro Bangla"/>
                        <a:sym typeface="Tiro Bangla"/>
                      </a:endParaRPr>
                    </a:p>
                  </a:txBody>
                  <a:tcPr marT="66675" marB="66675" marR="66675" marL="66675">
                    <a:lnL cap="flat" cmpd="sng" w="12700">
                      <a:solidFill>
                        <a:srgbClr val="BBB2A3"/>
                      </a:solidFill>
                      <a:prstDash val="solid"/>
                      <a:round/>
                      <a:headEnd len="sm" w="sm" type="none"/>
                      <a:tailEnd len="sm" w="sm" type="none"/>
                    </a:lnL>
                    <a:lnR cap="flat" cmpd="sng" w="12700">
                      <a:solidFill>
                        <a:srgbClr val="BBB2A3"/>
                      </a:solidFill>
                      <a:prstDash val="solid"/>
                      <a:round/>
                      <a:headEnd len="sm" w="sm" type="none"/>
                      <a:tailEnd len="sm" w="sm" type="none"/>
                    </a:lnR>
                    <a:lnT cap="flat" cmpd="sng" w="12700">
                      <a:solidFill>
                        <a:srgbClr val="C3BFB8"/>
                      </a:solidFill>
                      <a:prstDash val="solid"/>
                      <a:round/>
                      <a:headEnd len="sm" w="sm" type="none"/>
                      <a:tailEnd len="sm" w="sm" type="none"/>
                    </a:lnT>
                    <a:lnB cap="flat" cmpd="sng" w="12700">
                      <a:solidFill>
                        <a:srgbClr val="BBB2A3"/>
                      </a:solidFill>
                      <a:prstDash val="solid"/>
                      <a:round/>
                      <a:headEnd len="sm" w="sm" type="none"/>
                      <a:tailEnd len="sm" w="sm" type="none"/>
                    </a:lnB>
                    <a:solidFill>
                      <a:srgbClr val="FBEEBF"/>
                    </a:solidFill>
                  </a:tcPr>
                </a:tc>
                <a:tc>
                  <a:txBody>
                    <a:bodyPr/>
                    <a:lstStyle/>
                    <a:p>
                      <a:pPr indent="0" lvl="0" marL="0" marR="0" rtl="0" algn="r">
                        <a:lnSpc>
                          <a:spcPct val="140000"/>
                        </a:lnSpc>
                        <a:spcBef>
                          <a:spcPts val="0"/>
                        </a:spcBef>
                        <a:spcAft>
                          <a:spcPts val="0"/>
                        </a:spcAft>
                        <a:buClr>
                          <a:srgbClr val="384D86"/>
                        </a:buClr>
                        <a:buSzPts val="1500"/>
                        <a:buFont typeface="Tiro Bangla"/>
                        <a:buNone/>
                      </a:pPr>
                      <a:r>
                        <a:rPr b="1" lang="en-US" sz="1500" u="none" cap="none" strike="noStrike">
                          <a:solidFill>
                            <a:srgbClr val="384D86"/>
                          </a:solidFill>
                          <a:latin typeface="Tiro Bangla"/>
                          <a:ea typeface="Tiro Bangla"/>
                          <a:cs typeface="Tiro Bangla"/>
                          <a:sym typeface="Tiro Bangla"/>
                        </a:rPr>
                        <a:t>২০২৬, মাসে</a:t>
                      </a:r>
                      <a:endParaRPr sz="1500" u="none" cap="none" strike="noStrike">
                        <a:latin typeface="Tiro Bangla"/>
                        <a:ea typeface="Tiro Bangla"/>
                        <a:cs typeface="Tiro Bangla"/>
                        <a:sym typeface="Tiro Bangla"/>
                      </a:endParaRPr>
                    </a:p>
                  </a:txBody>
                  <a:tcPr marT="66675" marB="66675" marR="66675" marL="66675">
                    <a:lnL cap="flat" cmpd="sng" w="12700">
                      <a:solidFill>
                        <a:srgbClr val="BBB2A3"/>
                      </a:solidFill>
                      <a:prstDash val="solid"/>
                      <a:round/>
                      <a:headEnd len="sm" w="sm" type="none"/>
                      <a:tailEnd len="sm" w="sm" type="none"/>
                    </a:lnL>
                    <a:lnR cap="flat" cmpd="sng" w="12700">
                      <a:solidFill>
                        <a:srgbClr val="BBB2A3"/>
                      </a:solidFill>
                      <a:prstDash val="solid"/>
                      <a:round/>
                      <a:headEnd len="sm" w="sm" type="none"/>
                      <a:tailEnd len="sm" w="sm" type="none"/>
                    </a:lnR>
                    <a:lnT cap="flat" cmpd="sng" w="12700">
                      <a:solidFill>
                        <a:srgbClr val="C3BFB8"/>
                      </a:solidFill>
                      <a:prstDash val="solid"/>
                      <a:round/>
                      <a:headEnd len="sm" w="sm" type="none"/>
                      <a:tailEnd len="sm" w="sm" type="none"/>
                    </a:lnT>
                    <a:lnB cap="flat" cmpd="sng" w="12700">
                      <a:solidFill>
                        <a:srgbClr val="BBB2A3"/>
                      </a:solidFill>
                      <a:prstDash val="solid"/>
                      <a:round/>
                      <a:headEnd len="sm" w="sm" type="none"/>
                      <a:tailEnd len="sm" w="sm" type="none"/>
                    </a:lnB>
                    <a:solidFill>
                      <a:srgbClr val="FBEEBF"/>
                    </a:solidFill>
                  </a:tcPr>
                </a:tc>
                <a:tc>
                  <a:txBody>
                    <a:bodyPr/>
                    <a:lstStyle/>
                    <a:p>
                      <a:pPr indent="0" lvl="0" marL="0" marR="0" rtl="0" algn="r">
                        <a:lnSpc>
                          <a:spcPct val="140000"/>
                        </a:lnSpc>
                        <a:spcBef>
                          <a:spcPts val="0"/>
                        </a:spcBef>
                        <a:spcAft>
                          <a:spcPts val="0"/>
                        </a:spcAft>
                        <a:buClr>
                          <a:srgbClr val="384D86"/>
                        </a:buClr>
                        <a:buSzPts val="1500"/>
                        <a:buFont typeface="Tiro Bangla"/>
                        <a:buNone/>
                      </a:pPr>
                      <a:r>
                        <a:rPr b="1" lang="en-US" sz="1500" u="none" cap="none" strike="noStrike">
                          <a:solidFill>
                            <a:srgbClr val="384D86"/>
                          </a:solidFill>
                          <a:latin typeface="Tiro Bangla"/>
                          <a:ea typeface="Tiro Bangla"/>
                          <a:cs typeface="Tiro Bangla"/>
                          <a:sym typeface="Tiro Bangla"/>
                        </a:rPr>
                        <a:t>পরিবর্তন</a:t>
                      </a:r>
                      <a:endParaRPr sz="1500" u="none" cap="none" strike="noStrike">
                        <a:latin typeface="Tiro Bangla"/>
                        <a:ea typeface="Tiro Bangla"/>
                        <a:cs typeface="Tiro Bangla"/>
                        <a:sym typeface="Tiro Bangla"/>
                      </a:endParaRPr>
                    </a:p>
                  </a:txBody>
                  <a:tcPr marT="66675" marB="66675" marR="66675" marL="66675">
                    <a:lnL cap="flat" cmpd="sng" w="12700">
                      <a:solidFill>
                        <a:srgbClr val="BBB2A3"/>
                      </a:solidFill>
                      <a:prstDash val="solid"/>
                      <a:round/>
                      <a:headEnd len="sm" w="sm" type="none"/>
                      <a:tailEnd len="sm" w="sm" type="none"/>
                    </a:lnL>
                    <a:lnR cap="flat" cmpd="sng" w="12700">
                      <a:solidFill>
                        <a:srgbClr val="BBB2A3"/>
                      </a:solidFill>
                      <a:prstDash val="solid"/>
                      <a:round/>
                      <a:headEnd len="sm" w="sm" type="none"/>
                      <a:tailEnd len="sm" w="sm" type="none"/>
                    </a:lnR>
                    <a:lnT cap="flat" cmpd="sng" w="12700">
                      <a:solidFill>
                        <a:srgbClr val="C3BFB8"/>
                      </a:solidFill>
                      <a:prstDash val="solid"/>
                      <a:round/>
                      <a:headEnd len="sm" w="sm" type="none"/>
                      <a:tailEnd len="sm" w="sm" type="none"/>
                    </a:lnT>
                    <a:lnB cap="flat" cmpd="sng" w="12700">
                      <a:solidFill>
                        <a:srgbClr val="BBB2A3"/>
                      </a:solidFill>
                      <a:prstDash val="solid"/>
                      <a:round/>
                      <a:headEnd len="sm" w="sm" type="none"/>
                      <a:tailEnd len="sm" w="sm" type="none"/>
                    </a:lnB>
                    <a:solidFill>
                      <a:srgbClr val="FBEEBF"/>
                    </a:solidFill>
                  </a:tcPr>
                </a:tc>
              </a:tr>
              <a:tr h="412750">
                <a:tc>
                  <a:txBody>
                    <a:bodyPr/>
                    <a:lstStyle/>
                    <a:p>
                      <a:pPr indent="0" lvl="0" marL="0" marR="0" rtl="0" algn="l">
                        <a:lnSpc>
                          <a:spcPct val="140000"/>
                        </a:lnSpc>
                        <a:spcBef>
                          <a:spcPts val="0"/>
                        </a:spcBef>
                        <a:spcAft>
                          <a:spcPts val="0"/>
                        </a:spcAft>
                        <a:buClr>
                          <a:srgbClr val="384D86"/>
                        </a:buClr>
                        <a:buSzPts val="1500"/>
                        <a:buFont typeface="Tiro Bangla"/>
                        <a:buNone/>
                      </a:pPr>
                      <a:r>
                        <a:rPr lang="en-US" sz="1500" u="none" cap="none" strike="noStrike">
                          <a:solidFill>
                            <a:srgbClr val="384D86"/>
                          </a:solidFill>
                          <a:latin typeface="Tiro Bangla"/>
                          <a:ea typeface="Tiro Bangla"/>
                          <a:cs typeface="Tiro Bangla"/>
                          <a:sym typeface="Tiro Bangla"/>
                        </a:rPr>
                        <a:t>ভারত</a:t>
                      </a:r>
                      <a:endParaRPr sz="1500" u="none" cap="none" strike="noStrike">
                        <a:latin typeface="Tiro Bangla"/>
                        <a:ea typeface="Tiro Bangla"/>
                        <a:cs typeface="Tiro Bangla"/>
                        <a:sym typeface="Tiro Bangla"/>
                      </a:endParaRPr>
                    </a:p>
                  </a:txBody>
                  <a:tcPr marT="66675" marB="66675" marR="66675" marL="66675">
                    <a:lnL cap="flat" cmpd="sng" w="12700">
                      <a:solidFill>
                        <a:srgbClr val="C3BFB8"/>
                      </a:solidFill>
                      <a:prstDash val="solid"/>
                      <a:round/>
                      <a:headEnd len="sm" w="sm" type="none"/>
                      <a:tailEnd len="sm" w="sm" type="none"/>
                    </a:lnL>
                    <a:lnR cap="flat" cmpd="sng" w="12700">
                      <a:solidFill>
                        <a:srgbClr val="C3BFB8"/>
                      </a:solidFill>
                      <a:prstDash val="solid"/>
                      <a:round/>
                      <a:headEnd len="sm" w="sm" type="none"/>
                      <a:tailEnd len="sm" w="sm" type="none"/>
                    </a:lnR>
                    <a:lnT cap="flat" cmpd="sng" w="12700">
                      <a:solidFill>
                        <a:srgbClr val="BBB2A3"/>
                      </a:solidFill>
                      <a:prstDash val="solid"/>
                      <a:round/>
                      <a:headEnd len="sm" w="sm" type="none"/>
                      <a:tailEnd len="sm" w="sm" type="none"/>
                    </a:lnT>
                    <a:lnB cap="flat" cmpd="sng" w="12700">
                      <a:solidFill>
                        <a:srgbClr val="C3BFB8"/>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384D86"/>
                        </a:buClr>
                        <a:buSzPts val="1500"/>
                        <a:buFont typeface="Tiro Bangla"/>
                        <a:buNone/>
                      </a:pPr>
                      <a:r>
                        <a:rPr lang="en-US" sz="1500" u="none" cap="none" strike="noStrike">
                          <a:solidFill>
                            <a:srgbClr val="384D86"/>
                          </a:solidFill>
                          <a:latin typeface="Tiro Bangla"/>
                          <a:ea typeface="Tiro Bangla"/>
                          <a:cs typeface="Tiro Bangla"/>
                          <a:sym typeface="Tiro Bangla"/>
                        </a:rPr>
                        <a:t>৬৪ লাখ</a:t>
                      </a:r>
                      <a:endParaRPr sz="1500" u="none" cap="none" strike="noStrike">
                        <a:latin typeface="Tiro Bangla"/>
                        <a:ea typeface="Tiro Bangla"/>
                        <a:cs typeface="Tiro Bangla"/>
                        <a:sym typeface="Tiro Bangla"/>
                      </a:endParaRPr>
                    </a:p>
                  </a:txBody>
                  <a:tcPr marT="66675" marB="66675" marR="66675" marL="66675">
                    <a:lnL cap="flat" cmpd="sng" w="12700">
                      <a:solidFill>
                        <a:srgbClr val="C3BFB8"/>
                      </a:solidFill>
                      <a:prstDash val="solid"/>
                      <a:round/>
                      <a:headEnd len="sm" w="sm" type="none"/>
                      <a:tailEnd len="sm" w="sm" type="none"/>
                    </a:lnL>
                    <a:lnR cap="flat" cmpd="sng" w="12700">
                      <a:solidFill>
                        <a:srgbClr val="C3BFB8"/>
                      </a:solidFill>
                      <a:prstDash val="solid"/>
                      <a:round/>
                      <a:headEnd len="sm" w="sm" type="none"/>
                      <a:tailEnd len="sm" w="sm" type="none"/>
                    </a:lnR>
                    <a:lnT cap="flat" cmpd="sng" w="12700">
                      <a:solidFill>
                        <a:srgbClr val="BBB2A3"/>
                      </a:solidFill>
                      <a:prstDash val="solid"/>
                      <a:round/>
                      <a:headEnd len="sm" w="sm" type="none"/>
                      <a:tailEnd len="sm" w="sm" type="none"/>
                    </a:lnT>
                    <a:lnB cap="flat" cmpd="sng" w="12700">
                      <a:solidFill>
                        <a:srgbClr val="C3BFB8"/>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384D86"/>
                        </a:buClr>
                        <a:buSzPts val="1500"/>
                        <a:buFont typeface="Tiro Bangla"/>
                        <a:buNone/>
                      </a:pPr>
                      <a:r>
                        <a:rPr lang="en-US" sz="1500" u="none" cap="none" strike="noStrike">
                          <a:solidFill>
                            <a:srgbClr val="384D86"/>
                          </a:solidFill>
                          <a:latin typeface="Tiro Bangla"/>
                          <a:ea typeface="Tiro Bangla"/>
                          <a:cs typeface="Tiro Bangla"/>
                          <a:sym typeface="Tiro Bangla"/>
                        </a:rPr>
                        <a:t>২২ লাখ</a:t>
                      </a:r>
                      <a:endParaRPr sz="1500" u="none" cap="none" strike="noStrike">
                        <a:latin typeface="Tiro Bangla"/>
                        <a:ea typeface="Tiro Bangla"/>
                        <a:cs typeface="Tiro Bangla"/>
                        <a:sym typeface="Tiro Bangla"/>
                      </a:endParaRPr>
                    </a:p>
                  </a:txBody>
                  <a:tcPr marT="66675" marB="66675" marR="66675" marL="66675">
                    <a:lnL cap="flat" cmpd="sng" w="12700">
                      <a:solidFill>
                        <a:srgbClr val="C3BFB8"/>
                      </a:solidFill>
                      <a:prstDash val="solid"/>
                      <a:round/>
                      <a:headEnd len="sm" w="sm" type="none"/>
                      <a:tailEnd len="sm" w="sm" type="none"/>
                    </a:lnL>
                    <a:lnR cap="flat" cmpd="sng" w="12700">
                      <a:solidFill>
                        <a:srgbClr val="C3BFB8"/>
                      </a:solidFill>
                      <a:prstDash val="solid"/>
                      <a:round/>
                      <a:headEnd len="sm" w="sm" type="none"/>
                      <a:tailEnd len="sm" w="sm" type="none"/>
                    </a:lnR>
                    <a:lnT cap="flat" cmpd="sng" w="12700">
                      <a:solidFill>
                        <a:srgbClr val="BBB2A3"/>
                      </a:solidFill>
                      <a:prstDash val="solid"/>
                      <a:round/>
                      <a:headEnd len="sm" w="sm" type="none"/>
                      <a:tailEnd len="sm" w="sm" type="none"/>
                    </a:lnT>
                    <a:lnB cap="flat" cmpd="sng" w="12700">
                      <a:solidFill>
                        <a:srgbClr val="C3BFB8"/>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C8501A"/>
                        </a:buClr>
                        <a:buSzPts val="1500"/>
                        <a:buFont typeface="Tiro Bangla"/>
                        <a:buNone/>
                      </a:pPr>
                      <a:r>
                        <a:rPr lang="en-US" sz="1500" u="none" cap="none" strike="noStrike">
                          <a:solidFill>
                            <a:srgbClr val="C8501A"/>
                          </a:solidFill>
                          <a:latin typeface="Tiro Bangla"/>
                          <a:ea typeface="Tiro Bangla"/>
                          <a:cs typeface="Tiro Bangla"/>
                          <a:sym typeface="Tiro Bangla"/>
                        </a:rPr>
                        <a:t>−৬৫%</a:t>
                      </a:r>
                      <a:endParaRPr sz="1500" u="none" cap="none" strike="noStrike">
                        <a:latin typeface="Tiro Bangla"/>
                        <a:ea typeface="Tiro Bangla"/>
                        <a:cs typeface="Tiro Bangla"/>
                        <a:sym typeface="Tiro Bangla"/>
                      </a:endParaRPr>
                    </a:p>
                  </a:txBody>
                  <a:tcPr marT="66675" marB="66675" marR="66675" marL="66675">
                    <a:lnL cap="flat" cmpd="sng" w="12700">
                      <a:solidFill>
                        <a:srgbClr val="C3BFB8"/>
                      </a:solidFill>
                      <a:prstDash val="solid"/>
                      <a:round/>
                      <a:headEnd len="sm" w="sm" type="none"/>
                      <a:tailEnd len="sm" w="sm" type="none"/>
                    </a:lnL>
                    <a:lnR cap="flat" cmpd="sng" w="12700">
                      <a:solidFill>
                        <a:srgbClr val="C3BFB8"/>
                      </a:solidFill>
                      <a:prstDash val="solid"/>
                      <a:round/>
                      <a:headEnd len="sm" w="sm" type="none"/>
                      <a:tailEnd len="sm" w="sm" type="none"/>
                    </a:lnR>
                    <a:lnT cap="flat" cmpd="sng" w="12700">
                      <a:solidFill>
                        <a:srgbClr val="BBB2A3"/>
                      </a:solidFill>
                      <a:prstDash val="solid"/>
                      <a:round/>
                      <a:headEnd len="sm" w="sm" type="none"/>
                      <a:tailEnd len="sm" w="sm" type="none"/>
                    </a:lnT>
                    <a:lnB cap="flat" cmpd="sng" w="12700">
                      <a:solidFill>
                        <a:srgbClr val="C3BFB8"/>
                      </a:solidFill>
                      <a:prstDash val="solid"/>
                      <a:round/>
                      <a:headEnd len="sm" w="sm" type="none"/>
                      <a:tailEnd len="sm" w="sm" type="none"/>
                    </a:lnB>
                  </a:tcPr>
                </a:tc>
              </a:tr>
              <a:tr h="412750">
                <a:tc>
                  <a:txBody>
                    <a:bodyPr/>
                    <a:lstStyle/>
                    <a:p>
                      <a:pPr indent="0" lvl="0" marL="0" marR="0" rtl="0" algn="l">
                        <a:lnSpc>
                          <a:spcPct val="140000"/>
                        </a:lnSpc>
                        <a:spcBef>
                          <a:spcPts val="0"/>
                        </a:spcBef>
                        <a:spcAft>
                          <a:spcPts val="0"/>
                        </a:spcAft>
                        <a:buClr>
                          <a:srgbClr val="384D86"/>
                        </a:buClr>
                        <a:buSzPts val="1500"/>
                        <a:buFont typeface="Tiro Bangla"/>
                        <a:buNone/>
                      </a:pPr>
                      <a:r>
                        <a:rPr lang="en-US" sz="1500" u="none" cap="none" strike="noStrike">
                          <a:solidFill>
                            <a:srgbClr val="384D86"/>
                          </a:solidFill>
                          <a:latin typeface="Tiro Bangla"/>
                          <a:ea typeface="Tiro Bangla"/>
                          <a:cs typeface="Tiro Bangla"/>
                          <a:sym typeface="Tiro Bangla"/>
                        </a:rPr>
                        <a:t>যুক্তরাষ্ট্র</a:t>
                      </a:r>
                      <a:endParaRPr sz="1500" u="none" cap="none" strike="noStrike">
                        <a:latin typeface="Tiro Bangla"/>
                        <a:ea typeface="Tiro Bangla"/>
                        <a:cs typeface="Tiro Bangla"/>
                        <a:sym typeface="Tiro Bangla"/>
                      </a:endParaRPr>
                    </a:p>
                  </a:txBody>
                  <a:tcPr marT="66675" marB="66675" marR="66675" marL="66675">
                    <a:lnL cap="flat" cmpd="sng" w="12700">
                      <a:solidFill>
                        <a:srgbClr val="C3BFB8"/>
                      </a:solidFill>
                      <a:prstDash val="solid"/>
                      <a:round/>
                      <a:headEnd len="sm" w="sm" type="none"/>
                      <a:tailEnd len="sm" w="sm" type="none"/>
                    </a:lnL>
                    <a:lnR cap="flat" cmpd="sng" w="12700">
                      <a:solidFill>
                        <a:srgbClr val="C3BFB8"/>
                      </a:solidFill>
                      <a:prstDash val="solid"/>
                      <a:round/>
                      <a:headEnd len="sm" w="sm" type="none"/>
                      <a:tailEnd len="sm" w="sm" type="none"/>
                    </a:lnR>
                    <a:lnT cap="flat" cmpd="sng" w="12700">
                      <a:solidFill>
                        <a:srgbClr val="C3BFB8"/>
                      </a:solidFill>
                      <a:prstDash val="solid"/>
                      <a:round/>
                      <a:headEnd len="sm" w="sm" type="none"/>
                      <a:tailEnd len="sm" w="sm" type="none"/>
                    </a:lnT>
                    <a:lnB cap="flat" cmpd="sng" w="12700">
                      <a:solidFill>
                        <a:srgbClr val="C3BFB8"/>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384D86"/>
                        </a:buClr>
                        <a:buSzPts val="1500"/>
                        <a:buFont typeface="Tiro Bangla"/>
                        <a:buNone/>
                      </a:pPr>
                      <a:r>
                        <a:rPr lang="en-US" sz="1500" u="none" cap="none" strike="noStrike">
                          <a:solidFill>
                            <a:srgbClr val="384D86"/>
                          </a:solidFill>
                          <a:latin typeface="Tiro Bangla"/>
                          <a:ea typeface="Tiro Bangla"/>
                          <a:cs typeface="Tiro Bangla"/>
                          <a:sym typeface="Tiro Bangla"/>
                        </a:rPr>
                        <a:t>৪.৮ লাখ</a:t>
                      </a:r>
                      <a:endParaRPr sz="1500" u="none" cap="none" strike="noStrike">
                        <a:latin typeface="Tiro Bangla"/>
                        <a:ea typeface="Tiro Bangla"/>
                        <a:cs typeface="Tiro Bangla"/>
                        <a:sym typeface="Tiro Bangla"/>
                      </a:endParaRPr>
                    </a:p>
                  </a:txBody>
                  <a:tcPr marT="66675" marB="66675" marR="66675" marL="66675">
                    <a:lnL cap="flat" cmpd="sng" w="12700">
                      <a:solidFill>
                        <a:srgbClr val="C3BFB8"/>
                      </a:solidFill>
                      <a:prstDash val="solid"/>
                      <a:round/>
                      <a:headEnd len="sm" w="sm" type="none"/>
                      <a:tailEnd len="sm" w="sm" type="none"/>
                    </a:lnL>
                    <a:lnR cap="flat" cmpd="sng" w="12700">
                      <a:solidFill>
                        <a:srgbClr val="C3BFB8"/>
                      </a:solidFill>
                      <a:prstDash val="solid"/>
                      <a:round/>
                      <a:headEnd len="sm" w="sm" type="none"/>
                      <a:tailEnd len="sm" w="sm" type="none"/>
                    </a:lnR>
                    <a:lnT cap="flat" cmpd="sng" w="12700">
                      <a:solidFill>
                        <a:srgbClr val="C3BFB8"/>
                      </a:solidFill>
                      <a:prstDash val="solid"/>
                      <a:round/>
                      <a:headEnd len="sm" w="sm" type="none"/>
                      <a:tailEnd len="sm" w="sm" type="none"/>
                    </a:lnT>
                    <a:lnB cap="flat" cmpd="sng" w="12700">
                      <a:solidFill>
                        <a:srgbClr val="C3BFB8"/>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384D86"/>
                        </a:buClr>
                        <a:buSzPts val="1500"/>
                        <a:buFont typeface="Tiro Bangla"/>
                        <a:buNone/>
                      </a:pPr>
                      <a:r>
                        <a:rPr lang="en-US" sz="1500" u="none" cap="none" strike="noStrike">
                          <a:solidFill>
                            <a:srgbClr val="384D86"/>
                          </a:solidFill>
                          <a:latin typeface="Tiro Bangla"/>
                          <a:ea typeface="Tiro Bangla"/>
                          <a:cs typeface="Tiro Bangla"/>
                          <a:sym typeface="Tiro Bangla"/>
                        </a:rPr>
                        <a:t>১০ লাখ</a:t>
                      </a:r>
                      <a:endParaRPr sz="1500" u="none" cap="none" strike="noStrike">
                        <a:latin typeface="Tiro Bangla"/>
                        <a:ea typeface="Tiro Bangla"/>
                        <a:cs typeface="Tiro Bangla"/>
                        <a:sym typeface="Tiro Bangla"/>
                      </a:endParaRPr>
                    </a:p>
                  </a:txBody>
                  <a:tcPr marT="66675" marB="66675" marR="66675" marL="66675">
                    <a:lnL cap="flat" cmpd="sng" w="12700">
                      <a:solidFill>
                        <a:srgbClr val="C3BFB8"/>
                      </a:solidFill>
                      <a:prstDash val="solid"/>
                      <a:round/>
                      <a:headEnd len="sm" w="sm" type="none"/>
                      <a:tailEnd len="sm" w="sm" type="none"/>
                    </a:lnL>
                    <a:lnR cap="flat" cmpd="sng" w="12700">
                      <a:solidFill>
                        <a:srgbClr val="C3BFB8"/>
                      </a:solidFill>
                      <a:prstDash val="solid"/>
                      <a:round/>
                      <a:headEnd len="sm" w="sm" type="none"/>
                      <a:tailEnd len="sm" w="sm" type="none"/>
                    </a:lnR>
                    <a:lnT cap="flat" cmpd="sng" w="12700">
                      <a:solidFill>
                        <a:srgbClr val="C3BFB8"/>
                      </a:solidFill>
                      <a:prstDash val="solid"/>
                      <a:round/>
                      <a:headEnd len="sm" w="sm" type="none"/>
                      <a:tailEnd len="sm" w="sm" type="none"/>
                    </a:lnT>
                    <a:lnB cap="flat" cmpd="sng" w="12700">
                      <a:solidFill>
                        <a:srgbClr val="C3BFB8"/>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384D86"/>
                        </a:buClr>
                        <a:buSzPts val="1500"/>
                        <a:buFont typeface="Tiro Bangla"/>
                        <a:buNone/>
                      </a:pPr>
                      <a:r>
                        <a:rPr lang="en-US" sz="1500" u="none" cap="none" strike="noStrike">
                          <a:solidFill>
                            <a:srgbClr val="384D86"/>
                          </a:solidFill>
                          <a:latin typeface="Tiro Bangla"/>
                          <a:ea typeface="Tiro Bangla"/>
                          <a:cs typeface="Tiro Bangla"/>
                          <a:sym typeface="Tiro Bangla"/>
                        </a:rPr>
                        <a:t>+১১৫%</a:t>
                      </a:r>
                      <a:endParaRPr sz="1500" u="none" cap="none" strike="noStrike">
                        <a:latin typeface="Tiro Bangla"/>
                        <a:ea typeface="Tiro Bangla"/>
                        <a:cs typeface="Tiro Bangla"/>
                        <a:sym typeface="Tiro Bangla"/>
                      </a:endParaRPr>
                    </a:p>
                  </a:txBody>
                  <a:tcPr marT="66675" marB="66675" marR="66675" marL="66675">
                    <a:lnL cap="flat" cmpd="sng" w="12700">
                      <a:solidFill>
                        <a:srgbClr val="C3BFB8"/>
                      </a:solidFill>
                      <a:prstDash val="solid"/>
                      <a:round/>
                      <a:headEnd len="sm" w="sm" type="none"/>
                      <a:tailEnd len="sm" w="sm" type="none"/>
                    </a:lnL>
                    <a:lnR cap="flat" cmpd="sng" w="12700">
                      <a:solidFill>
                        <a:srgbClr val="C3BFB8"/>
                      </a:solidFill>
                      <a:prstDash val="solid"/>
                      <a:round/>
                      <a:headEnd len="sm" w="sm" type="none"/>
                      <a:tailEnd len="sm" w="sm" type="none"/>
                    </a:lnR>
                    <a:lnT cap="flat" cmpd="sng" w="12700">
                      <a:solidFill>
                        <a:srgbClr val="C3BFB8"/>
                      </a:solidFill>
                      <a:prstDash val="solid"/>
                      <a:round/>
                      <a:headEnd len="sm" w="sm" type="none"/>
                      <a:tailEnd len="sm" w="sm" type="none"/>
                    </a:lnT>
                    <a:lnB cap="flat" cmpd="sng" w="12700">
                      <a:solidFill>
                        <a:srgbClr val="C3BFB8"/>
                      </a:solidFill>
                      <a:prstDash val="solid"/>
                      <a:round/>
                      <a:headEnd len="sm" w="sm" type="none"/>
                      <a:tailEnd len="sm" w="sm" type="none"/>
                    </a:lnB>
                  </a:tcPr>
                </a:tc>
              </a:tr>
              <a:tr h="412750">
                <a:tc>
                  <a:txBody>
                    <a:bodyPr/>
                    <a:lstStyle/>
                    <a:p>
                      <a:pPr indent="0" lvl="0" marL="0" marR="0" rtl="0" algn="l">
                        <a:lnSpc>
                          <a:spcPct val="140000"/>
                        </a:lnSpc>
                        <a:spcBef>
                          <a:spcPts val="0"/>
                        </a:spcBef>
                        <a:spcAft>
                          <a:spcPts val="0"/>
                        </a:spcAft>
                        <a:buClr>
                          <a:srgbClr val="384D86"/>
                        </a:buClr>
                        <a:buSzPts val="1500"/>
                        <a:buFont typeface="Tiro Bangla"/>
                        <a:buNone/>
                      </a:pPr>
                      <a:r>
                        <a:rPr lang="en-US" sz="1500" u="none" cap="none" strike="noStrike">
                          <a:solidFill>
                            <a:srgbClr val="384D86"/>
                          </a:solidFill>
                          <a:latin typeface="Tiro Bangla"/>
                          <a:ea typeface="Tiro Bangla"/>
                          <a:cs typeface="Tiro Bangla"/>
                          <a:sym typeface="Tiro Bangla"/>
                        </a:rPr>
                        <a:t>সিঙ্গাপুর</a:t>
                      </a:r>
                      <a:endParaRPr sz="1500" u="none" cap="none" strike="noStrike">
                        <a:latin typeface="Tiro Bangla"/>
                        <a:ea typeface="Tiro Bangla"/>
                        <a:cs typeface="Tiro Bangla"/>
                        <a:sym typeface="Tiro Bangla"/>
                      </a:endParaRPr>
                    </a:p>
                  </a:txBody>
                  <a:tcPr marT="66675" marB="66675" marR="66675" marL="66675">
                    <a:lnL cap="flat" cmpd="sng" w="12700">
                      <a:solidFill>
                        <a:srgbClr val="C3BFB8"/>
                      </a:solidFill>
                      <a:prstDash val="solid"/>
                      <a:round/>
                      <a:headEnd len="sm" w="sm" type="none"/>
                      <a:tailEnd len="sm" w="sm" type="none"/>
                    </a:lnL>
                    <a:lnR cap="flat" cmpd="sng" w="12700">
                      <a:solidFill>
                        <a:srgbClr val="C3BFB8"/>
                      </a:solidFill>
                      <a:prstDash val="solid"/>
                      <a:round/>
                      <a:headEnd len="sm" w="sm" type="none"/>
                      <a:tailEnd len="sm" w="sm" type="none"/>
                    </a:lnR>
                    <a:lnT cap="flat" cmpd="sng" w="12700">
                      <a:solidFill>
                        <a:srgbClr val="C3BFB8"/>
                      </a:solidFill>
                      <a:prstDash val="solid"/>
                      <a:round/>
                      <a:headEnd len="sm" w="sm" type="none"/>
                      <a:tailEnd len="sm" w="sm" type="none"/>
                    </a:lnT>
                    <a:lnB cap="flat" cmpd="sng" w="12700">
                      <a:solidFill>
                        <a:srgbClr val="C3BFB8"/>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384D86"/>
                        </a:buClr>
                        <a:buSzPts val="1500"/>
                        <a:buFont typeface="Tiro Bangla"/>
                        <a:buNone/>
                      </a:pPr>
                      <a:r>
                        <a:rPr lang="en-US" sz="1500" u="none" cap="none" strike="noStrike">
                          <a:solidFill>
                            <a:srgbClr val="384D86"/>
                          </a:solidFill>
                          <a:latin typeface="Tiro Bangla"/>
                          <a:ea typeface="Tiro Bangla"/>
                          <a:cs typeface="Tiro Bangla"/>
                          <a:sym typeface="Tiro Bangla"/>
                        </a:rPr>
                        <a:t>১.৮ লাখ</a:t>
                      </a:r>
                      <a:endParaRPr sz="1500" u="none" cap="none" strike="noStrike">
                        <a:latin typeface="Tiro Bangla"/>
                        <a:ea typeface="Tiro Bangla"/>
                        <a:cs typeface="Tiro Bangla"/>
                        <a:sym typeface="Tiro Bangla"/>
                      </a:endParaRPr>
                    </a:p>
                  </a:txBody>
                  <a:tcPr marT="66675" marB="66675" marR="66675" marL="66675">
                    <a:lnL cap="flat" cmpd="sng" w="12700">
                      <a:solidFill>
                        <a:srgbClr val="C3BFB8"/>
                      </a:solidFill>
                      <a:prstDash val="solid"/>
                      <a:round/>
                      <a:headEnd len="sm" w="sm" type="none"/>
                      <a:tailEnd len="sm" w="sm" type="none"/>
                    </a:lnL>
                    <a:lnR cap="flat" cmpd="sng" w="12700">
                      <a:solidFill>
                        <a:srgbClr val="C3BFB8"/>
                      </a:solidFill>
                      <a:prstDash val="solid"/>
                      <a:round/>
                      <a:headEnd len="sm" w="sm" type="none"/>
                      <a:tailEnd len="sm" w="sm" type="none"/>
                    </a:lnR>
                    <a:lnT cap="flat" cmpd="sng" w="12700">
                      <a:solidFill>
                        <a:srgbClr val="C3BFB8"/>
                      </a:solidFill>
                      <a:prstDash val="solid"/>
                      <a:round/>
                      <a:headEnd len="sm" w="sm" type="none"/>
                      <a:tailEnd len="sm" w="sm" type="none"/>
                    </a:lnT>
                    <a:lnB cap="flat" cmpd="sng" w="12700">
                      <a:solidFill>
                        <a:srgbClr val="C3BFB8"/>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384D86"/>
                        </a:buClr>
                        <a:buSzPts val="1500"/>
                        <a:buFont typeface="Tiro Bangla"/>
                        <a:buNone/>
                      </a:pPr>
                      <a:r>
                        <a:rPr lang="en-US" sz="1500" u="none" cap="none" strike="noStrike">
                          <a:solidFill>
                            <a:srgbClr val="384D86"/>
                          </a:solidFill>
                          <a:latin typeface="Tiro Bangla"/>
                          <a:ea typeface="Tiro Bangla"/>
                          <a:cs typeface="Tiro Bangla"/>
                          <a:sym typeface="Tiro Bangla"/>
                        </a:rPr>
                        <a:t>১.৮ লাখ</a:t>
                      </a:r>
                      <a:endParaRPr sz="1500" u="none" cap="none" strike="noStrike">
                        <a:latin typeface="Tiro Bangla"/>
                        <a:ea typeface="Tiro Bangla"/>
                        <a:cs typeface="Tiro Bangla"/>
                        <a:sym typeface="Tiro Bangla"/>
                      </a:endParaRPr>
                    </a:p>
                  </a:txBody>
                  <a:tcPr marT="66675" marB="66675" marR="66675" marL="66675">
                    <a:lnL cap="flat" cmpd="sng" w="12700">
                      <a:solidFill>
                        <a:srgbClr val="C3BFB8"/>
                      </a:solidFill>
                      <a:prstDash val="solid"/>
                      <a:round/>
                      <a:headEnd len="sm" w="sm" type="none"/>
                      <a:tailEnd len="sm" w="sm" type="none"/>
                    </a:lnL>
                    <a:lnR cap="flat" cmpd="sng" w="12700">
                      <a:solidFill>
                        <a:srgbClr val="C3BFB8"/>
                      </a:solidFill>
                      <a:prstDash val="solid"/>
                      <a:round/>
                      <a:headEnd len="sm" w="sm" type="none"/>
                      <a:tailEnd len="sm" w="sm" type="none"/>
                    </a:lnR>
                    <a:lnT cap="flat" cmpd="sng" w="12700">
                      <a:solidFill>
                        <a:srgbClr val="C3BFB8"/>
                      </a:solidFill>
                      <a:prstDash val="solid"/>
                      <a:round/>
                      <a:headEnd len="sm" w="sm" type="none"/>
                      <a:tailEnd len="sm" w="sm" type="none"/>
                    </a:lnT>
                    <a:lnB cap="flat" cmpd="sng" w="12700">
                      <a:solidFill>
                        <a:srgbClr val="C3BFB8"/>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384D86"/>
                        </a:buClr>
                        <a:buSzPts val="1500"/>
                        <a:buFont typeface="Tiro Bangla"/>
                        <a:buNone/>
                      </a:pPr>
                      <a:r>
                        <a:rPr lang="en-US" sz="1500" u="none" cap="none" strike="noStrike">
                          <a:solidFill>
                            <a:srgbClr val="384D86"/>
                          </a:solidFill>
                          <a:latin typeface="Tiro Bangla"/>
                          <a:ea typeface="Tiro Bangla"/>
                          <a:cs typeface="Tiro Bangla"/>
                          <a:sym typeface="Tiro Bangla"/>
                        </a:rPr>
                        <a:t>০%</a:t>
                      </a:r>
                      <a:endParaRPr sz="1500" u="none" cap="none" strike="noStrike">
                        <a:latin typeface="Tiro Bangla"/>
                        <a:ea typeface="Tiro Bangla"/>
                        <a:cs typeface="Tiro Bangla"/>
                        <a:sym typeface="Tiro Bangla"/>
                      </a:endParaRPr>
                    </a:p>
                  </a:txBody>
                  <a:tcPr marT="66675" marB="66675" marR="66675" marL="66675">
                    <a:lnL cap="flat" cmpd="sng" w="12700">
                      <a:solidFill>
                        <a:srgbClr val="C3BFB8"/>
                      </a:solidFill>
                      <a:prstDash val="solid"/>
                      <a:round/>
                      <a:headEnd len="sm" w="sm" type="none"/>
                      <a:tailEnd len="sm" w="sm" type="none"/>
                    </a:lnL>
                    <a:lnR cap="flat" cmpd="sng" w="12700">
                      <a:solidFill>
                        <a:srgbClr val="C3BFB8"/>
                      </a:solidFill>
                      <a:prstDash val="solid"/>
                      <a:round/>
                      <a:headEnd len="sm" w="sm" type="none"/>
                      <a:tailEnd len="sm" w="sm" type="none"/>
                    </a:lnR>
                    <a:lnT cap="flat" cmpd="sng" w="12700">
                      <a:solidFill>
                        <a:srgbClr val="C3BFB8"/>
                      </a:solidFill>
                      <a:prstDash val="solid"/>
                      <a:round/>
                      <a:headEnd len="sm" w="sm" type="none"/>
                      <a:tailEnd len="sm" w="sm" type="none"/>
                    </a:lnT>
                    <a:lnB cap="flat" cmpd="sng" w="12700">
                      <a:solidFill>
                        <a:srgbClr val="C3BFB8"/>
                      </a:solidFill>
                      <a:prstDash val="solid"/>
                      <a:round/>
                      <a:headEnd len="sm" w="sm" type="none"/>
                      <a:tailEnd len="sm" w="sm" type="none"/>
                    </a:lnB>
                  </a:tcPr>
                </a:tc>
              </a:tr>
              <a:tr h="412750">
                <a:tc>
                  <a:txBody>
                    <a:bodyPr/>
                    <a:lstStyle/>
                    <a:p>
                      <a:pPr indent="0" lvl="0" marL="0" marR="0" rtl="0" algn="l">
                        <a:lnSpc>
                          <a:spcPct val="140000"/>
                        </a:lnSpc>
                        <a:spcBef>
                          <a:spcPts val="0"/>
                        </a:spcBef>
                        <a:spcAft>
                          <a:spcPts val="0"/>
                        </a:spcAft>
                        <a:buClr>
                          <a:srgbClr val="384D86"/>
                        </a:buClr>
                        <a:buSzPts val="1500"/>
                        <a:buFont typeface="Tiro Bangla"/>
                        <a:buNone/>
                      </a:pPr>
                      <a:r>
                        <a:rPr lang="en-US" sz="1500" u="none" cap="none" strike="noStrike">
                          <a:solidFill>
                            <a:srgbClr val="384D86"/>
                          </a:solidFill>
                          <a:latin typeface="Tiro Bangla"/>
                          <a:ea typeface="Tiro Bangla"/>
                          <a:cs typeface="Tiro Bangla"/>
                          <a:sym typeface="Tiro Bangla"/>
                        </a:rPr>
                        <a:t>ফ্রান্স</a:t>
                      </a:r>
                      <a:endParaRPr sz="1500" u="none" cap="none" strike="noStrike">
                        <a:latin typeface="Tiro Bangla"/>
                        <a:ea typeface="Tiro Bangla"/>
                        <a:cs typeface="Tiro Bangla"/>
                        <a:sym typeface="Tiro Bangla"/>
                      </a:endParaRPr>
                    </a:p>
                  </a:txBody>
                  <a:tcPr marT="66675" marB="66675" marR="66675" marL="66675">
                    <a:lnL cap="flat" cmpd="sng" w="12700">
                      <a:solidFill>
                        <a:srgbClr val="C3BFB8"/>
                      </a:solidFill>
                      <a:prstDash val="solid"/>
                      <a:round/>
                      <a:headEnd len="sm" w="sm" type="none"/>
                      <a:tailEnd len="sm" w="sm" type="none"/>
                    </a:lnL>
                    <a:lnR cap="flat" cmpd="sng" w="12700">
                      <a:solidFill>
                        <a:srgbClr val="C3BFB8"/>
                      </a:solidFill>
                      <a:prstDash val="solid"/>
                      <a:round/>
                      <a:headEnd len="sm" w="sm" type="none"/>
                      <a:tailEnd len="sm" w="sm" type="none"/>
                    </a:lnR>
                    <a:lnT cap="flat" cmpd="sng" w="12700">
                      <a:solidFill>
                        <a:srgbClr val="C3BFB8"/>
                      </a:solidFill>
                      <a:prstDash val="solid"/>
                      <a:round/>
                      <a:headEnd len="sm" w="sm" type="none"/>
                      <a:tailEnd len="sm" w="sm" type="none"/>
                    </a:lnT>
                    <a:lnB cap="flat" cmpd="sng" w="12700">
                      <a:solidFill>
                        <a:srgbClr val="C3BFB8"/>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384D86"/>
                        </a:buClr>
                        <a:buSzPts val="1500"/>
                        <a:buFont typeface="Tiro Bangla"/>
                        <a:buNone/>
                      </a:pPr>
                      <a:r>
                        <a:rPr lang="en-US" sz="1500" u="none" cap="none" strike="noStrike">
                          <a:solidFill>
                            <a:srgbClr val="384D86"/>
                          </a:solidFill>
                          <a:latin typeface="Tiro Bangla"/>
                          <a:ea typeface="Tiro Bangla"/>
                          <a:cs typeface="Tiro Bangla"/>
                          <a:sym typeface="Tiro Bangla"/>
                        </a:rPr>
                        <a:t>৯৯ হাজার</a:t>
                      </a:r>
                      <a:endParaRPr sz="1500" u="none" cap="none" strike="noStrike">
                        <a:latin typeface="Tiro Bangla"/>
                        <a:ea typeface="Tiro Bangla"/>
                        <a:cs typeface="Tiro Bangla"/>
                        <a:sym typeface="Tiro Bangla"/>
                      </a:endParaRPr>
                    </a:p>
                  </a:txBody>
                  <a:tcPr marT="66675" marB="66675" marR="66675" marL="66675">
                    <a:lnL cap="flat" cmpd="sng" w="12700">
                      <a:solidFill>
                        <a:srgbClr val="C3BFB8"/>
                      </a:solidFill>
                      <a:prstDash val="solid"/>
                      <a:round/>
                      <a:headEnd len="sm" w="sm" type="none"/>
                      <a:tailEnd len="sm" w="sm" type="none"/>
                    </a:lnL>
                    <a:lnR cap="flat" cmpd="sng" w="12700">
                      <a:solidFill>
                        <a:srgbClr val="C3BFB8"/>
                      </a:solidFill>
                      <a:prstDash val="solid"/>
                      <a:round/>
                      <a:headEnd len="sm" w="sm" type="none"/>
                      <a:tailEnd len="sm" w="sm" type="none"/>
                    </a:lnR>
                    <a:lnT cap="flat" cmpd="sng" w="12700">
                      <a:solidFill>
                        <a:srgbClr val="C3BFB8"/>
                      </a:solidFill>
                      <a:prstDash val="solid"/>
                      <a:round/>
                      <a:headEnd len="sm" w="sm" type="none"/>
                      <a:tailEnd len="sm" w="sm" type="none"/>
                    </a:lnT>
                    <a:lnB cap="flat" cmpd="sng" w="12700">
                      <a:solidFill>
                        <a:srgbClr val="C3BFB8"/>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384D86"/>
                        </a:buClr>
                        <a:buSzPts val="1500"/>
                        <a:buFont typeface="Tiro Bangla"/>
                        <a:buNone/>
                      </a:pPr>
                      <a:r>
                        <a:rPr lang="en-US" sz="1500" u="none" cap="none" strike="noStrike">
                          <a:solidFill>
                            <a:srgbClr val="384D86"/>
                          </a:solidFill>
                          <a:latin typeface="Tiro Bangla"/>
                          <a:ea typeface="Tiro Bangla"/>
                          <a:cs typeface="Tiro Bangla"/>
                          <a:sym typeface="Tiro Bangla"/>
                        </a:rPr>
                        <a:t>১.২ লাখ</a:t>
                      </a:r>
                      <a:endParaRPr sz="1500" u="none" cap="none" strike="noStrike">
                        <a:latin typeface="Tiro Bangla"/>
                        <a:ea typeface="Tiro Bangla"/>
                        <a:cs typeface="Tiro Bangla"/>
                        <a:sym typeface="Tiro Bangla"/>
                      </a:endParaRPr>
                    </a:p>
                  </a:txBody>
                  <a:tcPr marT="66675" marB="66675" marR="66675" marL="66675">
                    <a:lnL cap="flat" cmpd="sng" w="12700">
                      <a:solidFill>
                        <a:srgbClr val="C3BFB8"/>
                      </a:solidFill>
                      <a:prstDash val="solid"/>
                      <a:round/>
                      <a:headEnd len="sm" w="sm" type="none"/>
                      <a:tailEnd len="sm" w="sm" type="none"/>
                    </a:lnL>
                    <a:lnR cap="flat" cmpd="sng" w="12700">
                      <a:solidFill>
                        <a:srgbClr val="C3BFB8"/>
                      </a:solidFill>
                      <a:prstDash val="solid"/>
                      <a:round/>
                      <a:headEnd len="sm" w="sm" type="none"/>
                      <a:tailEnd len="sm" w="sm" type="none"/>
                    </a:lnR>
                    <a:lnT cap="flat" cmpd="sng" w="12700">
                      <a:solidFill>
                        <a:srgbClr val="C3BFB8"/>
                      </a:solidFill>
                      <a:prstDash val="solid"/>
                      <a:round/>
                      <a:headEnd len="sm" w="sm" type="none"/>
                      <a:tailEnd len="sm" w="sm" type="none"/>
                    </a:lnT>
                    <a:lnB cap="flat" cmpd="sng" w="12700">
                      <a:solidFill>
                        <a:srgbClr val="C3BFB8"/>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384D86"/>
                        </a:buClr>
                        <a:buSzPts val="1500"/>
                        <a:buFont typeface="Tiro Bangla"/>
                        <a:buNone/>
                      </a:pPr>
                      <a:r>
                        <a:rPr lang="en-US" sz="1500" u="none" cap="none" strike="noStrike">
                          <a:solidFill>
                            <a:srgbClr val="384D86"/>
                          </a:solidFill>
                          <a:latin typeface="Tiro Bangla"/>
                          <a:ea typeface="Tiro Bangla"/>
                          <a:cs typeface="Tiro Bangla"/>
                          <a:sym typeface="Tiro Bangla"/>
                        </a:rPr>
                        <a:t>+১৭%</a:t>
                      </a:r>
                      <a:endParaRPr sz="1500" u="none" cap="none" strike="noStrike">
                        <a:latin typeface="Tiro Bangla"/>
                        <a:ea typeface="Tiro Bangla"/>
                        <a:cs typeface="Tiro Bangla"/>
                        <a:sym typeface="Tiro Bangla"/>
                      </a:endParaRPr>
                    </a:p>
                  </a:txBody>
                  <a:tcPr marT="66675" marB="66675" marR="66675" marL="66675">
                    <a:lnL cap="flat" cmpd="sng" w="12700">
                      <a:solidFill>
                        <a:srgbClr val="C3BFB8"/>
                      </a:solidFill>
                      <a:prstDash val="solid"/>
                      <a:round/>
                      <a:headEnd len="sm" w="sm" type="none"/>
                      <a:tailEnd len="sm" w="sm" type="none"/>
                    </a:lnL>
                    <a:lnR cap="flat" cmpd="sng" w="12700">
                      <a:solidFill>
                        <a:srgbClr val="C3BFB8"/>
                      </a:solidFill>
                      <a:prstDash val="solid"/>
                      <a:round/>
                      <a:headEnd len="sm" w="sm" type="none"/>
                      <a:tailEnd len="sm" w="sm" type="none"/>
                    </a:lnR>
                    <a:lnT cap="flat" cmpd="sng" w="12700">
                      <a:solidFill>
                        <a:srgbClr val="C3BFB8"/>
                      </a:solidFill>
                      <a:prstDash val="solid"/>
                      <a:round/>
                      <a:headEnd len="sm" w="sm" type="none"/>
                      <a:tailEnd len="sm" w="sm" type="none"/>
                    </a:lnT>
                    <a:lnB cap="flat" cmpd="sng" w="12700">
                      <a:solidFill>
                        <a:srgbClr val="C3BFB8"/>
                      </a:solidFill>
                      <a:prstDash val="solid"/>
                      <a:round/>
                      <a:headEnd len="sm" w="sm" type="none"/>
                      <a:tailEnd len="sm" w="sm" type="none"/>
                    </a:lnB>
                  </a:tcPr>
                </a:tc>
              </a:tr>
              <a:tr h="412750">
                <a:tc>
                  <a:txBody>
                    <a:bodyPr/>
                    <a:lstStyle/>
                    <a:p>
                      <a:pPr indent="0" lvl="0" marL="0" marR="0" rtl="0" algn="l">
                        <a:lnSpc>
                          <a:spcPct val="140000"/>
                        </a:lnSpc>
                        <a:spcBef>
                          <a:spcPts val="0"/>
                        </a:spcBef>
                        <a:spcAft>
                          <a:spcPts val="0"/>
                        </a:spcAft>
                        <a:buClr>
                          <a:srgbClr val="384D86"/>
                        </a:buClr>
                        <a:buSzPts val="1500"/>
                        <a:buFont typeface="Tiro Bangla"/>
                        <a:buNone/>
                      </a:pPr>
                      <a:r>
                        <a:rPr lang="en-US" sz="1500" u="none" cap="none" strike="noStrike">
                          <a:solidFill>
                            <a:srgbClr val="384D86"/>
                          </a:solidFill>
                          <a:latin typeface="Tiro Bangla"/>
                          <a:ea typeface="Tiro Bangla"/>
                          <a:cs typeface="Tiro Bangla"/>
                          <a:sym typeface="Tiro Bangla"/>
                        </a:rPr>
                        <a:t>ব্রাজিল</a:t>
                      </a:r>
                      <a:endParaRPr sz="1500" u="none" cap="none" strike="noStrike">
                        <a:latin typeface="Tiro Bangla"/>
                        <a:ea typeface="Tiro Bangla"/>
                        <a:cs typeface="Tiro Bangla"/>
                        <a:sym typeface="Tiro Bangla"/>
                      </a:endParaRPr>
                    </a:p>
                  </a:txBody>
                  <a:tcPr marT="66675" marB="66675" marR="66675" marL="66675">
                    <a:lnL cap="flat" cmpd="sng" w="12700">
                      <a:solidFill>
                        <a:srgbClr val="C3BFB8"/>
                      </a:solidFill>
                      <a:prstDash val="solid"/>
                      <a:round/>
                      <a:headEnd len="sm" w="sm" type="none"/>
                      <a:tailEnd len="sm" w="sm" type="none"/>
                    </a:lnL>
                    <a:lnR cap="flat" cmpd="sng" w="12700">
                      <a:solidFill>
                        <a:srgbClr val="C3BFB8"/>
                      </a:solidFill>
                      <a:prstDash val="solid"/>
                      <a:round/>
                      <a:headEnd len="sm" w="sm" type="none"/>
                      <a:tailEnd len="sm" w="sm" type="none"/>
                    </a:lnR>
                    <a:lnT cap="flat" cmpd="sng" w="12700">
                      <a:solidFill>
                        <a:srgbClr val="C3BFB8"/>
                      </a:solidFill>
                      <a:prstDash val="solid"/>
                      <a:round/>
                      <a:headEnd len="sm" w="sm" type="none"/>
                      <a:tailEnd len="sm" w="sm" type="none"/>
                    </a:lnT>
                    <a:lnB cap="flat" cmpd="sng" w="12700">
                      <a:solidFill>
                        <a:srgbClr val="C3BFB8"/>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384D86"/>
                        </a:buClr>
                        <a:buSzPts val="1500"/>
                        <a:buFont typeface="Tiro Bangla"/>
                        <a:buNone/>
                      </a:pPr>
                      <a:r>
                        <a:rPr lang="en-US" sz="1500" u="none" cap="none" strike="noStrike">
                          <a:solidFill>
                            <a:srgbClr val="384D86"/>
                          </a:solidFill>
                          <a:latin typeface="Tiro Bangla"/>
                          <a:ea typeface="Tiro Bangla"/>
                          <a:cs typeface="Tiro Bangla"/>
                          <a:sym typeface="Tiro Bangla"/>
                        </a:rPr>
                        <a:t>৮ হাজার</a:t>
                      </a:r>
                      <a:endParaRPr sz="1500" u="none" cap="none" strike="noStrike">
                        <a:latin typeface="Tiro Bangla"/>
                        <a:ea typeface="Tiro Bangla"/>
                        <a:cs typeface="Tiro Bangla"/>
                        <a:sym typeface="Tiro Bangla"/>
                      </a:endParaRPr>
                    </a:p>
                  </a:txBody>
                  <a:tcPr marT="66675" marB="66675" marR="66675" marL="66675">
                    <a:lnL cap="flat" cmpd="sng" w="12700">
                      <a:solidFill>
                        <a:srgbClr val="C3BFB8"/>
                      </a:solidFill>
                      <a:prstDash val="solid"/>
                      <a:round/>
                      <a:headEnd len="sm" w="sm" type="none"/>
                      <a:tailEnd len="sm" w="sm" type="none"/>
                    </a:lnL>
                    <a:lnR cap="flat" cmpd="sng" w="12700">
                      <a:solidFill>
                        <a:srgbClr val="C3BFB8"/>
                      </a:solidFill>
                      <a:prstDash val="solid"/>
                      <a:round/>
                      <a:headEnd len="sm" w="sm" type="none"/>
                      <a:tailEnd len="sm" w="sm" type="none"/>
                    </a:lnR>
                    <a:lnT cap="flat" cmpd="sng" w="12700">
                      <a:solidFill>
                        <a:srgbClr val="C3BFB8"/>
                      </a:solidFill>
                      <a:prstDash val="solid"/>
                      <a:round/>
                      <a:headEnd len="sm" w="sm" type="none"/>
                      <a:tailEnd len="sm" w="sm" type="none"/>
                    </a:lnT>
                    <a:lnB cap="flat" cmpd="sng" w="12700">
                      <a:solidFill>
                        <a:srgbClr val="C3BFB8"/>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384D86"/>
                        </a:buClr>
                        <a:buSzPts val="1500"/>
                        <a:buFont typeface="Tiro Bangla"/>
                        <a:buNone/>
                      </a:pPr>
                      <a:r>
                        <a:rPr lang="en-US" sz="1500" u="none" cap="none" strike="noStrike">
                          <a:solidFill>
                            <a:srgbClr val="384D86"/>
                          </a:solidFill>
                          <a:latin typeface="Tiro Bangla"/>
                          <a:ea typeface="Tiro Bangla"/>
                          <a:cs typeface="Tiro Bangla"/>
                          <a:sym typeface="Tiro Bangla"/>
                        </a:rPr>
                        <a:t>১.১ লাখ</a:t>
                      </a:r>
                      <a:endParaRPr sz="1500" u="none" cap="none" strike="noStrike">
                        <a:latin typeface="Tiro Bangla"/>
                        <a:ea typeface="Tiro Bangla"/>
                        <a:cs typeface="Tiro Bangla"/>
                        <a:sym typeface="Tiro Bangla"/>
                      </a:endParaRPr>
                    </a:p>
                  </a:txBody>
                  <a:tcPr marT="66675" marB="66675" marR="66675" marL="66675">
                    <a:lnL cap="flat" cmpd="sng" w="12700">
                      <a:solidFill>
                        <a:srgbClr val="C3BFB8"/>
                      </a:solidFill>
                      <a:prstDash val="solid"/>
                      <a:round/>
                      <a:headEnd len="sm" w="sm" type="none"/>
                      <a:tailEnd len="sm" w="sm" type="none"/>
                    </a:lnL>
                    <a:lnR cap="flat" cmpd="sng" w="12700">
                      <a:solidFill>
                        <a:srgbClr val="C3BFB8"/>
                      </a:solidFill>
                      <a:prstDash val="solid"/>
                      <a:round/>
                      <a:headEnd len="sm" w="sm" type="none"/>
                      <a:tailEnd len="sm" w="sm" type="none"/>
                    </a:lnR>
                    <a:lnT cap="flat" cmpd="sng" w="12700">
                      <a:solidFill>
                        <a:srgbClr val="C3BFB8"/>
                      </a:solidFill>
                      <a:prstDash val="solid"/>
                      <a:round/>
                      <a:headEnd len="sm" w="sm" type="none"/>
                      <a:tailEnd len="sm" w="sm" type="none"/>
                    </a:lnT>
                    <a:lnB cap="flat" cmpd="sng" w="12700">
                      <a:solidFill>
                        <a:srgbClr val="C3BFB8"/>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384D86"/>
                        </a:buClr>
                        <a:buSzPts val="1500"/>
                        <a:buFont typeface="Tiro Bangla"/>
                        <a:buNone/>
                      </a:pPr>
                      <a:r>
                        <a:rPr lang="en-US" sz="1500" u="none" cap="none" strike="noStrike">
                          <a:solidFill>
                            <a:srgbClr val="384D86"/>
                          </a:solidFill>
                          <a:latin typeface="Tiro Bangla"/>
                          <a:ea typeface="Tiro Bangla"/>
                          <a:cs typeface="Tiro Bangla"/>
                          <a:sym typeface="Tiro Bangla"/>
                        </a:rPr>
                        <a:t>১৩ গুণ</a:t>
                      </a:r>
                      <a:endParaRPr sz="1500" u="none" cap="none" strike="noStrike">
                        <a:latin typeface="Tiro Bangla"/>
                        <a:ea typeface="Tiro Bangla"/>
                        <a:cs typeface="Tiro Bangla"/>
                        <a:sym typeface="Tiro Bangla"/>
                      </a:endParaRPr>
                    </a:p>
                  </a:txBody>
                  <a:tcPr marT="66675" marB="66675" marR="66675" marL="66675">
                    <a:lnL cap="flat" cmpd="sng" w="12700">
                      <a:solidFill>
                        <a:srgbClr val="C3BFB8"/>
                      </a:solidFill>
                      <a:prstDash val="solid"/>
                      <a:round/>
                      <a:headEnd len="sm" w="sm" type="none"/>
                      <a:tailEnd len="sm" w="sm" type="none"/>
                    </a:lnL>
                    <a:lnR cap="flat" cmpd="sng" w="12700">
                      <a:solidFill>
                        <a:srgbClr val="C3BFB8"/>
                      </a:solidFill>
                      <a:prstDash val="solid"/>
                      <a:round/>
                      <a:headEnd len="sm" w="sm" type="none"/>
                      <a:tailEnd len="sm" w="sm" type="none"/>
                    </a:lnR>
                    <a:lnT cap="flat" cmpd="sng" w="12700">
                      <a:solidFill>
                        <a:srgbClr val="C3BFB8"/>
                      </a:solidFill>
                      <a:prstDash val="solid"/>
                      <a:round/>
                      <a:headEnd len="sm" w="sm" type="none"/>
                      <a:tailEnd len="sm" w="sm" type="none"/>
                    </a:lnT>
                    <a:lnB cap="flat" cmpd="sng" w="12700">
                      <a:solidFill>
                        <a:srgbClr val="C3BFB8"/>
                      </a:solidFill>
                      <a:prstDash val="solid"/>
                      <a:round/>
                      <a:headEnd len="sm" w="sm" type="none"/>
                      <a:tailEnd len="sm" w="sm" type="none"/>
                    </a:lnB>
                  </a:tcPr>
                </a:tc>
              </a:tr>
              <a:tr h="412750">
                <a:tc>
                  <a:txBody>
                    <a:bodyPr/>
                    <a:lstStyle/>
                    <a:p>
                      <a:pPr indent="0" lvl="0" marL="0" marR="0" rtl="0" algn="l">
                        <a:lnSpc>
                          <a:spcPct val="140000"/>
                        </a:lnSpc>
                        <a:spcBef>
                          <a:spcPts val="0"/>
                        </a:spcBef>
                        <a:spcAft>
                          <a:spcPts val="0"/>
                        </a:spcAft>
                        <a:buClr>
                          <a:srgbClr val="384D86"/>
                        </a:buClr>
                        <a:buSzPts val="1500"/>
                        <a:buFont typeface="Tiro Bangla"/>
                        <a:buNone/>
                      </a:pPr>
                      <a:r>
                        <a:rPr lang="en-US" sz="1500" u="none" cap="none" strike="noStrike">
                          <a:solidFill>
                            <a:srgbClr val="384D86"/>
                          </a:solidFill>
                          <a:latin typeface="Tiro Bangla"/>
                          <a:ea typeface="Tiro Bangla"/>
                          <a:cs typeface="Tiro Bangla"/>
                          <a:sym typeface="Tiro Bangla"/>
                        </a:rPr>
                        <a:t>তালিকায় নেই (বাংলাদেশসহ)</a:t>
                      </a:r>
                      <a:endParaRPr sz="1500" u="none" cap="none" strike="noStrike">
                        <a:latin typeface="Tiro Bangla"/>
                        <a:ea typeface="Tiro Bangla"/>
                        <a:cs typeface="Tiro Bangla"/>
                        <a:sym typeface="Tiro Bangla"/>
                      </a:endParaRPr>
                    </a:p>
                  </a:txBody>
                  <a:tcPr marT="66675" marB="66675" marR="66675" marL="66675">
                    <a:lnL cap="flat" cmpd="sng" w="12700">
                      <a:solidFill>
                        <a:srgbClr val="C3BFB8"/>
                      </a:solidFill>
                      <a:prstDash val="solid"/>
                      <a:round/>
                      <a:headEnd len="sm" w="sm" type="none"/>
                      <a:tailEnd len="sm" w="sm" type="none"/>
                    </a:lnL>
                    <a:lnR cap="flat" cmpd="sng" w="12700">
                      <a:solidFill>
                        <a:srgbClr val="BBB2A3"/>
                      </a:solidFill>
                      <a:prstDash val="solid"/>
                      <a:round/>
                      <a:headEnd len="sm" w="sm" type="none"/>
                      <a:tailEnd len="sm" w="sm" type="none"/>
                    </a:lnR>
                    <a:lnT cap="flat" cmpd="sng" w="12700">
                      <a:solidFill>
                        <a:srgbClr val="C3BFB8"/>
                      </a:solidFill>
                      <a:prstDash val="solid"/>
                      <a:round/>
                      <a:headEnd len="sm" w="sm" type="none"/>
                      <a:tailEnd len="sm" w="sm" type="none"/>
                    </a:lnT>
                    <a:lnB cap="flat" cmpd="sng" w="12700">
                      <a:solidFill>
                        <a:srgbClr val="BBB2A3"/>
                      </a:solidFill>
                      <a:prstDash val="solid"/>
                      <a:round/>
                      <a:headEnd len="sm" w="sm" type="none"/>
                      <a:tailEnd len="sm" w="sm" type="none"/>
                    </a:lnB>
                    <a:solidFill>
                      <a:srgbClr val="FBEEBF"/>
                    </a:solidFill>
                  </a:tcPr>
                </a:tc>
                <a:tc>
                  <a:txBody>
                    <a:bodyPr/>
                    <a:lstStyle/>
                    <a:p>
                      <a:pPr indent="0" lvl="0" marL="0" marR="0" rtl="0" algn="r">
                        <a:lnSpc>
                          <a:spcPct val="140000"/>
                        </a:lnSpc>
                        <a:spcBef>
                          <a:spcPts val="0"/>
                        </a:spcBef>
                        <a:spcAft>
                          <a:spcPts val="0"/>
                        </a:spcAft>
                        <a:buClr>
                          <a:srgbClr val="384D86"/>
                        </a:buClr>
                        <a:buSzPts val="1500"/>
                        <a:buFont typeface="Tiro Bangla"/>
                        <a:buNone/>
                      </a:pPr>
                      <a:r>
                        <a:rPr lang="en-US" sz="1500" u="none" cap="none" strike="noStrike">
                          <a:solidFill>
                            <a:srgbClr val="384D86"/>
                          </a:solidFill>
                          <a:latin typeface="Tiro Bangla"/>
                          <a:ea typeface="Tiro Bangla"/>
                          <a:cs typeface="Tiro Bangla"/>
                          <a:sym typeface="Tiro Bangla"/>
                        </a:rPr>
                        <a:t>১.৬৭ কোটি</a:t>
                      </a:r>
                      <a:endParaRPr sz="1500" u="none" cap="none" strike="noStrike">
                        <a:latin typeface="Tiro Bangla"/>
                        <a:ea typeface="Tiro Bangla"/>
                        <a:cs typeface="Tiro Bangla"/>
                        <a:sym typeface="Tiro Bangla"/>
                      </a:endParaRPr>
                    </a:p>
                  </a:txBody>
                  <a:tcPr marT="66675" marB="66675" marR="66675" marL="66675">
                    <a:lnL cap="flat" cmpd="sng" w="12700">
                      <a:solidFill>
                        <a:srgbClr val="BBB2A3"/>
                      </a:solidFill>
                      <a:prstDash val="solid"/>
                      <a:round/>
                      <a:headEnd len="sm" w="sm" type="none"/>
                      <a:tailEnd len="sm" w="sm" type="none"/>
                    </a:lnL>
                    <a:lnR cap="flat" cmpd="sng" w="12700">
                      <a:solidFill>
                        <a:srgbClr val="BBB2A3"/>
                      </a:solidFill>
                      <a:prstDash val="solid"/>
                      <a:round/>
                      <a:headEnd len="sm" w="sm" type="none"/>
                      <a:tailEnd len="sm" w="sm" type="none"/>
                    </a:lnR>
                    <a:lnT cap="flat" cmpd="sng" w="12700">
                      <a:solidFill>
                        <a:srgbClr val="C3BFB8"/>
                      </a:solidFill>
                      <a:prstDash val="solid"/>
                      <a:round/>
                      <a:headEnd len="sm" w="sm" type="none"/>
                      <a:tailEnd len="sm" w="sm" type="none"/>
                    </a:lnT>
                    <a:lnB cap="flat" cmpd="sng" w="12700">
                      <a:solidFill>
                        <a:srgbClr val="BBB2A3"/>
                      </a:solidFill>
                      <a:prstDash val="solid"/>
                      <a:round/>
                      <a:headEnd len="sm" w="sm" type="none"/>
                      <a:tailEnd len="sm" w="sm" type="none"/>
                    </a:lnB>
                    <a:solidFill>
                      <a:srgbClr val="FBEEBF"/>
                    </a:solidFill>
                  </a:tcPr>
                </a:tc>
                <a:tc>
                  <a:txBody>
                    <a:bodyPr/>
                    <a:lstStyle/>
                    <a:p>
                      <a:pPr indent="0" lvl="0" marL="0" marR="0" rtl="0" algn="r">
                        <a:lnSpc>
                          <a:spcPct val="140000"/>
                        </a:lnSpc>
                        <a:spcBef>
                          <a:spcPts val="0"/>
                        </a:spcBef>
                        <a:spcAft>
                          <a:spcPts val="0"/>
                        </a:spcAft>
                        <a:buClr>
                          <a:srgbClr val="384D86"/>
                        </a:buClr>
                        <a:buSzPts val="1500"/>
                        <a:buFont typeface="Tiro Bangla"/>
                        <a:buNone/>
                      </a:pPr>
                      <a:r>
                        <a:rPr lang="en-US" sz="1500" u="none" cap="none" strike="noStrike">
                          <a:solidFill>
                            <a:srgbClr val="384D86"/>
                          </a:solidFill>
                          <a:latin typeface="Tiro Bangla"/>
                          <a:ea typeface="Tiro Bangla"/>
                          <a:cs typeface="Tiro Bangla"/>
                          <a:sym typeface="Tiro Bangla"/>
                        </a:rPr>
                        <a:t>৪৪ লাখ</a:t>
                      </a:r>
                      <a:endParaRPr sz="1500" u="none" cap="none" strike="noStrike">
                        <a:latin typeface="Tiro Bangla"/>
                        <a:ea typeface="Tiro Bangla"/>
                        <a:cs typeface="Tiro Bangla"/>
                        <a:sym typeface="Tiro Bangla"/>
                      </a:endParaRPr>
                    </a:p>
                  </a:txBody>
                  <a:tcPr marT="66675" marB="66675" marR="66675" marL="66675">
                    <a:lnL cap="flat" cmpd="sng" w="12700">
                      <a:solidFill>
                        <a:srgbClr val="BBB2A3"/>
                      </a:solidFill>
                      <a:prstDash val="solid"/>
                      <a:round/>
                      <a:headEnd len="sm" w="sm" type="none"/>
                      <a:tailEnd len="sm" w="sm" type="none"/>
                    </a:lnL>
                    <a:lnR cap="flat" cmpd="sng" w="12700">
                      <a:solidFill>
                        <a:srgbClr val="BBB2A3"/>
                      </a:solidFill>
                      <a:prstDash val="solid"/>
                      <a:round/>
                      <a:headEnd len="sm" w="sm" type="none"/>
                      <a:tailEnd len="sm" w="sm" type="none"/>
                    </a:lnR>
                    <a:lnT cap="flat" cmpd="sng" w="12700">
                      <a:solidFill>
                        <a:srgbClr val="C3BFB8"/>
                      </a:solidFill>
                      <a:prstDash val="solid"/>
                      <a:round/>
                      <a:headEnd len="sm" w="sm" type="none"/>
                      <a:tailEnd len="sm" w="sm" type="none"/>
                    </a:lnT>
                    <a:lnB cap="flat" cmpd="sng" w="12700">
                      <a:solidFill>
                        <a:srgbClr val="BBB2A3"/>
                      </a:solidFill>
                      <a:prstDash val="solid"/>
                      <a:round/>
                      <a:headEnd len="sm" w="sm" type="none"/>
                      <a:tailEnd len="sm" w="sm" type="none"/>
                    </a:lnB>
                    <a:solidFill>
                      <a:srgbClr val="FBEEBF"/>
                    </a:solidFill>
                  </a:tcPr>
                </a:tc>
                <a:tc>
                  <a:txBody>
                    <a:bodyPr/>
                    <a:lstStyle/>
                    <a:p>
                      <a:pPr indent="0" lvl="0" marL="0" marR="0" rtl="0" algn="r">
                        <a:lnSpc>
                          <a:spcPct val="140000"/>
                        </a:lnSpc>
                        <a:spcBef>
                          <a:spcPts val="0"/>
                        </a:spcBef>
                        <a:spcAft>
                          <a:spcPts val="0"/>
                        </a:spcAft>
                        <a:buClr>
                          <a:srgbClr val="C8501A"/>
                        </a:buClr>
                        <a:buSzPts val="1500"/>
                        <a:buFont typeface="Tiro Bangla"/>
                        <a:buNone/>
                      </a:pPr>
                      <a:r>
                        <a:rPr lang="en-US" sz="1500" u="none" cap="none" strike="noStrike">
                          <a:solidFill>
                            <a:srgbClr val="C8501A"/>
                          </a:solidFill>
                          <a:latin typeface="Tiro Bangla"/>
                          <a:ea typeface="Tiro Bangla"/>
                          <a:cs typeface="Tiro Bangla"/>
                          <a:sym typeface="Tiro Bangla"/>
                        </a:rPr>
                        <a:t>−৭৪%</a:t>
                      </a:r>
                      <a:endParaRPr sz="1500" u="none" cap="none" strike="noStrike">
                        <a:latin typeface="Tiro Bangla"/>
                        <a:ea typeface="Tiro Bangla"/>
                        <a:cs typeface="Tiro Bangla"/>
                        <a:sym typeface="Tiro Bangla"/>
                      </a:endParaRPr>
                    </a:p>
                  </a:txBody>
                  <a:tcPr marT="66675" marB="66675" marR="66675" marL="66675">
                    <a:lnL cap="flat" cmpd="sng" w="12700">
                      <a:solidFill>
                        <a:srgbClr val="BBB2A3"/>
                      </a:solidFill>
                      <a:prstDash val="solid"/>
                      <a:round/>
                      <a:headEnd len="sm" w="sm" type="none"/>
                      <a:tailEnd len="sm" w="sm" type="none"/>
                    </a:lnL>
                    <a:lnR cap="flat" cmpd="sng" w="12700">
                      <a:solidFill>
                        <a:srgbClr val="BBB2A3"/>
                      </a:solidFill>
                      <a:prstDash val="solid"/>
                      <a:round/>
                      <a:headEnd len="sm" w="sm" type="none"/>
                      <a:tailEnd len="sm" w="sm" type="none"/>
                    </a:lnR>
                    <a:lnT cap="flat" cmpd="sng" w="12700">
                      <a:solidFill>
                        <a:srgbClr val="C3BFB8"/>
                      </a:solidFill>
                      <a:prstDash val="solid"/>
                      <a:round/>
                      <a:headEnd len="sm" w="sm" type="none"/>
                      <a:tailEnd len="sm" w="sm" type="none"/>
                    </a:lnT>
                    <a:lnB cap="flat" cmpd="sng" w="12700">
                      <a:solidFill>
                        <a:srgbClr val="BBB2A3"/>
                      </a:solidFill>
                      <a:prstDash val="solid"/>
                      <a:round/>
                      <a:headEnd len="sm" w="sm" type="none"/>
                      <a:tailEnd len="sm" w="sm" type="none"/>
                    </a:lnB>
                    <a:solidFill>
                      <a:srgbClr val="FBEEBF"/>
                    </a:solidFill>
                  </a:tcPr>
                </a:tc>
              </a:tr>
            </a:tbl>
          </a:graphicData>
        </a:graphic>
      </p:graphicFrame>
      <p:sp>
        <p:nvSpPr>
          <p:cNvPr id="797" name="Google Shape;797;p35"/>
          <p:cNvSpPr/>
          <p:nvPr/>
        </p:nvSpPr>
        <p:spPr>
          <a:xfrm>
            <a:off x="812800" y="5057775"/>
            <a:ext cx="9810750" cy="4520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উইকিমিডিয়া গোপনীয়তার কারণে দেশভিত্তিক সংখ্যা শ্রেণিবদ্ধ ও ঊর্ধ্বমুখী গোলাকার করে প্রকাশ করে; বাংলাদেশের সংখ্যা তালিকায় নেই। যুক্তরাষ্ট্র ও ব্রাজিলের হঠাৎ বৃদ্ধি ইঙ্গিত দেয়, ২০২৬-এর ‘মানুষ’ হিসাবেও কিছু বট থেকে যেতে পারে।</a:t>
            </a:r>
            <a:endParaRPr b="0" i="0" sz="1200" u="none" cap="none" strike="noStrike">
              <a:solidFill>
                <a:schemeClr val="dk1"/>
              </a:solidFill>
              <a:latin typeface="Tiro Bangla"/>
              <a:ea typeface="Tiro Bangla"/>
              <a:cs typeface="Tiro Bangla"/>
              <a:sym typeface="Tiro Bangla"/>
            </a:endParaRPr>
          </a:p>
        </p:txBody>
      </p:sp>
      <p:sp>
        <p:nvSpPr>
          <p:cNvPr id="798" name="Google Shape;798;p35"/>
          <p:cNvSpPr/>
          <p:nvPr/>
        </p:nvSpPr>
        <p:spPr>
          <a:xfrm>
            <a:off x="812800" y="6236965"/>
            <a:ext cx="6702743"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মানুষের পেজভিউ, জানুয়ারি–সেপ্টেম্বর মাসিক গড় · উৎস: উইকিমিডিয়া top-by-country API</a:t>
            </a:r>
            <a:endParaRPr b="0" i="0" sz="1200" u="none" cap="none" strike="noStrike">
              <a:solidFill>
                <a:schemeClr val="dk1"/>
              </a:solidFill>
              <a:latin typeface="Tiro Bangla"/>
              <a:ea typeface="Tiro Bangla"/>
              <a:cs typeface="Tiro Bangla"/>
              <a:sym typeface="Tiro Bangla"/>
            </a:endParaRPr>
          </a:p>
        </p:txBody>
      </p:sp>
      <p:sp>
        <p:nvSpPr>
          <p:cNvPr id="799" name="Google Shape;799;p35"/>
          <p:cNvSpPr/>
          <p:nvPr/>
        </p:nvSpPr>
        <p:spPr>
          <a:xfrm>
            <a:off x="10783557" y="6236965"/>
            <a:ext cx="646443"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F6A8A"/>
              </a:buClr>
              <a:buSzPts val="1200"/>
              <a:buFont typeface="Tiro Bangla"/>
              <a:buNone/>
            </a:pPr>
            <a:r>
              <a:rPr b="0" i="0" lang="en-US" sz="1200" u="none" cap="none" strike="noStrike">
                <a:solidFill>
                  <a:srgbClr val="5F6A8A"/>
                </a:solidFill>
                <a:latin typeface="Tiro Bangla"/>
                <a:ea typeface="Tiro Bangla"/>
                <a:cs typeface="Tiro Bangla"/>
                <a:sym typeface="Tiro Bangla"/>
              </a:rPr>
              <a:t>পরিশিষ্ট ২</a:t>
            </a:r>
            <a:endParaRPr b="0" i="0" sz="1200" u="none" cap="none" strike="noStrike">
              <a:solidFill>
                <a:schemeClr val="dk1"/>
              </a:solidFill>
              <a:latin typeface="Tiro Bangla"/>
              <a:ea typeface="Tiro Bangla"/>
              <a:cs typeface="Tiro Bangla"/>
              <a:sym typeface="Tiro Bangla"/>
            </a:endParaRPr>
          </a:p>
        </p:txBody>
      </p:sp>
      <p:pic>
        <p:nvPicPr>
          <p:cNvPr descr="বাংলা উইকিসম্মেলন ২০২৬ লোগো" id="800" name="Google Shape;800;p35"/>
          <p:cNvPicPr preferRelativeResize="0"/>
          <p:nvPr/>
        </p:nvPicPr>
        <p:blipFill rotWithShape="1">
          <a:blip r:embed="rId3">
            <a:alphaModFix/>
          </a:blip>
          <a:srcRect b="0" l="0" r="0" t="0"/>
          <a:stretch/>
        </p:blipFill>
        <p:spPr>
          <a:xfrm>
            <a:off x="10314432" y="365760"/>
            <a:ext cx="1115568" cy="66686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Simple Light">
      <a:dk1>
        <a:srgbClr val="384D86"/>
      </a:dk1>
      <a:lt1>
        <a:srgbClr val="FFF8DA"/>
      </a:lt1>
      <a:dk2>
        <a:srgbClr val="C0E4FF"/>
      </a:dk2>
      <a:lt2>
        <a:srgbClr val="FFCB2F"/>
      </a:lt2>
      <a:accent1>
        <a:srgbClr val="E63334"/>
      </a:accent1>
      <a:accent2>
        <a:srgbClr val="212121"/>
      </a:accent2>
      <a:accent3>
        <a:srgbClr val="FFFFFF"/>
      </a:accent3>
      <a:accent4>
        <a:srgbClr val="B4BABE"/>
      </a:accent4>
      <a:accent5>
        <a:srgbClr val="30865B"/>
      </a:accent5>
      <a:accent6>
        <a:srgbClr val="5A2E4C"/>
      </a:accent6>
      <a:hlink>
        <a:srgbClr val="384D8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